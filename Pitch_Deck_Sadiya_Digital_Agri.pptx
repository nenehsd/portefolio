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Relationship Id="rId11" Type="http://schemas.openxmlformats.org/officeDocument/2006/relationships/image" Target="../media/image17.png"/><Relationship Id="rId12" Type="http://schemas.openxmlformats.org/officeDocument/2006/relationships/image" Target="../media/image18.png"/><Relationship Id="rId13" Type="http://schemas.openxmlformats.org/officeDocument/2006/relationships/image" Target="../media/image19.png"/><Relationship Id="rId14" Type="http://schemas.openxmlformats.org/officeDocument/2006/relationships/image" Target="../media/image20.png"/><Relationship Id="rId15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33172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1778000" y="1625600"/>
            <a:ext cx="8636000" cy="4648200"/>
          </a:xfrm>
          <a:prstGeom prst="roundRect">
            <a:avLst>
              <a:gd name="adj" fmla="val 4918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203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03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3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03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3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03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03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3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03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03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03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03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30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30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30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0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30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30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30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30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30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30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30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30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7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57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57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57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7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57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57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7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57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57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57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57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84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84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84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84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84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584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584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84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84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84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84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84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11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11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11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11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11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11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11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11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711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711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11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11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38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38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38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838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838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838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838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838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838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838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38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38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65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65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65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965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965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965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965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965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965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65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65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65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1176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1176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1176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1176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1176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11176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1176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1176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1176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1176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1303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1303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1303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1303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303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1303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1303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1303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11303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1303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1430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1430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1430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1430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1430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1430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11430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1430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1430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1430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1557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1557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1557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1557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1557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1557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11557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1557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1557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1557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1684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1684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1684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1684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1684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1684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1684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11684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11684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11684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1811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1811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1811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1811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1811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11811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11811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1811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1811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1811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1938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1938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1938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1938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1938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1938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1938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1938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1938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1938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10414000" y="5080000"/>
            <a:ext cx="1778000" cy="1193800"/>
          </a:xfrm>
          <a:custGeom>
            <a:avLst/>
            <a:gdLst/>
            <a:ahLst/>
            <a:cxnLst/>
            <a:rect l="l" t="t" r="r" b="b"/>
            <a:pathLst>
              <a:path w="1778000" h="1193800">
                <a:moveTo>
                  <a:pt x="0" y="0"/>
                </a:moveTo>
                <a:lnTo>
                  <a:pt x="1778000" y="0"/>
                </a:lnTo>
                <a:lnTo>
                  <a:pt x="1778000" y="1193800"/>
                </a:lnTo>
                <a:lnTo>
                  <a:pt x="508000" y="1193800"/>
                </a:lnTo>
                <a:close/>
              </a:path>
            </a:pathLst>
          </a:cu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0" name="Picture 159" descr="logo_fabri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00" y="330200"/>
            <a:ext cx="1498600" cy="1003300"/>
          </a:xfrm>
          <a:prstGeom prst="rect">
            <a:avLst/>
          </a:prstGeom>
        </p:spPr>
      </p:pic>
      <p:pic>
        <p:nvPicPr>
          <p:cNvPr id="161" name="Picture 160" descr="logo_simpl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000" y="381000"/>
            <a:ext cx="1625600" cy="825500"/>
          </a:xfrm>
          <a:prstGeom prst="rect">
            <a:avLst/>
          </a:prstGeom>
        </p:spPr>
      </p:pic>
      <p:pic>
        <p:nvPicPr>
          <p:cNvPr id="162" name="Picture 161" descr="hero_te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8400" y="279400"/>
            <a:ext cx="4775200" cy="2374900"/>
          </a:xfrm>
          <a:prstGeom prst="rect">
            <a:avLst/>
          </a:prstGeom>
        </p:spPr>
      </p:pic>
      <p:sp>
        <p:nvSpPr>
          <p:cNvPr id="163" name="TextBox 162"/>
          <p:cNvSpPr txBox="1"/>
          <p:nvPr/>
        </p:nvSpPr>
        <p:spPr>
          <a:xfrm>
            <a:off x="2387600" y="2887472"/>
            <a:ext cx="7416800" cy="6261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770"/>
              </a:lnSpc>
            </a:pPr>
            <a:r>
              <a:rPr sz="2900" b="0" i="0" spc="80">
                <a:solidFill>
                  <a:srgbClr val="FFFFFF"/>
                </a:solidFill>
                <a:latin typeface="Alfa Slab One"/>
              </a:rPr>
              <a:t>SADIYA DIGITAL AGRI</a:t>
            </a:r>
          </a:p>
        </p:txBody>
      </p:sp>
      <p:cxnSp>
        <p:nvCxnSpPr>
          <p:cNvPr id="164" name="Connector 163"/>
          <p:cNvCxnSpPr/>
          <p:nvPr/>
        </p:nvCxnSpPr>
        <p:spPr>
          <a:xfrm>
            <a:off x="2946400" y="3530600"/>
            <a:ext cx="812800" cy="0"/>
          </a:xfrm>
          <a:prstGeom prst="line">
            <a:avLst/>
          </a:prstGeom>
          <a:ln w="2032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9067800" y="3530600"/>
            <a:ext cx="812800" cy="0"/>
          </a:xfrm>
          <a:prstGeom prst="line">
            <a:avLst/>
          </a:prstGeom>
          <a:ln w="2032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/>
          <p:cNvSpPr txBox="1"/>
          <p:nvPr/>
        </p:nvSpPr>
        <p:spPr>
          <a:xfrm>
            <a:off x="2387600" y="3416300"/>
            <a:ext cx="7416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25"/>
              </a:lnSpc>
            </a:pPr>
            <a:r>
              <a:rPr sz="1250" b="1" i="0" spc="140">
                <a:solidFill>
                  <a:srgbClr val="1AAB70"/>
                </a:solidFill>
                <a:latin typeface="Poppins"/>
              </a:rPr>
              <a:t>DESIGN &amp; COMMUNITY MANAGEMENT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95600" y="3763264"/>
            <a:ext cx="6400800" cy="426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70"/>
              </a:lnSpc>
            </a:pPr>
            <a:r>
              <a:rPr sz="1050" b="0" i="0">
                <a:solidFill>
                  <a:srgbClr val="9FB8A2"/>
                </a:solidFill>
                <a:latin typeface="Poppins"/>
              </a:rPr>
              <a:t>Votre partenaire en production agricole</a:t>
            </a:r>
          </a:p>
          <a:p>
            <a:pPr algn="ctr">
              <a:lnSpc>
                <a:spcPts val="1470"/>
              </a:lnSpc>
            </a:pPr>
            <a:r>
              <a:rPr sz="1050" b="0" i="0">
                <a:solidFill>
                  <a:srgbClr val="9FB8A2"/>
                </a:solidFill>
                <a:latin typeface="Poppins"/>
              </a:rPr>
              <a:t>et communication digitale</a:t>
            </a:r>
          </a:p>
        </p:txBody>
      </p:sp>
      <p:cxnSp>
        <p:nvCxnSpPr>
          <p:cNvPr id="168" name="Connector 167"/>
          <p:cNvCxnSpPr/>
          <p:nvPr/>
        </p:nvCxnSpPr>
        <p:spPr>
          <a:xfrm>
            <a:off x="3810000" y="4368800"/>
            <a:ext cx="4572000" cy="0"/>
          </a:xfrm>
          <a:prstGeom prst="line">
            <a:avLst/>
          </a:prstGeom>
          <a:ln w="889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/>
          <p:cNvSpPr txBox="1"/>
          <p:nvPr/>
        </p:nvSpPr>
        <p:spPr>
          <a:xfrm>
            <a:off x="2387600" y="4492752"/>
            <a:ext cx="74168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820"/>
              </a:lnSpc>
            </a:pPr>
            <a:r>
              <a:rPr sz="1400" b="1" i="0" spc="320">
                <a:solidFill>
                  <a:srgbClr val="FFFFFF"/>
                </a:solidFill>
                <a:latin typeface="Poppins"/>
              </a:rPr>
              <a:t>SIMPLON SÉNÉGAL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2387600" y="4833518"/>
            <a:ext cx="7416800" cy="1899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44"/>
              </a:lnSpc>
            </a:pPr>
            <a:r>
              <a:rPr sz="880" b="1" i="0" spc="240">
                <a:solidFill>
                  <a:srgbClr val="1AAB70"/>
                </a:solidFill>
                <a:latin typeface="Poppins"/>
              </a:rPr>
              <a:t>PROGRAMME DE PRÉ-INCUBATION 2026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387600" y="5087112"/>
            <a:ext cx="7416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0" i="1">
                <a:solidFill>
                  <a:srgbClr val="9FB8A2"/>
                </a:solidFill>
                <a:latin typeface="Poppins"/>
              </a:rPr>
              <a:t>Juillet – Septembre 2026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2921000" y="5410200"/>
            <a:ext cx="6350000" cy="406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TextBox 172"/>
          <p:cNvSpPr txBox="1"/>
          <p:nvPr/>
        </p:nvSpPr>
        <p:spPr>
          <a:xfrm>
            <a:off x="2895600" y="5513832"/>
            <a:ext cx="6400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95"/>
              </a:lnSpc>
            </a:pPr>
            <a:r>
              <a:rPr sz="1150" b="1" i="0">
                <a:solidFill>
                  <a:srgbClr val="FFFFFF"/>
                </a:solidFill>
                <a:latin typeface="Poppins"/>
              </a:rPr>
              <a:t>Présentatrice : Nene Halimatou Sahdiya Diallo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895600" y="59009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0" i="0">
                <a:solidFill>
                  <a:srgbClr val="9FB8A2"/>
                </a:solidFill>
                <a:latin typeface="Poppins"/>
              </a:rPr>
              <a:t>Fondatrice &amp; CEO — Sadiya Digital Agri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57404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produits_locau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0" y="787400"/>
            <a:ext cx="6045200" cy="5613400"/>
          </a:xfrm>
          <a:prstGeom prst="rect">
            <a:avLst/>
          </a:prstGeom>
        </p:spPr>
      </p:pic>
      <p:sp>
        <p:nvSpPr>
          <p:cNvPr id="5" name="Freeform 4"/>
          <p:cNvSpPr/>
          <p:nvPr/>
        </p:nvSpPr>
        <p:spPr>
          <a:xfrm>
            <a:off x="5207000" y="0"/>
            <a:ext cx="3683000" cy="990600"/>
          </a:xfrm>
          <a:custGeom>
            <a:avLst/>
            <a:gdLst/>
            <a:ahLst/>
            <a:cxnLst/>
            <a:rect l="l" t="t" r="r" b="b"/>
            <a:pathLst>
              <a:path w="3683000" h="990600">
                <a:moveTo>
                  <a:pt x="0" y="0"/>
                </a:moveTo>
                <a:lnTo>
                  <a:pt x="3683000" y="0"/>
                </a:lnTo>
                <a:lnTo>
                  <a:pt x="2921000" y="990600"/>
                </a:lnTo>
                <a:lnTo>
                  <a:pt x="762000" y="990600"/>
                </a:lnTo>
                <a:close/>
              </a:path>
            </a:pathLst>
          </a:cu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8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8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8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8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28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28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28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28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8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5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5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55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55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55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55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5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55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55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5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55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82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82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82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82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82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82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82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82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82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82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82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09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9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09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09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09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09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09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09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09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09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09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736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36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36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36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36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36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36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36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36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36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36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863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863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63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863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63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63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63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863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863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863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863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62000" y="1536192"/>
            <a:ext cx="4876800" cy="949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20"/>
              </a:lnSpc>
            </a:pPr>
            <a:r>
              <a:rPr sz="4400" b="0" i="0">
                <a:solidFill>
                  <a:srgbClr val="1F5E3A"/>
                </a:solidFill>
                <a:latin typeface="Alfa Slab One"/>
              </a:rPr>
              <a:t>DU LOCAL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2000" y="2323592"/>
            <a:ext cx="4876800" cy="949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20"/>
              </a:lnSpc>
            </a:pPr>
            <a:r>
              <a:rPr sz="4400" b="0" i="0">
                <a:solidFill>
                  <a:srgbClr val="1AAB70"/>
                </a:solidFill>
                <a:latin typeface="Alfa Slab One"/>
              </a:rPr>
              <a:t>AU DIGITAL,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87400" y="3327400"/>
            <a:ext cx="584200" cy="4445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762000" y="3577336"/>
            <a:ext cx="4419600" cy="8747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02"/>
              </a:lnSpc>
            </a:pPr>
            <a:r>
              <a:rPr sz="1450" b="1" i="0">
                <a:solidFill>
                  <a:srgbClr val="0A1A01"/>
                </a:solidFill>
                <a:latin typeface="Poppins"/>
              </a:rPr>
              <a:t>Si nos produits ne sont pas visibles,</a:t>
            </a:r>
          </a:p>
          <a:p>
            <a:pPr algn="l">
              <a:lnSpc>
                <a:spcPts val="2102"/>
              </a:lnSpc>
            </a:pPr>
            <a:r>
              <a:rPr sz="1450" b="1" i="0">
                <a:solidFill>
                  <a:srgbClr val="0A1A01"/>
                </a:solidFill>
                <a:latin typeface="Poppins"/>
              </a:rPr>
              <a:t>comment donner envie de les</a:t>
            </a:r>
          </a:p>
          <a:p>
            <a:pPr algn="l">
              <a:lnSpc>
                <a:spcPts val="2102"/>
              </a:lnSpc>
            </a:pPr>
            <a:r>
              <a:rPr sz="1450" b="1" i="0">
                <a:solidFill>
                  <a:srgbClr val="0A1A01"/>
                </a:solidFill>
                <a:latin typeface="Poppins"/>
              </a:rPr>
              <a:t>consommer ?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62000" y="4960925"/>
            <a:ext cx="4470400" cy="3713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89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Au Sénégal, des centaines de PME agroalimentaires produisent</a:t>
            </a:r>
          </a:p>
          <a:p>
            <a:pPr algn="l">
              <a:lnSpc>
                <a:spcPts val="1289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d'excellents produits locaux… mais restent invisibles en ligne.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0" y="6654800"/>
            <a:ext cx="12192000" cy="2032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8" name="Picture 77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400" y="5918200"/>
            <a:ext cx="1219200" cy="2413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FFB800"/>
                </a:solidFill>
                <a:latin typeface="Poppins"/>
              </a:rPr>
              <a:t>CONSTAT TERRAIN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Le Problème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Trois freins qui empêchent les acteurs agroalimentaires de vendre en ligne.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33600"/>
            <a:ext cx="3530600" cy="2641600"/>
          </a:xfrm>
          <a:prstGeom prst="roundRect">
            <a:avLst>
              <a:gd name="adj" fmla="val 432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33600"/>
            <a:ext cx="3530600" cy="508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939800" y="2463800"/>
            <a:ext cx="266700" cy="266700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507996"/>
            <a:ext cx="3175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0A1A01"/>
                </a:solidFill>
                <a:latin typeface="Poppins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916936"/>
            <a:ext cx="3022600" cy="545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5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Faible présence</a:t>
            </a:r>
          </a:p>
          <a:p>
            <a:pPr algn="l">
              <a:lnSpc>
                <a:spcPts val="185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sur les réseaux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39800" y="3708400"/>
            <a:ext cx="381000" cy="0"/>
          </a:xfrm>
          <a:prstGeom prst="line">
            <a:avLst/>
          </a:prstGeom>
          <a:ln w="1778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14400" y="3867506"/>
            <a:ext cx="3022600" cy="408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6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Pages inactives, contenus rares et irréguliers : la</a:t>
            </a:r>
          </a:p>
          <a:p>
            <a:pPr algn="l">
              <a:lnSpc>
                <a:spcPts val="1426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marque n'existe pas là où se trouvent ses clients.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94200" y="2133600"/>
            <a:ext cx="3530600" cy="2641600"/>
          </a:xfrm>
          <a:prstGeom prst="roundRect">
            <a:avLst>
              <a:gd name="adj" fmla="val 432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4394200" y="2133600"/>
            <a:ext cx="3530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4673600" y="2463800"/>
            <a:ext cx="266700" cy="2667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48200" y="2507996"/>
            <a:ext cx="3175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48200" y="2916936"/>
            <a:ext cx="3022600" cy="545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5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Manque de stratégie</a:t>
            </a:r>
          </a:p>
          <a:p>
            <a:pPr algn="l">
              <a:lnSpc>
                <a:spcPts val="185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de communication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673600" y="3708400"/>
            <a:ext cx="381000" cy="0"/>
          </a:xfrm>
          <a:prstGeom prst="line">
            <a:avLst/>
          </a:prstGeom>
          <a:ln w="1778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648200" y="3867506"/>
            <a:ext cx="3022600" cy="408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6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On publie sans objectif, sans ligne éditoriale ni</a:t>
            </a:r>
          </a:p>
          <a:p>
            <a:pPr algn="l">
              <a:lnSpc>
                <a:spcPts val="1426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calendrier — donc sans résultat mesurable.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8000" y="2133600"/>
            <a:ext cx="3530600" cy="2641600"/>
          </a:xfrm>
          <a:prstGeom prst="roundRect">
            <a:avLst>
              <a:gd name="adj" fmla="val 432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8128000" y="2133600"/>
            <a:ext cx="3530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8407400" y="2463800"/>
            <a:ext cx="266700" cy="2667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82000" y="2507996"/>
            <a:ext cx="3175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0" y="2916936"/>
            <a:ext cx="3022600" cy="545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5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Visibilité qui ne</a:t>
            </a:r>
          </a:p>
          <a:p>
            <a:pPr algn="l">
              <a:lnSpc>
                <a:spcPts val="185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convertit pas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407400" y="3708400"/>
            <a:ext cx="381000" cy="0"/>
          </a:xfrm>
          <a:prstGeom prst="line">
            <a:avLst/>
          </a:prstGeom>
          <a:ln w="1778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82000" y="3867506"/>
            <a:ext cx="3022600" cy="408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6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Des vues, parfois des likes, mais aucun prospect</a:t>
            </a:r>
          </a:p>
          <a:p>
            <a:pPr algn="l">
              <a:lnSpc>
                <a:spcPts val="1426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qualifié ni contrat signé au bout.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0400" y="5080000"/>
            <a:ext cx="10871200" cy="711200"/>
          </a:xfrm>
          <a:prstGeom prst="roundRect">
            <a:avLst>
              <a:gd name="adj" fmla="val 16071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39800" y="5239512"/>
            <a:ext cx="170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40">
                <a:solidFill>
                  <a:srgbClr val="1AAB70"/>
                </a:solidFill>
                <a:latin typeface="Poppins"/>
              </a:rPr>
              <a:t>CONSÉQUENCE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9800" y="5437632"/>
            <a:ext cx="10210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FFFFFF"/>
                </a:solidFill>
                <a:latin typeface="Poppins"/>
              </a:rPr>
              <a:t>Des produits de qualité restent inconnus, pendant que les marques importées occupent tout l'espace digital.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boutique_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905000"/>
            <a:ext cx="5207000" cy="4394200"/>
          </a:xfrm>
          <a:prstGeom prst="rect">
            <a:avLst/>
          </a:prstGeom>
        </p:spPr>
      </p:pic>
      <p:sp>
        <p:nvSpPr>
          <p:cNvPr id="5" name="Freeform 4"/>
          <p:cNvSpPr/>
          <p:nvPr/>
        </p:nvSpPr>
        <p:spPr>
          <a:xfrm>
            <a:off x="8890000" y="0"/>
            <a:ext cx="3302000" cy="1219200"/>
          </a:xfrm>
          <a:custGeom>
            <a:avLst/>
            <a:gdLst/>
            <a:ahLst/>
            <a:cxnLst/>
            <a:rect l="l" t="t" r="r" b="b"/>
            <a:pathLst>
              <a:path w="3302000" h="1219200">
                <a:moveTo>
                  <a:pt x="0" y="0"/>
                </a:moveTo>
                <a:lnTo>
                  <a:pt x="3302000" y="0"/>
                </a:lnTo>
                <a:lnTo>
                  <a:pt x="3302000" y="1219200"/>
                </a:lnTo>
                <a:lnTo>
                  <a:pt x="1143000" y="1219200"/>
                </a:lnTo>
                <a:close/>
              </a:path>
            </a:pathLst>
          </a:cu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477520"/>
            <a:ext cx="6400800" cy="863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200"/>
              </a:lnSpc>
            </a:pPr>
            <a:r>
              <a:rPr sz="4000" b="0" i="0">
                <a:solidFill>
                  <a:srgbClr val="1F5E3A"/>
                </a:solidFill>
                <a:latin typeface="Alfa Slab One"/>
              </a:rPr>
              <a:t>La Solution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60400" y="1371600"/>
            <a:ext cx="685800" cy="508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35000" y="1619504"/>
            <a:ext cx="6019800" cy="629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70"/>
              </a:lnSpc>
            </a:pPr>
            <a:r>
              <a:rPr sz="1550" b="1" i="0">
                <a:solidFill>
                  <a:srgbClr val="0A1A01"/>
                </a:solidFill>
                <a:latin typeface="Poppins"/>
              </a:rPr>
              <a:t>Une agence de community management spécialisée</a:t>
            </a:r>
          </a:p>
          <a:p>
            <a:pPr algn="l">
              <a:lnSpc>
                <a:spcPts val="2170"/>
              </a:lnSpc>
            </a:pPr>
            <a:r>
              <a:rPr sz="1550" b="1" i="0">
                <a:solidFill>
                  <a:srgbClr val="0A1A01"/>
                </a:solidFill>
                <a:latin typeface="Poppins"/>
              </a:rPr>
              <a:t>dans le secteur agro-industriel.</a:t>
            </a:r>
          </a:p>
        </p:txBody>
      </p:sp>
      <p:sp>
        <p:nvSpPr>
          <p:cNvPr id="9" name="Freeform 8"/>
          <p:cNvSpPr/>
          <p:nvPr/>
        </p:nvSpPr>
        <p:spPr>
          <a:xfrm>
            <a:off x="660400" y="2641600"/>
            <a:ext cx="5715000" cy="1879600"/>
          </a:xfrm>
          <a:custGeom>
            <a:avLst/>
            <a:gdLst/>
            <a:ahLst/>
            <a:cxnLst/>
            <a:rect l="l" t="t" r="r" b="b"/>
            <a:pathLst>
              <a:path w="5715000" h="1879600">
                <a:moveTo>
                  <a:pt x="0" y="0"/>
                </a:moveTo>
                <a:lnTo>
                  <a:pt x="5334000" y="0"/>
                </a:lnTo>
                <a:lnTo>
                  <a:pt x="5715000" y="939800"/>
                </a:lnTo>
                <a:lnTo>
                  <a:pt x="5334000" y="1879600"/>
                </a:lnTo>
                <a:lnTo>
                  <a:pt x="0" y="1879600"/>
                </a:lnTo>
                <a:close/>
              </a:path>
            </a:pathLst>
          </a:cu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8860" y="2954655"/>
            <a:ext cx="132080" cy="13208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1071880" y="3023235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097280" y="2987675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219200" y="2919984"/>
            <a:ext cx="4165600" cy="2839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6"/>
              </a:lnSpc>
            </a:pPr>
            <a:r>
              <a:rPr sz="1300" b="1" i="0">
                <a:solidFill>
                  <a:srgbClr val="FFFFFF"/>
                </a:solidFill>
                <a:latin typeface="Poppins"/>
              </a:rPr>
              <a:t>Stratégie Social Media</a:t>
            </a:r>
          </a:p>
        </p:txBody>
      </p:sp>
      <p:sp>
        <p:nvSpPr>
          <p:cNvPr id="14" name="Oval 13"/>
          <p:cNvSpPr/>
          <p:nvPr/>
        </p:nvSpPr>
        <p:spPr>
          <a:xfrm>
            <a:off x="1038860" y="3388487"/>
            <a:ext cx="132080" cy="13208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71880" y="3457067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097280" y="3421507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219200" y="3353816"/>
            <a:ext cx="4165600" cy="2839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6"/>
              </a:lnSpc>
            </a:pPr>
            <a:r>
              <a:rPr sz="1300" b="1" i="0">
                <a:solidFill>
                  <a:srgbClr val="FFFFFF"/>
                </a:solidFill>
                <a:latin typeface="Poppins"/>
              </a:rPr>
              <a:t>Création de Contenu</a:t>
            </a:r>
          </a:p>
        </p:txBody>
      </p:sp>
      <p:sp>
        <p:nvSpPr>
          <p:cNvPr id="18" name="Oval 17"/>
          <p:cNvSpPr/>
          <p:nvPr/>
        </p:nvSpPr>
        <p:spPr>
          <a:xfrm>
            <a:off x="1038860" y="3822319"/>
            <a:ext cx="132080" cy="13208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071880" y="3890899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1097280" y="3855339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219200" y="3787648"/>
            <a:ext cx="4165600" cy="2839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6"/>
              </a:lnSpc>
            </a:pPr>
            <a:r>
              <a:rPr sz="1300" b="1" i="0">
                <a:solidFill>
                  <a:srgbClr val="FFFFFF"/>
                </a:solidFill>
                <a:latin typeface="Poppins"/>
              </a:rPr>
              <a:t>Gestion de Communauté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000" y="4807712"/>
            <a:ext cx="5892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30">
                <a:solidFill>
                  <a:srgbClr val="1AAB70"/>
                </a:solidFill>
                <a:latin typeface="Poppins"/>
              </a:rPr>
              <a:t>LA DOUBLE EXPERTISE QUI FAIT LA DIFFÉRENCE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0400" y="5080000"/>
            <a:ext cx="2743200" cy="7874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38200" y="5209032"/>
            <a:ext cx="2463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Agriculture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8200" y="5456834"/>
            <a:ext cx="2463800" cy="189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2"/>
              </a:lnSpc>
            </a:pPr>
            <a:r>
              <a:rPr sz="830" b="0" i="0">
                <a:solidFill>
                  <a:srgbClr val="42612D"/>
                </a:solidFill>
                <a:latin typeface="Poppins"/>
              </a:rPr>
              <a:t>Licence en agronomie, terrain connu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06800" y="5080000"/>
            <a:ext cx="2743200" cy="7874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784600" y="5209032"/>
            <a:ext cx="2463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Digital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84600" y="5456834"/>
            <a:ext cx="2463800" cy="189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2"/>
              </a:lnSpc>
            </a:pPr>
            <a:r>
              <a:rPr sz="830" b="0" i="0">
                <a:solidFill>
                  <a:srgbClr val="42612D"/>
                </a:solidFill>
                <a:latin typeface="Poppins"/>
              </a:rPr>
              <a:t>Community management certifié Simplon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30" name="Picture 2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1684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1168400"/>
            <a:ext cx="12192000" cy="5689600"/>
          </a:xfrm>
          <a:prstGeom prst="rect">
            <a:avLst/>
          </a:prstGeom>
          <a:solidFill>
            <a:srgbClr val="E4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35000" y="332232"/>
            <a:ext cx="76708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sz="2400" b="0" i="0">
                <a:solidFill>
                  <a:srgbClr val="0A1A01"/>
                </a:solidFill>
                <a:latin typeface="Alfa Slab One"/>
              </a:rPr>
              <a:t>NOTRE MARCHÉ CIBLE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35200" y="813816"/>
            <a:ext cx="817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0" i="0">
                <a:solidFill>
                  <a:srgbClr val="42612D"/>
                </a:solidFill>
                <a:latin typeface="Poppins"/>
              </a:rPr>
              <a:t>Un marché 100 % B2B au cœur de l'agroalimentaire sénégalais</a:t>
            </a:r>
          </a:p>
        </p:txBody>
      </p:sp>
      <p:pic>
        <p:nvPicPr>
          <p:cNvPr id="7" name="Picture 6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330200"/>
            <a:ext cx="939800" cy="381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937000" y="1676400"/>
            <a:ext cx="4318000" cy="1930400"/>
          </a:xfrm>
          <a:prstGeom prst="roundRect">
            <a:avLst>
              <a:gd name="adj" fmla="val 8552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911600" y="1884680"/>
            <a:ext cx="4368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 spc="130">
                <a:solidFill>
                  <a:srgbClr val="FFFFFF"/>
                </a:solidFill>
                <a:latin typeface="Poppins"/>
              </a:rPr>
              <a:t>SADIYA DIGITAL AGRI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38600" y="2200656"/>
            <a:ext cx="4114800" cy="6261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125"/>
              </a:lnSpc>
            </a:pPr>
            <a:r>
              <a:rPr sz="1700" b="0" i="0">
                <a:solidFill>
                  <a:srgbClr val="FFFFFF"/>
                </a:solidFill>
                <a:latin typeface="Alfa Slab One"/>
              </a:rPr>
              <a:t>Digitaliser la visibilité</a:t>
            </a:r>
          </a:p>
          <a:p>
            <a:pPr algn="ctr">
              <a:lnSpc>
                <a:spcPts val="2125"/>
              </a:lnSpc>
            </a:pPr>
            <a:r>
              <a:rPr sz="1700" b="0" i="0">
                <a:solidFill>
                  <a:srgbClr val="FFFFFF"/>
                </a:solidFill>
                <a:latin typeface="Alfa Slab One"/>
              </a:rPr>
              <a:t>et la commercialisation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8600" y="3082138"/>
            <a:ext cx="41148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66"/>
              </a:lnSpc>
            </a:pPr>
            <a:r>
              <a:rPr sz="819" b="0" i="0">
                <a:solidFill>
                  <a:srgbClr val="9FB8A2"/>
                </a:solidFill>
                <a:latin typeface="Poppins"/>
              </a:rPr>
              <a:t>des acteurs agroalimentaires sénégalais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1981200"/>
            <a:ext cx="2946400" cy="1219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863600" y="21590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8200" y="22017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1100" y="2186432"/>
            <a:ext cx="22987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PRODUCTEURS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2597912"/>
            <a:ext cx="2590800" cy="3771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Exploitations agricoles</a:t>
            </a:r>
          </a:p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&amp; entreprises de production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85200" y="1981200"/>
            <a:ext cx="2946400" cy="1219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8788400" y="21590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63000" y="22017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05900" y="2186432"/>
            <a:ext cx="22987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ACHETEURS PRO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63000" y="2597912"/>
            <a:ext cx="2590800" cy="3771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Hôtels, restaurants,</a:t>
            </a:r>
          </a:p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commerces &amp; enseignes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7400" y="4216400"/>
            <a:ext cx="2870200" cy="1219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990600" y="43942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5200" y="44369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08100" y="4421632"/>
            <a:ext cx="22225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TRANSFORMATEURS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5200" y="4833112"/>
            <a:ext cx="2514600" cy="3771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PME et entreprises</a:t>
            </a:r>
          </a:p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de transformation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48200" y="4521200"/>
            <a:ext cx="2895600" cy="1219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4851400" y="46990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26000" y="47417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68900" y="4726432"/>
            <a:ext cx="22479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GIE &amp; COOPÉRATIVES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26000" y="5137912"/>
            <a:ext cx="2540000" cy="3771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Structures collectives</a:t>
            </a:r>
          </a:p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à professionnaliser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534400" y="4216400"/>
            <a:ext cx="2946400" cy="1219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8737600" y="43942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12200" y="44369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55100" y="4421632"/>
            <a:ext cx="22987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DISTRIBUTEURS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12200" y="4833112"/>
            <a:ext cx="2590800" cy="3771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Grossistes, distributeurs</a:t>
            </a:r>
          </a:p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&amp; acteurs de la chaîne</a:t>
            </a:r>
          </a:p>
        </p:txBody>
      </p:sp>
      <p:cxnSp>
        <p:nvCxnSpPr>
          <p:cNvPr id="37" name="Connector 36"/>
          <p:cNvCxnSpPr/>
          <p:nvPr/>
        </p:nvCxnSpPr>
        <p:spPr>
          <a:xfrm flipH="1" flipV="1">
            <a:off x="3606800" y="2540000"/>
            <a:ext cx="2489200" cy="7366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6096000" y="2540000"/>
            <a:ext cx="2489200" cy="7366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3657600" y="3276600"/>
            <a:ext cx="2438400" cy="12446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096000" y="3276600"/>
            <a:ext cx="0" cy="12446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096000" y="3276600"/>
            <a:ext cx="2438400" cy="12446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NOTRE MÉTHODE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La stratégie TOMSTER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Six étapes pour transformer une présence digitale en opportunités commerciales.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84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84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939800" y="2438400"/>
            <a:ext cx="508000" cy="5080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560320"/>
            <a:ext cx="5588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950"/>
              </a:lnSpc>
            </a:pPr>
            <a:r>
              <a:rPr sz="1500" b="0" i="0">
                <a:solidFill>
                  <a:srgbClr val="1AAB70"/>
                </a:solidFill>
                <a:latin typeface="Alfa Slab One"/>
              </a:rPr>
              <a:t>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74800" y="2459736"/>
            <a:ext cx="23368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Target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4800" y="2750312"/>
            <a:ext cx="2336800" cy="2057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À qui je m'adresse ?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39800" y="3251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14400" y="3386328"/>
            <a:ext cx="284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>
                <a:solidFill>
                  <a:srgbClr val="1AAB70"/>
                </a:solidFill>
                <a:latin typeface="Poppins"/>
              </a:rPr>
              <a:t>Cible &amp; persona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18000" y="2184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4318000" y="2184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4597400" y="2438400"/>
            <a:ext cx="508000" cy="508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2560320"/>
            <a:ext cx="5588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950"/>
              </a:lnSpc>
            </a:pPr>
            <a:r>
              <a:rPr sz="1500" b="0" i="0">
                <a:solidFill>
                  <a:srgbClr val="1F5E3A"/>
                </a:solidFill>
                <a:latin typeface="Alfa Slab One"/>
              </a:rPr>
              <a:t>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2400" y="2459736"/>
            <a:ext cx="23368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Objectives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2400" y="2750312"/>
            <a:ext cx="2336800" cy="2057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Ce que je veux accomplir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597400" y="3251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572000" y="3386328"/>
            <a:ext cx="284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>
                <a:solidFill>
                  <a:srgbClr val="1F5E3A"/>
                </a:solidFill>
                <a:latin typeface="Poppins"/>
              </a:rPr>
              <a:t>Objectifs SMART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75600" y="2184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7975600" y="2184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8255000" y="2438400"/>
            <a:ext cx="508000" cy="5080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0" y="2560320"/>
            <a:ext cx="5588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950"/>
              </a:lnSpc>
            </a:pPr>
            <a:r>
              <a:rPr sz="1500" b="0" i="0">
                <a:solidFill>
                  <a:srgbClr val="42612D"/>
                </a:solidFill>
                <a:latin typeface="Alfa Slab One"/>
              </a:rPr>
              <a:t>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90000" y="2459736"/>
            <a:ext cx="23368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Message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90000" y="2750312"/>
            <a:ext cx="2336800" cy="2057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Ce que je dis, et comment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255000" y="3251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229600" y="3386328"/>
            <a:ext cx="284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>
                <a:solidFill>
                  <a:srgbClr val="42612D"/>
                </a:solidFill>
                <a:latin typeface="Poppins"/>
              </a:rPr>
              <a:t>Positionnement &amp; valeur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0400" y="4089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60400" y="4089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939800" y="4343400"/>
            <a:ext cx="508000" cy="5080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4465320"/>
            <a:ext cx="5588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950"/>
              </a:lnSpc>
            </a:pPr>
            <a:r>
              <a:rPr sz="1500" b="0" i="0">
                <a:solidFill>
                  <a:srgbClr val="1AAB70"/>
                </a:solidFill>
                <a:latin typeface="Alfa Slab One"/>
              </a:rPr>
              <a:t>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74800" y="4364736"/>
            <a:ext cx="23368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Strategy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74800" y="4655312"/>
            <a:ext cx="2336800" cy="2057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Mon approche globale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39800" y="5156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14400" y="5291328"/>
            <a:ext cx="284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>
                <a:solidFill>
                  <a:srgbClr val="1AAB70"/>
                </a:solidFill>
                <a:latin typeface="Poppins"/>
              </a:rPr>
              <a:t>Réseaux &amp; parcours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318000" y="4089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ounded Rectangle 44"/>
          <p:cNvSpPr/>
          <p:nvPr/>
        </p:nvSpPr>
        <p:spPr>
          <a:xfrm>
            <a:off x="4318000" y="4089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4597400" y="4343400"/>
            <a:ext cx="508000" cy="508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0" y="4465320"/>
            <a:ext cx="5588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950"/>
              </a:lnSpc>
            </a:pPr>
            <a:r>
              <a:rPr sz="1500" b="0" i="0">
                <a:solidFill>
                  <a:srgbClr val="1F5E3A"/>
                </a:solidFill>
                <a:latin typeface="Alfa Slab One"/>
              </a:rPr>
              <a:t>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32400" y="4364736"/>
            <a:ext cx="23368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Tactics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32400" y="4655312"/>
            <a:ext cx="2336800" cy="2057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Mes actions concrètes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597400" y="5156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572000" y="5291328"/>
            <a:ext cx="284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>
                <a:solidFill>
                  <a:srgbClr val="1F5E3A"/>
                </a:solidFill>
                <a:latin typeface="Poppins"/>
              </a:rPr>
              <a:t>Calendrier éditorial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975600" y="4089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ounded Rectangle 52"/>
          <p:cNvSpPr/>
          <p:nvPr/>
        </p:nvSpPr>
        <p:spPr>
          <a:xfrm>
            <a:off x="7975600" y="4089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Oval 53"/>
          <p:cNvSpPr/>
          <p:nvPr/>
        </p:nvSpPr>
        <p:spPr>
          <a:xfrm>
            <a:off x="8255000" y="4343400"/>
            <a:ext cx="508000" cy="5080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229600" y="4473448"/>
            <a:ext cx="558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0" i="0">
                <a:solidFill>
                  <a:srgbClr val="42612D"/>
                </a:solidFill>
                <a:latin typeface="Alfa Slab One"/>
              </a:rPr>
              <a:t>E+R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890000" y="4364736"/>
            <a:ext cx="23368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Execution &amp; Results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890000" y="4655312"/>
            <a:ext cx="2336800" cy="2057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Je produis, je mesure, j'ajuste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8255000" y="5156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8229600" y="5291328"/>
            <a:ext cx="284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>
                <a:solidFill>
                  <a:srgbClr val="42612D"/>
                </a:solidFill>
                <a:latin typeface="Poppins"/>
              </a:rPr>
              <a:t>KPI &amp; ajustement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T · TARGET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À qui nous adressons-nous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marché B2B concentré, identifiable et joignable directement en ligne.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33600"/>
            <a:ext cx="5334000" cy="16764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33600"/>
            <a:ext cx="53340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343912"/>
            <a:ext cx="3860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40">
                <a:solidFill>
                  <a:srgbClr val="1AAB70"/>
                </a:solidFill>
                <a:latin typeface="Poppins"/>
              </a:rPr>
              <a:t>CIBLE PRINCIPALE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621280"/>
            <a:ext cx="4826000" cy="64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5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Dirigeants et responsables communication des PME agroalimentaires</a:t>
            </a:r>
          </a:p>
          <a:p>
            <a:pPr algn="l">
              <a:lnSpc>
                <a:spcPts val="155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sénégalaises : marques locales, coopératives, unités artisanales et</a:t>
            </a:r>
          </a:p>
          <a:p>
            <a:pPr algn="l">
              <a:lnSpc>
                <a:spcPts val="155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agro-industrielles.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7600" y="2133600"/>
            <a:ext cx="5334000" cy="16764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6197600" y="2133600"/>
            <a:ext cx="53340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51600" y="2343912"/>
            <a:ext cx="3860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40">
                <a:solidFill>
                  <a:srgbClr val="42612D"/>
                </a:solidFill>
                <a:latin typeface="Poppins"/>
              </a:rPr>
              <a:t>CIBLE SECONDAIRE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1600" y="2621280"/>
            <a:ext cx="4826000" cy="444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5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Grandes entreprises et industries agroalimentaires sénégalaises,</a:t>
            </a:r>
          </a:p>
          <a:p>
            <a:pPr algn="l">
              <a:lnSpc>
                <a:spcPts val="155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disposant de budgets structurés et d'enjeux de marque nationale.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0400" y="4038600"/>
            <a:ext cx="10871200" cy="1879600"/>
          </a:xfrm>
          <a:prstGeom prst="roundRect">
            <a:avLst>
              <a:gd name="adj" fmla="val 7432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1016000" y="4368800"/>
            <a:ext cx="965200" cy="965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0600" y="4587240"/>
            <a:ext cx="1016000" cy="647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900"/>
              </a:lnSpc>
            </a:pPr>
            <a:r>
              <a:rPr sz="3000" b="0" i="0">
                <a:solidFill>
                  <a:srgbClr val="1AAB70"/>
                </a:solidFill>
                <a:latin typeface="Alfa Slab One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35200" y="4275328"/>
            <a:ext cx="386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60">
                <a:solidFill>
                  <a:srgbClr val="1AAB70"/>
                </a:solidFill>
                <a:latin typeface="Poppins"/>
              </a:rPr>
              <a:t>PERSONA PRINCIPAL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35200" y="4461256"/>
            <a:ext cx="3860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0" i="0">
                <a:solidFill>
                  <a:srgbClr val="FFFFFF"/>
                </a:solidFill>
                <a:latin typeface="Alfa Slab One"/>
              </a:rPr>
              <a:t>Aminata, 36 ans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35200" y="4883506"/>
            <a:ext cx="5384800" cy="2161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33"/>
              </a:lnSpc>
            </a:pPr>
            <a:r>
              <a:rPr sz="919" b="0" i="0">
                <a:solidFill>
                  <a:srgbClr val="9FB8A2"/>
                </a:solidFill>
                <a:latin typeface="Poppins"/>
              </a:rPr>
              <a:t>Directrice générale d'une PME de transformation de fruits et légumes à Dakar.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260600" y="5308600"/>
            <a:ext cx="2870200" cy="457200"/>
          </a:xfrm>
          <a:prstGeom prst="roundRect">
            <a:avLst>
              <a:gd name="adj" fmla="val 16666"/>
            </a:avLst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387600" y="5382870"/>
            <a:ext cx="2590800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36"/>
              </a:lnSpc>
            </a:pPr>
            <a:r>
              <a:rPr sz="720" b="1" i="0" spc="120">
                <a:solidFill>
                  <a:srgbClr val="1AAB70"/>
                </a:solidFill>
                <a:latin typeface="Poppins"/>
              </a:rPr>
              <a:t>BESOIN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87600" y="5520538"/>
            <a:ext cx="26670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0">
                <a:solidFill>
                  <a:srgbClr val="FFFFFF"/>
                </a:solidFill>
                <a:latin typeface="Poppins"/>
              </a:rPr>
              <a:t>Faire connaître ses gammes de jus locaux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08600" y="5308600"/>
            <a:ext cx="2870200" cy="457200"/>
          </a:xfrm>
          <a:prstGeom prst="roundRect">
            <a:avLst>
              <a:gd name="adj" fmla="val 16666"/>
            </a:avLst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435600" y="5382870"/>
            <a:ext cx="2590800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36"/>
              </a:lnSpc>
            </a:pPr>
            <a:r>
              <a:rPr sz="720" b="1" i="0" spc="120">
                <a:solidFill>
                  <a:srgbClr val="1AAB70"/>
                </a:solidFill>
                <a:latin typeface="Poppins"/>
              </a:rPr>
              <a:t>FREIN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35600" y="5520538"/>
            <a:ext cx="26670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0">
                <a:solidFill>
                  <a:srgbClr val="FFFFFF"/>
                </a:solidFill>
                <a:latin typeface="Poppins"/>
              </a:rPr>
              <a:t>Manque de temps et d'expertise interne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56600" y="5308600"/>
            <a:ext cx="2870200" cy="457200"/>
          </a:xfrm>
          <a:prstGeom prst="roundRect">
            <a:avLst>
              <a:gd name="adj" fmla="val 16666"/>
            </a:avLst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483600" y="5382870"/>
            <a:ext cx="2590800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36"/>
              </a:lnSpc>
            </a:pPr>
            <a:r>
              <a:rPr sz="720" b="1" i="0" spc="120">
                <a:solidFill>
                  <a:srgbClr val="1AAB70"/>
                </a:solidFill>
                <a:latin typeface="Poppins"/>
              </a:rPr>
              <a:t>RÉSEAUX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83600" y="5520538"/>
            <a:ext cx="26670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0">
                <a:solidFill>
                  <a:srgbClr val="FFFFFF"/>
                </a:solidFill>
                <a:latin typeface="Poppins"/>
              </a:rPr>
              <a:t>LinkedIn · Facebook · TikTok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6051296"/>
            <a:ext cx="109220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235"/>
              </a:lnSpc>
            </a:pPr>
            <a:r>
              <a:rPr sz="950" b="0" i="1">
                <a:solidFill>
                  <a:srgbClr val="42612D"/>
                </a:solidFill>
                <a:latin typeface="Poppins"/>
              </a:rPr>
              <a:t>« Elle possède de bons produits locaux mais manque de temps et de compétences pour les rendre visibles en ligne. 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O ·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Qu'est-ce que je veux accomplir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Trois objectifs SMART, mesurables et échelonnés sur les 6 premiers mois.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08200"/>
            <a:ext cx="3403600" cy="312420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082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366264"/>
            <a:ext cx="2844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 spc="150">
                <a:solidFill>
                  <a:srgbClr val="1AAB70"/>
                </a:solidFill>
                <a:latin typeface="Poppins"/>
              </a:rPr>
              <a:t>NOTORIÉTÉ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577592"/>
            <a:ext cx="2844800" cy="949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20"/>
              </a:lnSpc>
            </a:pPr>
            <a:r>
              <a:rPr sz="4400" b="0" i="0">
                <a:solidFill>
                  <a:srgbClr val="1F5E3A"/>
                </a:solidFill>
                <a:latin typeface="Alfa Slab One"/>
              </a:rPr>
              <a:t>500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384296"/>
            <a:ext cx="2844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42612D"/>
                </a:solidFill>
                <a:latin typeface="Poppins"/>
              </a:rPr>
              <a:t>abonnés qualifiés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39800" y="37084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14400" y="3842512"/>
            <a:ext cx="2895600" cy="5600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Faire connaître Sadiya Digital Agri auprès des</a:t>
            </a:r>
          </a:p>
          <a:p>
            <a:pPr algn="l">
              <a:lnSpc>
                <a:spcPts val="135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PME agroalimentaires via des contenus</a:t>
            </a:r>
          </a:p>
          <a:p>
            <a:pPr algn="l">
              <a:lnSpc>
                <a:spcPts val="135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spécialisés et pédagogiques.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9800" y="4724400"/>
            <a:ext cx="1066800" cy="279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4400" y="4783328"/>
            <a:ext cx="11176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3 mois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8000" y="2108200"/>
            <a:ext cx="3403600" cy="312420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4318000" y="21082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572000" y="2366264"/>
            <a:ext cx="2844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 spc="150">
                <a:solidFill>
                  <a:srgbClr val="1F5E3A"/>
                </a:solidFill>
                <a:latin typeface="Poppins"/>
              </a:rPr>
              <a:t>PROSPECTION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2577592"/>
            <a:ext cx="2844800" cy="949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20"/>
              </a:lnSpc>
            </a:pPr>
            <a:r>
              <a:rPr sz="4400" b="0" i="0">
                <a:solidFill>
                  <a:srgbClr val="1F5E3A"/>
                </a:solidFill>
                <a:latin typeface="Alfa Slab One"/>
              </a:rPr>
              <a:t>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3384296"/>
            <a:ext cx="2844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42612D"/>
                </a:solidFill>
                <a:latin typeface="Poppins"/>
              </a:rPr>
              <a:t>demandes qualifiées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597400" y="37084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572000" y="3842512"/>
            <a:ext cx="2895600" cy="5600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Générer des prospects grâce aux contenus</a:t>
            </a:r>
          </a:p>
          <a:p>
            <a:pPr algn="l">
              <a:lnSpc>
                <a:spcPts val="135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éducatifs, études de cas et appels à l'action</a:t>
            </a:r>
          </a:p>
          <a:p>
            <a:pPr algn="l">
              <a:lnSpc>
                <a:spcPts val="135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ciblés.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97400" y="4724400"/>
            <a:ext cx="1066800" cy="2794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572000" y="4783328"/>
            <a:ext cx="11176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6 mois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75600" y="2108200"/>
            <a:ext cx="3403600" cy="312420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7975600" y="21082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229600" y="2366264"/>
            <a:ext cx="2844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 spc="150">
                <a:solidFill>
                  <a:srgbClr val="42612D"/>
                </a:solidFill>
                <a:latin typeface="Poppins"/>
              </a:rPr>
              <a:t>CONVERSION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2577592"/>
            <a:ext cx="2844800" cy="949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20"/>
              </a:lnSpc>
            </a:pPr>
            <a:r>
              <a:rPr sz="4400" b="0" i="0">
                <a:solidFill>
                  <a:srgbClr val="1F5E3A"/>
                </a:solidFill>
                <a:latin typeface="Alfa Slab One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3384296"/>
            <a:ext cx="2844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42612D"/>
                </a:solidFill>
                <a:latin typeface="Poppins"/>
              </a:rPr>
              <a:t>contrats signés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255000" y="37084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229600" y="3842512"/>
            <a:ext cx="2895600" cy="5600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Transformer les prospects en clients avec des</a:t>
            </a:r>
          </a:p>
          <a:p>
            <a:pPr algn="l">
              <a:lnSpc>
                <a:spcPts val="135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offres adaptées aux budgets des PME et un suivi</a:t>
            </a:r>
          </a:p>
          <a:p>
            <a:pPr algn="l">
              <a:lnSpc>
                <a:spcPts val="135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personnalisé.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255000" y="4724400"/>
            <a:ext cx="1066800" cy="2794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229600" y="4783328"/>
            <a:ext cx="11176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6 mois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0400" y="5511800"/>
            <a:ext cx="10871200" cy="558800"/>
          </a:xfrm>
          <a:prstGeom prst="roundRect">
            <a:avLst>
              <a:gd name="adj" fmla="val 20454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35000" y="5661152"/>
            <a:ext cx="109220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820"/>
              </a:lnSpc>
            </a:pPr>
            <a:r>
              <a:rPr sz="1400" b="1" i="0" spc="80">
                <a:solidFill>
                  <a:srgbClr val="1AAB70"/>
                </a:solidFill>
                <a:latin typeface="Poppins"/>
              </a:rPr>
              <a:t>Visibilité  ›  Engagement  ›  Prospects  ›  Clients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M ·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Qu'est-ce que je veux dire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positionnement clair, une proposition de valeur unique, un ton reconnaissable.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08200"/>
            <a:ext cx="6934200" cy="1371600"/>
          </a:xfrm>
          <a:prstGeom prst="roundRect">
            <a:avLst>
              <a:gd name="adj" fmla="val 9259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9800" y="2294128"/>
            <a:ext cx="386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60">
                <a:solidFill>
                  <a:srgbClr val="1AAB70"/>
                </a:solidFill>
                <a:latin typeface="Poppins"/>
              </a:rPr>
              <a:t>PROPOSITION DE VALEUR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9800" y="2535936"/>
            <a:ext cx="6400800" cy="5598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14"/>
              </a:lnSpc>
            </a:pPr>
            <a:r>
              <a:rPr sz="1450" b="0" i="0">
                <a:solidFill>
                  <a:srgbClr val="FFFFFF"/>
                </a:solidFill>
                <a:latin typeface="Alfa Slab One"/>
              </a:rPr>
              <a:t>« Rendre les produits locaux sénégalais aussi visibles</a:t>
            </a:r>
          </a:p>
          <a:p>
            <a:pPr algn="l">
              <a:lnSpc>
                <a:spcPts val="1914"/>
              </a:lnSpc>
            </a:pPr>
            <a:r>
              <a:rPr sz="1450" b="0" i="0">
                <a:solidFill>
                  <a:srgbClr val="FFFFFF"/>
                </a:solidFill>
                <a:latin typeface="Alfa Slab One"/>
              </a:rPr>
              <a:t>en ligne qu'ils le sont dans les rayons. 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97800" y="2108200"/>
            <a:ext cx="3733800" cy="13716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797800" y="2108200"/>
            <a:ext cx="50800" cy="13716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51800" y="2294128"/>
            <a:ext cx="3225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60">
                <a:solidFill>
                  <a:srgbClr val="42612D"/>
                </a:solidFill>
                <a:latin typeface="Poppins"/>
              </a:rPr>
              <a:t>POSITIONNEMENT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51800" y="2546096"/>
            <a:ext cx="3251200" cy="422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72"/>
              </a:lnSpc>
            </a:pPr>
            <a:r>
              <a:rPr sz="950" b="0" i="0">
                <a:solidFill>
                  <a:srgbClr val="0A1A01"/>
                </a:solidFill>
                <a:latin typeface="Poppins"/>
              </a:rPr>
              <a:t>L'agence qui combine expertise agricole et maîtrise</a:t>
            </a:r>
          </a:p>
          <a:p>
            <a:pPr algn="l">
              <a:lnSpc>
                <a:spcPts val="1472"/>
              </a:lnSpc>
            </a:pPr>
            <a:r>
              <a:rPr sz="950" b="0" i="0">
                <a:solidFill>
                  <a:srgbClr val="0A1A01"/>
                </a:solidFill>
                <a:latin typeface="Poppins"/>
              </a:rPr>
              <a:t>digitale au service de l'agroalimentaire sénégalais.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" y="3740912"/>
            <a:ext cx="5130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60">
                <a:solidFill>
                  <a:srgbClr val="1AAB70"/>
                </a:solidFill>
                <a:latin typeface="Poppins"/>
              </a:rPr>
              <a:t>NOS MESSAGES CLÉS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0400" y="4038600"/>
            <a:ext cx="6934200" cy="482600"/>
          </a:xfrm>
          <a:prstGeom prst="roundRect">
            <a:avLst>
              <a:gd name="adj" fmla="val 23684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838200" y="4191000"/>
            <a:ext cx="177800" cy="177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2800" y="4212844"/>
            <a:ext cx="228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7600" y="4184193"/>
            <a:ext cx="6350000" cy="2072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8"/>
              </a:lnSpc>
            </a:pPr>
            <a:r>
              <a:rPr sz="960" b="0" i="0">
                <a:solidFill>
                  <a:srgbClr val="0A1A01"/>
                </a:solidFill>
                <a:latin typeface="Poppins"/>
              </a:rPr>
              <a:t>Sadiya Digital Agri comprend à la fois l'agriculture et le digital.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0400" y="4622800"/>
            <a:ext cx="6934200" cy="482600"/>
          </a:xfrm>
          <a:prstGeom prst="roundRect">
            <a:avLst>
              <a:gd name="adj" fmla="val 23684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838200" y="4775200"/>
            <a:ext cx="177800" cy="177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2800" y="4797044"/>
            <a:ext cx="228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7600" y="4768393"/>
            <a:ext cx="6350000" cy="2072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8"/>
              </a:lnSpc>
            </a:pPr>
            <a:r>
              <a:rPr sz="960" b="0" i="0">
                <a:solidFill>
                  <a:srgbClr val="0A1A01"/>
                </a:solidFill>
                <a:latin typeface="Poppins"/>
              </a:rPr>
              <a:t>Les produits cultivés et transformés au Sénégal méritent d'être visibles en ligne.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0400" y="5207000"/>
            <a:ext cx="6934200" cy="482600"/>
          </a:xfrm>
          <a:prstGeom prst="roundRect">
            <a:avLst>
              <a:gd name="adj" fmla="val 23684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838200" y="5359400"/>
            <a:ext cx="177800" cy="177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2800" y="5381244"/>
            <a:ext cx="228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7600" y="5352593"/>
            <a:ext cx="6350000" cy="2072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8"/>
              </a:lnSpc>
            </a:pPr>
            <a:r>
              <a:rPr sz="960" b="0" i="0">
                <a:solidFill>
                  <a:srgbClr val="0A1A01"/>
                </a:solidFill>
                <a:latin typeface="Poppins"/>
              </a:rPr>
              <a:t>Nous transformons votre présence sociale en visibilité, communauté et opportunités.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97800" y="3759200"/>
            <a:ext cx="3733800" cy="2311400"/>
          </a:xfrm>
          <a:prstGeom prst="roundRect">
            <a:avLst>
              <a:gd name="adj" fmla="val 494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051800" y="3945128"/>
            <a:ext cx="3225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60">
                <a:solidFill>
                  <a:srgbClr val="42612D"/>
                </a:solidFill>
                <a:latin typeface="Poppins"/>
              </a:rPr>
              <a:t>TON DE VOIX</a:t>
            </a:r>
          </a:p>
        </p:txBody>
      </p:sp>
      <p:sp>
        <p:nvSpPr>
          <p:cNvPr id="34" name="Oval 33"/>
          <p:cNvSpPr/>
          <p:nvPr/>
        </p:nvSpPr>
        <p:spPr>
          <a:xfrm>
            <a:off x="8077200" y="4254500"/>
            <a:ext cx="139700" cy="1397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8112901" y="4325902"/>
            <a:ext cx="23283" cy="24836"/>
          </a:xfrm>
          <a:prstGeom prst="line">
            <a:avLst/>
          </a:prstGeom>
          <a:ln w="13193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8136184" y="4299514"/>
            <a:ext cx="45015" cy="51224"/>
          </a:xfrm>
          <a:prstGeom prst="line">
            <a:avLst/>
          </a:prstGeom>
          <a:ln w="13193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255000" y="4223512"/>
            <a:ext cx="3098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Professionnel</a:t>
            </a:r>
          </a:p>
        </p:txBody>
      </p:sp>
      <p:sp>
        <p:nvSpPr>
          <p:cNvPr id="38" name="Oval 37"/>
          <p:cNvSpPr/>
          <p:nvPr/>
        </p:nvSpPr>
        <p:spPr>
          <a:xfrm>
            <a:off x="8077200" y="4508500"/>
            <a:ext cx="139700" cy="1397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8112901" y="4579902"/>
            <a:ext cx="23283" cy="24836"/>
          </a:xfrm>
          <a:prstGeom prst="line">
            <a:avLst/>
          </a:prstGeom>
          <a:ln w="13193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8136184" y="4553514"/>
            <a:ext cx="45015" cy="51224"/>
          </a:xfrm>
          <a:prstGeom prst="line">
            <a:avLst/>
          </a:prstGeom>
          <a:ln w="13193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255000" y="4477512"/>
            <a:ext cx="3098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Chaleureux</a:t>
            </a:r>
          </a:p>
        </p:txBody>
      </p:sp>
      <p:sp>
        <p:nvSpPr>
          <p:cNvPr id="42" name="Oval 41"/>
          <p:cNvSpPr/>
          <p:nvPr/>
        </p:nvSpPr>
        <p:spPr>
          <a:xfrm>
            <a:off x="8077200" y="4762500"/>
            <a:ext cx="139700" cy="1397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8112901" y="4833902"/>
            <a:ext cx="23283" cy="24836"/>
          </a:xfrm>
          <a:prstGeom prst="line">
            <a:avLst/>
          </a:prstGeom>
          <a:ln w="13193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8136184" y="4807514"/>
            <a:ext cx="45015" cy="51224"/>
          </a:xfrm>
          <a:prstGeom prst="line">
            <a:avLst/>
          </a:prstGeom>
          <a:ln w="13193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8255000" y="4731512"/>
            <a:ext cx="3098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Pédagogique</a:t>
            </a:r>
          </a:p>
        </p:txBody>
      </p:sp>
      <p:sp>
        <p:nvSpPr>
          <p:cNvPr id="46" name="Oval 45"/>
          <p:cNvSpPr/>
          <p:nvPr/>
        </p:nvSpPr>
        <p:spPr>
          <a:xfrm>
            <a:off x="8077200" y="5016500"/>
            <a:ext cx="139700" cy="1397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8112901" y="5087902"/>
            <a:ext cx="23283" cy="24836"/>
          </a:xfrm>
          <a:prstGeom prst="line">
            <a:avLst/>
          </a:prstGeom>
          <a:ln w="13193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8136184" y="5061514"/>
            <a:ext cx="45015" cy="51224"/>
          </a:xfrm>
          <a:prstGeom prst="line">
            <a:avLst/>
          </a:prstGeom>
          <a:ln w="13193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8255000" y="4985512"/>
            <a:ext cx="3098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Dynamique</a:t>
            </a:r>
          </a:p>
        </p:txBody>
      </p:sp>
      <p:sp>
        <p:nvSpPr>
          <p:cNvPr id="50" name="Oval 49"/>
          <p:cNvSpPr/>
          <p:nvPr/>
        </p:nvSpPr>
        <p:spPr>
          <a:xfrm>
            <a:off x="8077200" y="5270500"/>
            <a:ext cx="139700" cy="139700"/>
          </a:xfrm>
          <a:prstGeom prst="ellipse">
            <a:avLst/>
          </a:prstGeom>
          <a:solidFill>
            <a:srgbClr val="C44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8107680" y="5300980"/>
            <a:ext cx="78740" cy="78740"/>
          </a:xfrm>
          <a:prstGeom prst="line">
            <a:avLst/>
          </a:prstGeom>
          <a:ln w="177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8107680" y="5300980"/>
            <a:ext cx="78740" cy="78740"/>
          </a:xfrm>
          <a:prstGeom prst="line">
            <a:avLst/>
          </a:prstGeom>
          <a:ln w="177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8255000" y="5239512"/>
            <a:ext cx="3098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Jargon inutile</a:t>
            </a:r>
          </a:p>
        </p:txBody>
      </p:sp>
      <p:sp>
        <p:nvSpPr>
          <p:cNvPr id="54" name="Oval 53"/>
          <p:cNvSpPr/>
          <p:nvPr/>
        </p:nvSpPr>
        <p:spPr>
          <a:xfrm>
            <a:off x="8077200" y="5524500"/>
            <a:ext cx="139700" cy="139700"/>
          </a:xfrm>
          <a:prstGeom prst="ellipse">
            <a:avLst/>
          </a:prstGeom>
          <a:solidFill>
            <a:srgbClr val="C44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8107680" y="5554980"/>
            <a:ext cx="78740" cy="78740"/>
          </a:xfrm>
          <a:prstGeom prst="line">
            <a:avLst/>
          </a:prstGeom>
          <a:ln w="177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8107680" y="5554980"/>
            <a:ext cx="78740" cy="78740"/>
          </a:xfrm>
          <a:prstGeom prst="line">
            <a:avLst/>
          </a:prstGeom>
          <a:ln w="177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8255000" y="5493512"/>
            <a:ext cx="3098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Promesses irréalistes</a:t>
            </a:r>
          </a:p>
        </p:txBody>
      </p:sp>
      <p:sp>
        <p:nvSpPr>
          <p:cNvPr id="58" name="Oval 57"/>
          <p:cNvSpPr/>
          <p:nvPr/>
        </p:nvSpPr>
        <p:spPr>
          <a:xfrm>
            <a:off x="8077200" y="5778500"/>
            <a:ext cx="139700" cy="139700"/>
          </a:xfrm>
          <a:prstGeom prst="ellipse">
            <a:avLst/>
          </a:prstGeom>
          <a:solidFill>
            <a:srgbClr val="C44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8107680" y="5808980"/>
            <a:ext cx="78740" cy="78740"/>
          </a:xfrm>
          <a:prstGeom prst="line">
            <a:avLst/>
          </a:prstGeom>
          <a:ln w="177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H="1">
            <a:off x="8107680" y="5808980"/>
            <a:ext cx="78740" cy="78740"/>
          </a:xfrm>
          <a:prstGeom prst="line">
            <a:avLst/>
          </a:prstGeom>
          <a:ln w="177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8255000" y="5747512"/>
            <a:ext cx="3098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Ton agressif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S ·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Quelle approche globale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Trois réseaux, trois rôles complémentaires dans un parcours unique.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59000"/>
            <a:ext cx="3403600" cy="2235200"/>
          </a:xfrm>
          <a:prstGeom prst="roundRect">
            <a:avLst>
              <a:gd name="adj" fmla="val 511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590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399792"/>
            <a:ext cx="2844800" cy="4102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 i="0">
                <a:solidFill>
                  <a:srgbClr val="1F5E3A"/>
                </a:solidFill>
                <a:latin typeface="Alfa Slab One"/>
              </a:rPr>
              <a:t>TikTok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801112"/>
            <a:ext cx="2844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10">
                <a:solidFill>
                  <a:srgbClr val="1AAB70"/>
                </a:solidFill>
                <a:latin typeface="Poppins"/>
              </a:rPr>
              <a:t>Réseau de visibilité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39800" y="30988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14400" y="3232506"/>
            <a:ext cx="2895600" cy="3972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80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Vidéo courte et dynamique pour élargir la</a:t>
            </a:r>
          </a:p>
          <a:p>
            <a:pPr algn="l">
              <a:lnSpc>
                <a:spcPts val="1380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portée et rendre l'agri-digital accessible.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9800" y="3911600"/>
            <a:ext cx="965200" cy="279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14400" y="3969918"/>
            <a:ext cx="1016000" cy="1899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44"/>
              </a:lnSpc>
            </a:pPr>
            <a:r>
              <a:rPr sz="880" b="1" i="0">
                <a:solidFill>
                  <a:srgbClr val="FFFFFF"/>
                </a:solidFill>
                <a:latin typeface="Poppins"/>
              </a:rPr>
              <a:t>Attirer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9400" y="3007360"/>
            <a:ext cx="254000" cy="431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600"/>
              </a:lnSpc>
            </a:pPr>
            <a:r>
              <a:rPr sz="2000" b="1" i="0">
                <a:solidFill>
                  <a:srgbClr val="9FB8A2"/>
                </a:solidFill>
                <a:latin typeface="Poppins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8000" y="2159000"/>
            <a:ext cx="3403600" cy="2235200"/>
          </a:xfrm>
          <a:prstGeom prst="roundRect">
            <a:avLst>
              <a:gd name="adj" fmla="val 511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4318000" y="21590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572000" y="2399792"/>
            <a:ext cx="2844800" cy="4102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 i="0">
                <a:solidFill>
                  <a:srgbClr val="1F5E3A"/>
                </a:solidFill>
                <a:latin typeface="Alfa Slab One"/>
              </a:rPr>
              <a:t>Facebook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2801112"/>
            <a:ext cx="2844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10">
                <a:solidFill>
                  <a:srgbClr val="1F5E3A"/>
                </a:solidFill>
                <a:latin typeface="Poppins"/>
              </a:rPr>
              <a:t>Réseau principal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597400" y="30988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572000" y="3232506"/>
            <a:ext cx="2895600" cy="3972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80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Informer, éduquer, présenter l'offre et fédérer</a:t>
            </a:r>
          </a:p>
          <a:p>
            <a:pPr algn="l">
              <a:lnSpc>
                <a:spcPts val="1380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une communauté d'acteurs locaux.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97400" y="3911600"/>
            <a:ext cx="965200" cy="2794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4572000" y="3969918"/>
            <a:ext cx="1016000" cy="1899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44"/>
              </a:lnSpc>
            </a:pPr>
            <a:r>
              <a:rPr sz="880" b="1" i="0">
                <a:solidFill>
                  <a:srgbClr val="FFFFFF"/>
                </a:solidFill>
                <a:latin typeface="Poppins"/>
              </a:rPr>
              <a:t>Engager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47000" y="3007360"/>
            <a:ext cx="254000" cy="431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600"/>
              </a:lnSpc>
            </a:pPr>
            <a:r>
              <a:rPr sz="2000" b="1" i="0">
                <a:solidFill>
                  <a:srgbClr val="9FB8A2"/>
                </a:solidFill>
                <a:latin typeface="Poppins"/>
              </a:rP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75600" y="2159000"/>
            <a:ext cx="3403600" cy="2235200"/>
          </a:xfrm>
          <a:prstGeom prst="roundRect">
            <a:avLst>
              <a:gd name="adj" fmla="val 511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7975600" y="21590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229600" y="2399792"/>
            <a:ext cx="2844800" cy="4102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 i="0">
                <a:solidFill>
                  <a:srgbClr val="1F5E3A"/>
                </a:solidFill>
                <a:latin typeface="Alfa Slab One"/>
              </a:rPr>
              <a:t>LinkedIn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2801112"/>
            <a:ext cx="2844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10">
                <a:solidFill>
                  <a:srgbClr val="42612D"/>
                </a:solidFill>
                <a:latin typeface="Poppins"/>
              </a:rPr>
              <a:t>Réseau B2B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255000" y="30988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229600" y="3232506"/>
            <a:ext cx="2895600" cy="5725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80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Crédibilité, expertise et prospection directe</a:t>
            </a:r>
          </a:p>
          <a:p>
            <a:pPr algn="l">
              <a:lnSpc>
                <a:spcPts val="1380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auprès des dirigeants et responsables</a:t>
            </a:r>
          </a:p>
          <a:p>
            <a:pPr algn="l">
              <a:lnSpc>
                <a:spcPts val="1380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marketing.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55000" y="3911600"/>
            <a:ext cx="965200" cy="2794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229600" y="3969918"/>
            <a:ext cx="1016000" cy="1899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44"/>
              </a:lnSpc>
            </a:pPr>
            <a:r>
              <a:rPr sz="880" b="1" i="0">
                <a:solidFill>
                  <a:srgbClr val="FFFFFF"/>
                </a:solidFill>
                <a:latin typeface="Poppins"/>
              </a:rPr>
              <a:t>Convertir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60400" y="4673600"/>
            <a:ext cx="10871200" cy="635000"/>
          </a:xfrm>
          <a:prstGeom prst="roundRect">
            <a:avLst>
              <a:gd name="adj" fmla="val 18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939800" y="4860544"/>
            <a:ext cx="1193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40">
                <a:solidFill>
                  <a:srgbClr val="1AAB70"/>
                </a:solidFill>
                <a:latin typeface="Poppins"/>
              </a:rPr>
              <a:t>PARCOURS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06600" y="4840732"/>
            <a:ext cx="9321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FFFFFF"/>
                </a:solidFill>
                <a:latin typeface="Poppins"/>
              </a:rPr>
              <a:t>TikTok attire  ›  Facebook fédère  ›  LinkedIn crédibilise  ›  message privé pour convertir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" y="5494528"/>
            <a:ext cx="386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50">
                <a:solidFill>
                  <a:srgbClr val="42612D"/>
                </a:solidFill>
                <a:latin typeface="Poppins"/>
              </a:rPr>
              <a:t>5 PILIERS ÉDITORIAUX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60400" y="5740400"/>
            <a:ext cx="20320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35000" y="5811012"/>
            <a:ext cx="2082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Éducation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844800" y="5740400"/>
            <a:ext cx="20320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2819400" y="5811012"/>
            <a:ext cx="2082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Valorisation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029200" y="5740400"/>
            <a:ext cx="20320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5003800" y="5811012"/>
            <a:ext cx="2082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Expertise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213600" y="5740400"/>
            <a:ext cx="20320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7188200" y="5811012"/>
            <a:ext cx="2082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Offres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398000" y="5740400"/>
            <a:ext cx="20320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9372600" y="5811012"/>
            <a:ext cx="2082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Communauté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T · TACTICS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Quelles actions concrètes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calendrier éditorial réaliste : 3 jours de publication par semaine.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33600"/>
            <a:ext cx="6934200" cy="330200"/>
          </a:xfrm>
          <a:prstGeom prst="roundRect">
            <a:avLst>
              <a:gd name="adj" fmla="val 1923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38200" y="2206650"/>
            <a:ext cx="1193800" cy="1684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14"/>
              </a:lnSpc>
            </a:pPr>
            <a:r>
              <a:rPr sz="780" b="1" i="0" spc="120">
                <a:solidFill>
                  <a:srgbClr val="1AAB70"/>
                </a:solidFill>
                <a:latin typeface="Poppins"/>
              </a:rPr>
              <a:t>JOUR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81200" y="2206650"/>
            <a:ext cx="1955800" cy="1684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14"/>
              </a:lnSpc>
            </a:pPr>
            <a:r>
              <a:rPr sz="780" b="1" i="0" spc="120">
                <a:solidFill>
                  <a:srgbClr val="1AAB70"/>
                </a:solidFill>
                <a:latin typeface="Poppins"/>
              </a:rPr>
              <a:t>RÉSEAUX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6200" y="2206650"/>
            <a:ext cx="2336800" cy="1684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14"/>
              </a:lnSpc>
            </a:pPr>
            <a:r>
              <a:rPr sz="780" b="1" i="0" spc="120">
                <a:solidFill>
                  <a:srgbClr val="1AAB70"/>
                </a:solidFill>
                <a:latin typeface="Poppins"/>
              </a:rPr>
              <a:t>CONTENU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2206650"/>
            <a:ext cx="1320800" cy="1684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14"/>
              </a:lnSpc>
            </a:pPr>
            <a:r>
              <a:rPr sz="780" b="1" i="0" spc="120">
                <a:solidFill>
                  <a:srgbClr val="1AAB70"/>
                </a:solidFill>
                <a:latin typeface="Poppins"/>
              </a:rPr>
              <a:t>OBJECTIF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0400" y="2540000"/>
            <a:ext cx="6934200" cy="5080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660400" y="2540000"/>
            <a:ext cx="50800" cy="5080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38200" y="2697480"/>
            <a:ext cx="1193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1F5E3A"/>
                </a:solidFill>
                <a:latin typeface="Poppins"/>
              </a:rPr>
              <a:t>MARDI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81200" y="2699106"/>
            <a:ext cx="1955800" cy="1986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96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LinkedIn + Facebook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2699106"/>
            <a:ext cx="2336800" cy="1986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96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Post + visuel expert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7600" y="2667000"/>
            <a:ext cx="1066800" cy="2540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172200" y="2714244"/>
            <a:ext cx="1117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FFFFFF"/>
                </a:solidFill>
                <a:latin typeface="Poppins"/>
              </a:rPr>
              <a:t>Crédibilité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0400" y="3124200"/>
            <a:ext cx="6934200" cy="508000"/>
          </a:xfrm>
          <a:prstGeom prst="roundRect">
            <a:avLst>
              <a:gd name="adj" fmla="val 12500"/>
            </a:avLst>
          </a:prstGeom>
          <a:solidFill>
            <a:srgbClr val="F4F7F5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660400" y="3124200"/>
            <a:ext cx="50800" cy="5080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38200" y="3281680"/>
            <a:ext cx="1193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1F5E3A"/>
                </a:solidFill>
                <a:latin typeface="Poppins"/>
              </a:rPr>
              <a:t>VENDREDI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81200" y="3283306"/>
            <a:ext cx="1955800" cy="1986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96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Facebook + TikTok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86200" y="3283306"/>
            <a:ext cx="2336800" cy="1986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96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Carrousel + vidéo courte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97600" y="3251200"/>
            <a:ext cx="1066800" cy="2540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172200" y="3298444"/>
            <a:ext cx="1117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FFFFFF"/>
                </a:solidFill>
                <a:latin typeface="Poppins"/>
              </a:rPr>
              <a:t>Engagement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0400" y="3708400"/>
            <a:ext cx="6934200" cy="5080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660400" y="3708400"/>
            <a:ext cx="50800" cy="5080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38200" y="3865880"/>
            <a:ext cx="1193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1F5E3A"/>
                </a:solidFill>
                <a:latin typeface="Poppins"/>
              </a:rPr>
              <a:t>DIMANCHE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981200" y="3867506"/>
            <a:ext cx="1955800" cy="1986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96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LinkedIn + TikTok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86200" y="3867506"/>
            <a:ext cx="2336800" cy="1986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96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Storytelling / étude de cas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97600" y="3835400"/>
            <a:ext cx="1066800" cy="2540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172200" y="3882644"/>
            <a:ext cx="1117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FFFFFF"/>
                </a:solidFill>
                <a:latin typeface="Poppins"/>
              </a:rPr>
              <a:t>Prospection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000" y="4529328"/>
            <a:ext cx="513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50">
                <a:solidFill>
                  <a:srgbClr val="42612D"/>
                </a:solidFill>
                <a:latin typeface="Poppins"/>
              </a:rPr>
              <a:t>ANIMATION DE LA COMMUNAUTÉ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04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35000" y="4867656"/>
            <a:ext cx="1320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1AAB70"/>
                </a:solidFill>
                <a:latin typeface="Alfa Slab One"/>
              </a:rPr>
              <a:t>2-3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1200" y="5216957"/>
            <a:ext cx="11684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stories / sem.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0701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044700" y="4867656"/>
            <a:ext cx="1320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1AAB70"/>
                </a:solidFill>
                <a:latin typeface="Alfa Slab One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20900" y="5216957"/>
            <a:ext cx="11684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sondage / sem.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4798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3454400" y="4867656"/>
            <a:ext cx="1320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1AAB70"/>
                </a:solidFill>
                <a:latin typeface="Alfa Slab One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30600" y="5216957"/>
            <a:ext cx="11684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Q&amp;R / mois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8895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4864100" y="4867656"/>
            <a:ext cx="1320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1AAB70"/>
                </a:solidFill>
                <a:latin typeface="Alfa Slab One"/>
              </a:rP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40300" y="5216957"/>
            <a:ext cx="11684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live / mois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2992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273800" y="4867656"/>
            <a:ext cx="1320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1AAB70"/>
                </a:solidFill>
                <a:latin typeface="Alfa Slab One"/>
              </a:rPr>
              <a:t>1-2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50000" y="5216957"/>
            <a:ext cx="11684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défis TikTok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797800" y="2133600"/>
            <a:ext cx="3733800" cy="3327400"/>
          </a:xfrm>
          <a:prstGeom prst="roundRect">
            <a:avLst>
              <a:gd name="adj" fmla="val 343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ounded Rectangle 54"/>
          <p:cNvSpPr/>
          <p:nvPr/>
        </p:nvSpPr>
        <p:spPr>
          <a:xfrm>
            <a:off x="7797800" y="2133600"/>
            <a:ext cx="37338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8051800" y="2344928"/>
            <a:ext cx="3225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50">
                <a:solidFill>
                  <a:srgbClr val="1F5E3A"/>
                </a:solidFill>
                <a:latin typeface="Poppins"/>
              </a:rPr>
              <a:t>MOYENS MOBILISÉS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077200" y="2692400"/>
            <a:ext cx="63500" cy="63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8229600" y="2622499"/>
            <a:ext cx="3098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1" i="0">
                <a:solidFill>
                  <a:srgbClr val="0A1A01"/>
                </a:solidFill>
                <a:latin typeface="Poppins"/>
              </a:rPr>
              <a:t>Canva Free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29600" y="2778150"/>
            <a:ext cx="3098800" cy="1684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14"/>
              </a:lnSpc>
            </a:pPr>
            <a:r>
              <a:rPr sz="780" b="0" i="0">
                <a:solidFill>
                  <a:srgbClr val="42612D"/>
                </a:solidFill>
                <a:latin typeface="Poppins"/>
              </a:rPr>
              <a:t>visuels &amp; carrousels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077200" y="3073400"/>
            <a:ext cx="63500" cy="63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8229600" y="3003499"/>
            <a:ext cx="3098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1" i="0">
                <a:solidFill>
                  <a:srgbClr val="0A1A01"/>
                </a:solidFill>
                <a:latin typeface="Poppins"/>
              </a:rPr>
              <a:t>CapCut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600" y="3159150"/>
            <a:ext cx="3098800" cy="1684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14"/>
              </a:lnSpc>
            </a:pPr>
            <a:r>
              <a:rPr sz="780" b="0" i="0">
                <a:solidFill>
                  <a:srgbClr val="42612D"/>
                </a:solidFill>
                <a:latin typeface="Poppins"/>
              </a:rPr>
              <a:t>montage vidéo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077200" y="3454400"/>
            <a:ext cx="63500" cy="63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8229600" y="3384499"/>
            <a:ext cx="3098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1" i="0">
                <a:solidFill>
                  <a:srgbClr val="0A1A01"/>
                </a:solidFill>
                <a:latin typeface="Poppins"/>
              </a:rPr>
              <a:t>Meta Business Suite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29600" y="3540150"/>
            <a:ext cx="3098800" cy="1684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14"/>
              </a:lnSpc>
            </a:pPr>
            <a:r>
              <a:rPr sz="780" b="0" i="0">
                <a:solidFill>
                  <a:srgbClr val="42612D"/>
                </a:solidFill>
                <a:latin typeface="Poppins"/>
              </a:rPr>
              <a:t>programmation FB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077200" y="3835400"/>
            <a:ext cx="63500" cy="63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8229600" y="3765499"/>
            <a:ext cx="3098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1" i="0">
                <a:solidFill>
                  <a:srgbClr val="0A1A01"/>
                </a:solidFill>
                <a:latin typeface="Poppins"/>
              </a:rPr>
              <a:t>TikTok Studio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29600" y="3921150"/>
            <a:ext cx="3098800" cy="1684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14"/>
              </a:lnSpc>
            </a:pPr>
            <a:r>
              <a:rPr sz="780" b="0" i="0">
                <a:solidFill>
                  <a:srgbClr val="42612D"/>
                </a:solidFill>
                <a:latin typeface="Poppins"/>
              </a:rPr>
              <a:t>gestion TikTok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077200" y="4216400"/>
            <a:ext cx="63500" cy="63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8229600" y="4146499"/>
            <a:ext cx="3098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1" i="0">
                <a:solidFill>
                  <a:srgbClr val="0A1A01"/>
                </a:solidFill>
                <a:latin typeface="Poppins"/>
              </a:rPr>
              <a:t>LinkedIn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29600" y="4302150"/>
            <a:ext cx="3098800" cy="1684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14"/>
              </a:lnSpc>
            </a:pPr>
            <a:r>
              <a:rPr sz="780" b="0" i="0">
                <a:solidFill>
                  <a:srgbClr val="42612D"/>
                </a:solidFill>
                <a:latin typeface="Poppins"/>
              </a:rPr>
              <a:t>publication &amp; stats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077200" y="4597400"/>
            <a:ext cx="63500" cy="63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8229600" y="4527499"/>
            <a:ext cx="3098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1" i="0">
                <a:solidFill>
                  <a:srgbClr val="0A1A01"/>
                </a:solidFill>
                <a:latin typeface="Poppins"/>
              </a:rPr>
              <a:t>Google Drive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29600" y="4683150"/>
            <a:ext cx="3098800" cy="1684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14"/>
              </a:lnSpc>
            </a:pPr>
            <a:r>
              <a:rPr sz="780" b="0" i="0">
                <a:solidFill>
                  <a:srgbClr val="42612D"/>
                </a:solidFill>
                <a:latin typeface="Poppins"/>
              </a:rPr>
              <a:t>stockage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077200" y="4978400"/>
            <a:ext cx="63500" cy="63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8229600" y="4908499"/>
            <a:ext cx="3098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1" i="0">
                <a:solidFill>
                  <a:srgbClr val="0A1A01"/>
                </a:solidFill>
                <a:latin typeface="Poppins"/>
              </a:rPr>
              <a:t>Google Sheets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9600" y="5064150"/>
            <a:ext cx="3098800" cy="1684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14"/>
              </a:lnSpc>
            </a:pPr>
            <a:r>
              <a:rPr sz="780" b="0" i="0">
                <a:solidFill>
                  <a:srgbClr val="42612D"/>
                </a:solidFill>
                <a:latin typeface="Poppins"/>
              </a:rPr>
              <a:t>calendrier &amp; suivi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E · EXECUTION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Comment je produis et j'anime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Une production organisée, une modération cadrée, une relation client rapide.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08200"/>
            <a:ext cx="3403600" cy="241300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08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939800" y="2362200"/>
            <a:ext cx="254000" cy="2540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4049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70000" y="2389632"/>
            <a:ext cx="2717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Production &amp; publication</a:t>
            </a:r>
          </a:p>
        </p:txBody>
      </p:sp>
      <p:sp>
        <p:nvSpPr>
          <p:cNvPr id="17" name="Oval 16"/>
          <p:cNvSpPr/>
          <p:nvPr/>
        </p:nvSpPr>
        <p:spPr>
          <a:xfrm>
            <a:off x="944880" y="2855849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9500" y="2827325"/>
            <a:ext cx="2781300" cy="198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Début du mois : thèmes et objectifs définis.</a:t>
            </a:r>
          </a:p>
        </p:txBody>
      </p:sp>
      <p:sp>
        <p:nvSpPr>
          <p:cNvPr id="19" name="Oval 18"/>
          <p:cNvSpPr/>
          <p:nvPr/>
        </p:nvSpPr>
        <p:spPr>
          <a:xfrm>
            <a:off x="944880" y="3099841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9500" y="3071317"/>
            <a:ext cx="2781300" cy="3538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Chaque semaine : création, validation,</a:t>
            </a:r>
          </a:p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préparation.</a:t>
            </a:r>
          </a:p>
        </p:txBody>
      </p:sp>
      <p:sp>
        <p:nvSpPr>
          <p:cNvPr id="21" name="Oval 20"/>
          <p:cNvSpPr/>
          <p:nvPr/>
        </p:nvSpPr>
        <p:spPr>
          <a:xfrm>
            <a:off x="944880" y="3498926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79500" y="3470402"/>
            <a:ext cx="2781300" cy="198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Contenus créés en avance, jamais improvisés.</a:t>
            </a:r>
          </a:p>
        </p:txBody>
      </p:sp>
      <p:sp>
        <p:nvSpPr>
          <p:cNvPr id="23" name="Oval 22"/>
          <p:cNvSpPr/>
          <p:nvPr/>
        </p:nvSpPr>
        <p:spPr>
          <a:xfrm>
            <a:off x="944880" y="3742919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9500" y="3714394"/>
            <a:ext cx="2781300" cy="198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Programmation via Meta Suite et TikTok Studio.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18000" y="2108200"/>
            <a:ext cx="3403600" cy="241300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4318000" y="2108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4597400" y="23622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24049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27600" y="2389632"/>
            <a:ext cx="2717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Modération</a:t>
            </a:r>
          </a:p>
        </p:txBody>
      </p:sp>
      <p:sp>
        <p:nvSpPr>
          <p:cNvPr id="30" name="Oval 29"/>
          <p:cNvSpPr/>
          <p:nvPr/>
        </p:nvSpPr>
        <p:spPr>
          <a:xfrm>
            <a:off x="4602480" y="2855849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37100" y="2827325"/>
            <a:ext cx="2781300" cy="198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Ton professionnel, chaleureux et respectueux.</a:t>
            </a:r>
          </a:p>
        </p:txBody>
      </p:sp>
      <p:sp>
        <p:nvSpPr>
          <p:cNvPr id="32" name="Oval 31"/>
          <p:cNvSpPr/>
          <p:nvPr/>
        </p:nvSpPr>
        <p:spPr>
          <a:xfrm>
            <a:off x="4602480" y="3099841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37100" y="3071317"/>
            <a:ext cx="2781300" cy="198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Répondre avec courtoisie, jamais de conflit.</a:t>
            </a:r>
          </a:p>
        </p:txBody>
      </p:sp>
      <p:sp>
        <p:nvSpPr>
          <p:cNvPr id="34" name="Oval 33"/>
          <p:cNvSpPr/>
          <p:nvPr/>
        </p:nvSpPr>
        <p:spPr>
          <a:xfrm>
            <a:off x="4602480" y="3343834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37100" y="3315310"/>
            <a:ext cx="2781300" cy="198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Critiques constructives conservées.</a:t>
            </a:r>
          </a:p>
        </p:txBody>
      </p:sp>
      <p:sp>
        <p:nvSpPr>
          <p:cNvPr id="36" name="Oval 35"/>
          <p:cNvSpPr/>
          <p:nvPr/>
        </p:nvSpPr>
        <p:spPr>
          <a:xfrm>
            <a:off x="4602480" y="3587826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37100" y="3559302"/>
            <a:ext cx="2781300" cy="198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Réclamations déplacées en message privé.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75600" y="2108200"/>
            <a:ext cx="3403600" cy="241300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ounded Rectangle 38"/>
          <p:cNvSpPr/>
          <p:nvPr/>
        </p:nvSpPr>
        <p:spPr>
          <a:xfrm>
            <a:off x="7975600" y="2108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8255000" y="2362200"/>
            <a:ext cx="254000" cy="2540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0" y="24049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85200" y="2389632"/>
            <a:ext cx="2717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Relation client</a:t>
            </a:r>
          </a:p>
        </p:txBody>
      </p:sp>
      <p:sp>
        <p:nvSpPr>
          <p:cNvPr id="43" name="Oval 42"/>
          <p:cNvSpPr/>
          <p:nvPr/>
        </p:nvSpPr>
        <p:spPr>
          <a:xfrm>
            <a:off x="8260080" y="2855849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94700" y="2827325"/>
            <a:ext cx="2781300" cy="198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Surveillance quotidienne des messages.</a:t>
            </a:r>
          </a:p>
        </p:txBody>
      </p:sp>
      <p:sp>
        <p:nvSpPr>
          <p:cNvPr id="45" name="Oval 44"/>
          <p:cNvSpPr/>
          <p:nvPr/>
        </p:nvSpPr>
        <p:spPr>
          <a:xfrm>
            <a:off x="8260080" y="3099841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94700" y="3071317"/>
            <a:ext cx="2781300" cy="198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Délai cible : moins de 24 h ouvrées.</a:t>
            </a:r>
          </a:p>
        </p:txBody>
      </p:sp>
      <p:sp>
        <p:nvSpPr>
          <p:cNvPr id="47" name="Oval 46"/>
          <p:cNvSpPr/>
          <p:nvPr/>
        </p:nvSpPr>
        <p:spPr>
          <a:xfrm>
            <a:off x="8260080" y="3343834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94700" y="3315310"/>
            <a:ext cx="2781300" cy="198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Demande commerciale : orientée en privé.</a:t>
            </a:r>
          </a:p>
        </p:txBody>
      </p:sp>
      <p:sp>
        <p:nvSpPr>
          <p:cNvPr id="49" name="Oval 48"/>
          <p:cNvSpPr/>
          <p:nvPr/>
        </p:nvSpPr>
        <p:spPr>
          <a:xfrm>
            <a:off x="8260080" y="3587826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94700" y="3559302"/>
            <a:ext cx="2781300" cy="198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Sujets sensibles transmis au client.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60400" y="4749800"/>
            <a:ext cx="10871200" cy="1320800"/>
          </a:xfrm>
          <a:prstGeom prst="roundRect">
            <a:avLst>
              <a:gd name="adj" fmla="val 9615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939800" y="4961128"/>
            <a:ext cx="259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60">
                <a:solidFill>
                  <a:srgbClr val="1AAB70"/>
                </a:solidFill>
                <a:latin typeface="Poppins"/>
              </a:rPr>
              <a:t>PLAN BAD BUZZ</a:t>
            </a:r>
          </a:p>
        </p:txBody>
      </p:sp>
      <p:sp>
        <p:nvSpPr>
          <p:cNvPr id="53" name="Oval 52"/>
          <p:cNvSpPr/>
          <p:nvPr/>
        </p:nvSpPr>
        <p:spPr>
          <a:xfrm>
            <a:off x="9652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398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95400" y="5290312"/>
            <a:ext cx="1371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Identifier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23368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26924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6670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022600" y="5290312"/>
            <a:ext cx="1371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Vérifier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40640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44196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3942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749800" y="5290312"/>
            <a:ext cx="1371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Répondre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57912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61468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1214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77000" y="5290312"/>
            <a:ext cx="1371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Traiter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5184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>
            <a:off x="78740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486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04200" y="5290312"/>
            <a:ext cx="1371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Suivre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92456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96012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5758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931400" y="5290312"/>
            <a:ext cx="1371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Tirer les leçons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39800" y="5695696"/>
            <a:ext cx="894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0" i="1">
                <a:solidFill>
                  <a:srgbClr val="9FB8A2"/>
                </a:solidFill>
                <a:latin typeface="Poppins"/>
              </a:rPr>
              <a:t>Règle d'or : ne jamais répondre sous le coup de l'émotion.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R ·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Est-ce que ça marche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Des KPI clairs par objectif, un bilan hebdomadaire et mensuel.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33600"/>
            <a:ext cx="69342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33600"/>
            <a:ext cx="63500" cy="838200"/>
          </a:xfrm>
          <a:prstGeom prst="roundRect">
            <a:avLst>
              <a:gd name="adj" fmla="val 4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9800" y="2259584"/>
            <a:ext cx="1955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1" i="0">
                <a:solidFill>
                  <a:srgbClr val="1F5E3A"/>
                </a:solidFill>
                <a:latin typeface="Poppins"/>
              </a:rPr>
              <a:t>Notoriété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800" y="2547518"/>
            <a:ext cx="3860800" cy="1899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4"/>
              </a:lnSpc>
            </a:pPr>
            <a:r>
              <a:rPr sz="880" b="0" i="0">
                <a:solidFill>
                  <a:srgbClr val="0A1A01"/>
                </a:solidFill>
                <a:latin typeface="Poppins"/>
              </a:rPr>
              <a:t>Abonnés · portée · impressions · vues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53000" y="2294331"/>
            <a:ext cx="25908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42612D"/>
                </a:solidFill>
                <a:latin typeface="Poppins"/>
              </a:rPr>
              <a:t>Statistiques Facebook, LinkedIn, TikTok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8400" y="2616200"/>
            <a:ext cx="1219200" cy="228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953000" y="2651963"/>
            <a:ext cx="1270000" cy="159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62"/>
              </a:lnSpc>
            </a:pPr>
            <a:r>
              <a:rPr sz="740" b="1" i="0">
                <a:solidFill>
                  <a:srgbClr val="FFFFFF"/>
                </a:solidFill>
                <a:latin typeface="Poppins"/>
              </a:rPr>
              <a:t>Mensuel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0400" y="3124200"/>
            <a:ext cx="69342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660400" y="3124200"/>
            <a:ext cx="63500" cy="838200"/>
          </a:xfrm>
          <a:prstGeom prst="roundRect">
            <a:avLst>
              <a:gd name="adj" fmla="val 4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9800" y="3250184"/>
            <a:ext cx="1955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1" i="0">
                <a:solidFill>
                  <a:srgbClr val="1F5E3A"/>
                </a:solidFill>
                <a:latin typeface="Poppins"/>
              </a:rPr>
              <a:t>Prospects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9800" y="3538118"/>
            <a:ext cx="3860800" cy="1899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4"/>
              </a:lnSpc>
            </a:pPr>
            <a:r>
              <a:rPr sz="880" b="0" i="0">
                <a:solidFill>
                  <a:srgbClr val="0A1A01"/>
                </a:solidFill>
                <a:latin typeface="Poppins"/>
              </a:rPr>
              <a:t>Messages · demandes · clics · leads qualifiés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53000" y="3284931"/>
            <a:ext cx="25908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42612D"/>
                </a:solidFill>
                <a:latin typeface="Poppins"/>
              </a:rPr>
              <a:t>Statistiques + tableau de suivi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78400" y="3606800"/>
            <a:ext cx="1219200" cy="2286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953000" y="3642563"/>
            <a:ext cx="1270000" cy="159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62"/>
              </a:lnSpc>
            </a:pPr>
            <a:r>
              <a:rPr sz="740" b="1" i="0">
                <a:solidFill>
                  <a:srgbClr val="FFFFFF"/>
                </a:solidFill>
                <a:latin typeface="Poppins"/>
              </a:rPr>
              <a:t>Hebdo + mensuel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0400" y="4114800"/>
            <a:ext cx="69342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660400" y="4114800"/>
            <a:ext cx="63500" cy="838200"/>
          </a:xfrm>
          <a:prstGeom prst="roundRect">
            <a:avLst>
              <a:gd name="adj" fmla="val 4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39800" y="4240784"/>
            <a:ext cx="1955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1" i="0">
                <a:solidFill>
                  <a:srgbClr val="1F5E3A"/>
                </a:solidFill>
                <a:latin typeface="Poppins"/>
              </a:rPr>
              <a:t>Conversion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9800" y="4528718"/>
            <a:ext cx="3860800" cy="1899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4"/>
              </a:lnSpc>
            </a:pPr>
            <a:r>
              <a:rPr sz="880" b="0" i="0">
                <a:solidFill>
                  <a:srgbClr val="0A1A01"/>
                </a:solidFill>
                <a:latin typeface="Poppins"/>
              </a:rPr>
              <a:t>Prospects convertis · contrats · taux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53000" y="4275531"/>
            <a:ext cx="25908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42612D"/>
                </a:solidFill>
                <a:latin typeface="Poppins"/>
              </a:rPr>
              <a:t>Tableau de suivi commercial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978400" y="4597400"/>
            <a:ext cx="1219200" cy="2286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953000" y="4633163"/>
            <a:ext cx="1270000" cy="159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62"/>
              </a:lnSpc>
            </a:pPr>
            <a:r>
              <a:rPr sz="740" b="1" i="0">
                <a:solidFill>
                  <a:srgbClr val="FFFFFF"/>
                </a:solidFill>
                <a:latin typeface="Poppins"/>
              </a:rPr>
              <a:t>Mensuel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97800" y="2133600"/>
            <a:ext cx="3733800" cy="29718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7797800" y="2133600"/>
            <a:ext cx="3733800" cy="508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051800" y="2344928"/>
            <a:ext cx="3225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40">
                <a:solidFill>
                  <a:srgbClr val="1F5E3A"/>
                </a:solidFill>
                <a:latin typeface="Poppins"/>
              </a:rPr>
              <a:t>BOUCLE D'AMÉLIORATION</a:t>
            </a:r>
          </a:p>
        </p:txBody>
      </p:sp>
      <p:sp>
        <p:nvSpPr>
          <p:cNvPr id="36" name="Oval 35"/>
          <p:cNvSpPr/>
          <p:nvPr/>
        </p:nvSpPr>
        <p:spPr>
          <a:xfrm>
            <a:off x="8077200" y="2717800"/>
            <a:ext cx="304800" cy="304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51800" y="27884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83600" y="2771648"/>
            <a:ext cx="2590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0A1A01"/>
                </a:solidFill>
                <a:latin typeface="Poppins"/>
              </a:rPr>
              <a:t>Publier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229600" y="3048000"/>
            <a:ext cx="0" cy="101600"/>
          </a:xfrm>
          <a:prstGeom prst="line">
            <a:avLst/>
          </a:prstGeom>
          <a:ln w="1524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8077200" y="3175000"/>
            <a:ext cx="304800" cy="304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51800" y="32456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83600" y="3228848"/>
            <a:ext cx="2590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0A1A01"/>
                </a:solidFill>
                <a:latin typeface="Poppins"/>
              </a:rPr>
              <a:t>Mesurer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229600" y="3505200"/>
            <a:ext cx="0" cy="101600"/>
          </a:xfrm>
          <a:prstGeom prst="line">
            <a:avLst/>
          </a:prstGeom>
          <a:ln w="1524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8077200" y="3632200"/>
            <a:ext cx="304800" cy="304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51800" y="37028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83600" y="3686048"/>
            <a:ext cx="2590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0A1A01"/>
                </a:solidFill>
                <a:latin typeface="Poppins"/>
              </a:rPr>
              <a:t>Analyser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8229600" y="3962400"/>
            <a:ext cx="0" cy="101600"/>
          </a:xfrm>
          <a:prstGeom prst="line">
            <a:avLst/>
          </a:prstGeom>
          <a:ln w="1524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8077200" y="4089400"/>
            <a:ext cx="304800" cy="304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51800" y="41600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83600" y="4143248"/>
            <a:ext cx="2590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0A1A01"/>
                </a:solidFill>
                <a:latin typeface="Poppins"/>
              </a:rPr>
              <a:t>Ajuster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8229600" y="4419600"/>
            <a:ext cx="0" cy="101600"/>
          </a:xfrm>
          <a:prstGeom prst="line">
            <a:avLst/>
          </a:prstGeom>
          <a:ln w="1524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8077200" y="4546600"/>
            <a:ext cx="304800" cy="304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051800" y="46172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83600" y="4600448"/>
            <a:ext cx="2590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0A1A01"/>
                </a:solidFill>
                <a:latin typeface="Poppins"/>
              </a:rPr>
              <a:t>Améliorer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60400" y="5334000"/>
            <a:ext cx="6934200" cy="736600"/>
          </a:xfrm>
          <a:prstGeom prst="roundRect">
            <a:avLst>
              <a:gd name="adj" fmla="val 15517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939800" y="5593893"/>
            <a:ext cx="6400800" cy="4023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92"/>
              </a:lnSpc>
            </a:pPr>
            <a:r>
              <a:rPr sz="960" b="0" i="0">
                <a:solidFill>
                  <a:srgbClr val="FFFFFF"/>
                </a:solidFill>
                <a:latin typeface="Poppins"/>
              </a:rPr>
              <a:t>Chaque semaine : identifier les contenus performants.   |   Chaque mois : comparer aux objectifs et</a:t>
            </a:r>
          </a:p>
          <a:p>
            <a:pPr algn="l">
              <a:lnSpc>
                <a:spcPts val="1392"/>
              </a:lnSpc>
            </a:pPr>
            <a:r>
              <a:rPr sz="960" b="0" i="0">
                <a:solidFill>
                  <a:srgbClr val="FFFFFF"/>
                </a:solidFill>
                <a:latin typeface="Poppins"/>
              </a:rPr>
              <a:t>ajuster.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BUSINESS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Modèle Économique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Comment Sadiya Digital Agri crée, délivre et capture de la valeur.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33600"/>
            <a:ext cx="3403600" cy="1778000"/>
          </a:xfrm>
          <a:prstGeom prst="roundRect">
            <a:avLst>
              <a:gd name="adj" fmla="val 642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9000" y="2336800"/>
            <a:ext cx="2971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Proposition de valeur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14400" y="2667000"/>
            <a:ext cx="28956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919480" y="2829306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100" y="2802331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Communication digitale spécialisée agro</a:t>
            </a:r>
          </a:p>
        </p:txBody>
      </p:sp>
      <p:sp>
        <p:nvSpPr>
          <p:cNvPr id="18" name="Oval 17"/>
          <p:cNvSpPr/>
          <p:nvPr/>
        </p:nvSpPr>
        <p:spPr>
          <a:xfrm>
            <a:off x="919480" y="3054858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4100" y="3027883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Double expertise agriculture + digital</a:t>
            </a:r>
          </a:p>
        </p:txBody>
      </p:sp>
      <p:sp>
        <p:nvSpPr>
          <p:cNvPr id="20" name="Oval 19"/>
          <p:cNvSpPr/>
          <p:nvPr/>
        </p:nvSpPr>
        <p:spPr>
          <a:xfrm>
            <a:off x="919480" y="3280410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4100" y="3253435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Produits locaux rendus visibles et attractifs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18000" y="2133600"/>
            <a:ext cx="3403600" cy="1778000"/>
          </a:xfrm>
          <a:prstGeom prst="roundRect">
            <a:avLst>
              <a:gd name="adj" fmla="val 642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43180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546600" y="2336800"/>
            <a:ext cx="2971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Clients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572000" y="2667000"/>
            <a:ext cx="28956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4577080" y="2829306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11700" y="2802331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PME agroalimentaires sénégalaises</a:t>
            </a:r>
          </a:p>
        </p:txBody>
      </p:sp>
      <p:sp>
        <p:nvSpPr>
          <p:cNvPr id="28" name="Oval 27"/>
          <p:cNvSpPr/>
          <p:nvPr/>
        </p:nvSpPr>
        <p:spPr>
          <a:xfrm>
            <a:off x="4577080" y="3054858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11700" y="3027883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Coopératives &amp; GIE de producteurs</a:t>
            </a:r>
          </a:p>
        </p:txBody>
      </p:sp>
      <p:sp>
        <p:nvSpPr>
          <p:cNvPr id="30" name="Oval 29"/>
          <p:cNvSpPr/>
          <p:nvPr/>
        </p:nvSpPr>
        <p:spPr>
          <a:xfrm>
            <a:off x="4577080" y="3280410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11700" y="3253435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Grandes industries (cible secondaire)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75600" y="2133600"/>
            <a:ext cx="3403600" cy="1778000"/>
          </a:xfrm>
          <a:prstGeom prst="roundRect">
            <a:avLst>
              <a:gd name="adj" fmla="val 642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79756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204200" y="2336800"/>
            <a:ext cx="2971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Canaux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229600" y="2667000"/>
            <a:ext cx="28956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8234680" y="2829306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69300" y="2802331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LinkedIn : prospection B2B directe</a:t>
            </a:r>
          </a:p>
        </p:txBody>
      </p:sp>
      <p:sp>
        <p:nvSpPr>
          <p:cNvPr id="38" name="Oval 37"/>
          <p:cNvSpPr/>
          <p:nvPr/>
        </p:nvSpPr>
        <p:spPr>
          <a:xfrm>
            <a:off x="8234680" y="3054858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69300" y="3027883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Facebook : communauté et offre</a:t>
            </a:r>
          </a:p>
        </p:txBody>
      </p:sp>
      <p:sp>
        <p:nvSpPr>
          <p:cNvPr id="40" name="Oval 39"/>
          <p:cNvSpPr/>
          <p:nvPr/>
        </p:nvSpPr>
        <p:spPr>
          <a:xfrm>
            <a:off x="8234680" y="3280410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69300" y="3253435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TikTok : portée et notoriété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60400" y="4114800"/>
            <a:ext cx="3403600" cy="1778000"/>
          </a:xfrm>
          <a:prstGeom prst="roundRect">
            <a:avLst>
              <a:gd name="adj" fmla="val 642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ounded Rectangle 42"/>
          <p:cNvSpPr/>
          <p:nvPr/>
        </p:nvSpPr>
        <p:spPr>
          <a:xfrm>
            <a:off x="660400" y="41148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889000" y="4318000"/>
            <a:ext cx="2971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Sources de revenus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14400" y="4648200"/>
            <a:ext cx="28956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919480" y="4810506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54100" y="4783531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Abonnements mensuels récurrents</a:t>
            </a:r>
          </a:p>
        </p:txBody>
      </p:sp>
      <p:sp>
        <p:nvSpPr>
          <p:cNvPr id="48" name="Oval 47"/>
          <p:cNvSpPr/>
          <p:nvPr/>
        </p:nvSpPr>
        <p:spPr>
          <a:xfrm>
            <a:off x="919480" y="5036058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4100" y="5009083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Prestations ponctuelles à la demande</a:t>
            </a:r>
          </a:p>
        </p:txBody>
      </p:sp>
      <p:sp>
        <p:nvSpPr>
          <p:cNvPr id="50" name="Oval 49"/>
          <p:cNvSpPr/>
          <p:nvPr/>
        </p:nvSpPr>
        <p:spPr>
          <a:xfrm>
            <a:off x="919480" y="5261610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4100" y="5234635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Campagnes publicitaires gérées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318000" y="4114800"/>
            <a:ext cx="3403600" cy="1778000"/>
          </a:xfrm>
          <a:prstGeom prst="roundRect">
            <a:avLst>
              <a:gd name="adj" fmla="val 642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ounded Rectangle 52"/>
          <p:cNvSpPr/>
          <p:nvPr/>
        </p:nvSpPr>
        <p:spPr>
          <a:xfrm>
            <a:off x="4318000" y="41148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4546600" y="4318000"/>
            <a:ext cx="2971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Ressources clés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572000" y="4648200"/>
            <a:ext cx="28956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4577080" y="4810506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711700" y="4783531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Compétences agro + community management</a:t>
            </a:r>
          </a:p>
        </p:txBody>
      </p:sp>
      <p:sp>
        <p:nvSpPr>
          <p:cNvPr id="58" name="Oval 57"/>
          <p:cNvSpPr/>
          <p:nvPr/>
        </p:nvSpPr>
        <p:spPr>
          <a:xfrm>
            <a:off x="4577080" y="5036058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11700" y="5009083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Canva, CapCut, Meta Suite, TikTok Studio</a:t>
            </a:r>
          </a:p>
        </p:txBody>
      </p:sp>
      <p:sp>
        <p:nvSpPr>
          <p:cNvPr id="60" name="Oval 59"/>
          <p:cNvSpPr/>
          <p:nvPr/>
        </p:nvSpPr>
        <p:spPr>
          <a:xfrm>
            <a:off x="4577080" y="5261610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711700" y="5234635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Identité de marque et site portfolio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975600" y="4114800"/>
            <a:ext cx="3403600" cy="1778000"/>
          </a:xfrm>
          <a:prstGeom prst="roundRect">
            <a:avLst>
              <a:gd name="adj" fmla="val 642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Rounded Rectangle 62"/>
          <p:cNvSpPr/>
          <p:nvPr/>
        </p:nvSpPr>
        <p:spPr>
          <a:xfrm>
            <a:off x="7975600" y="41148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8204200" y="4318000"/>
            <a:ext cx="2971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Structure de coûts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8229600" y="4648200"/>
            <a:ext cx="28956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8234680" y="4810506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369300" y="4783531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Outils en version gratuite au démarrage</a:t>
            </a:r>
          </a:p>
        </p:txBody>
      </p:sp>
      <p:sp>
        <p:nvSpPr>
          <p:cNvPr id="68" name="Oval 67"/>
          <p:cNvSpPr/>
          <p:nvPr/>
        </p:nvSpPr>
        <p:spPr>
          <a:xfrm>
            <a:off x="8234680" y="5036058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369300" y="5009083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Connexion, déplacements terrain</a:t>
            </a:r>
          </a:p>
        </p:txBody>
      </p:sp>
      <p:sp>
        <p:nvSpPr>
          <p:cNvPr id="70" name="Oval 69"/>
          <p:cNvSpPr/>
          <p:nvPr/>
        </p:nvSpPr>
        <p:spPr>
          <a:xfrm>
            <a:off x="8234680" y="5261610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369300" y="5234635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Budget publicitaire refacturé au client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BUSINESS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Nos Offres d'Abonnement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Trois formules mensuelles, plus des prestations à la demande.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84400"/>
            <a:ext cx="3403600" cy="2641600"/>
          </a:xfrm>
          <a:prstGeom prst="roundRect">
            <a:avLst>
              <a:gd name="adj" fmla="val 432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2441448"/>
            <a:ext cx="2844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 spc="180">
                <a:solidFill>
                  <a:srgbClr val="9FB8A2"/>
                </a:solidFill>
                <a:latin typeface="Poppins"/>
              </a:rPr>
              <a:t>ESSENTIEL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656840"/>
            <a:ext cx="2844800" cy="647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0" i="0">
                <a:solidFill>
                  <a:srgbClr val="1F5E3A"/>
                </a:solidFill>
                <a:latin typeface="Alfa Slab One"/>
              </a:rPr>
              <a:t>75 000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233725"/>
            <a:ext cx="28448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18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FCFA / mois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39800" y="3505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937260" y="3669538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970280" y="3738118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995680" y="3702558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117600" y="3664306"/>
            <a:ext cx="2717800" cy="2009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8 publications / mois</a:t>
            </a:r>
          </a:p>
        </p:txBody>
      </p:sp>
      <p:sp>
        <p:nvSpPr>
          <p:cNvPr id="21" name="Oval 20"/>
          <p:cNvSpPr/>
          <p:nvPr/>
        </p:nvSpPr>
        <p:spPr>
          <a:xfrm>
            <a:off x="937260" y="3950767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970280" y="4019347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995680" y="3983787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117600" y="3945534"/>
            <a:ext cx="2717800" cy="2009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Visuels personnalisés</a:t>
            </a:r>
          </a:p>
        </p:txBody>
      </p:sp>
      <p:sp>
        <p:nvSpPr>
          <p:cNvPr id="25" name="Oval 24"/>
          <p:cNvSpPr/>
          <p:nvPr/>
        </p:nvSpPr>
        <p:spPr>
          <a:xfrm>
            <a:off x="937260" y="4231996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970280" y="4300576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995680" y="4265016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117600" y="4226763"/>
            <a:ext cx="2717800" cy="2009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Gestion de communauté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18000" y="2057400"/>
            <a:ext cx="3403600" cy="2895600"/>
          </a:xfrm>
          <a:prstGeom prst="roundRect">
            <a:avLst>
              <a:gd name="adj" fmla="val 3947"/>
            </a:avLst>
          </a:prstGeom>
          <a:solidFill>
            <a:srgbClr val="1F5E3A"/>
          </a:solidFill>
          <a:ln w="2032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5435600" y="1917700"/>
            <a:ext cx="1168400" cy="279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410200" y="1966163"/>
            <a:ext cx="1219200" cy="159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62"/>
              </a:lnSpc>
            </a:pPr>
            <a:r>
              <a:rPr sz="740" b="1" i="0" spc="80">
                <a:solidFill>
                  <a:srgbClr val="FFFFFF"/>
                </a:solidFill>
                <a:latin typeface="Poppins"/>
              </a:rPr>
              <a:t>RECOMMANDÉ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2314448"/>
            <a:ext cx="2844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 spc="180">
                <a:solidFill>
                  <a:srgbClr val="1AAB70"/>
                </a:solidFill>
                <a:latin typeface="Poppins"/>
              </a:rPr>
              <a:t>PRO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2529840"/>
            <a:ext cx="2844800" cy="647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0" i="0">
                <a:solidFill>
                  <a:srgbClr val="FFFFFF"/>
                </a:solidFill>
                <a:latin typeface="Alfa Slab One"/>
              </a:rPr>
              <a:t>150 000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3106725"/>
            <a:ext cx="28448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18"/>
              </a:lnSpc>
            </a:pPr>
            <a:r>
              <a:rPr sz="860" b="0" i="0">
                <a:solidFill>
                  <a:srgbClr val="9FB8A2"/>
                </a:solidFill>
                <a:latin typeface="Poppins"/>
              </a:rPr>
              <a:t>FCFA / mois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597400" y="3378200"/>
            <a:ext cx="2844800" cy="0"/>
          </a:xfrm>
          <a:prstGeom prst="line">
            <a:avLst/>
          </a:prstGeom>
          <a:ln w="1270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4594860" y="3542538"/>
            <a:ext cx="132080" cy="13208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4627880" y="3611118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4653280" y="3575558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775200" y="3537306"/>
            <a:ext cx="2717800" cy="2009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919" b="0" i="0">
                <a:solidFill>
                  <a:srgbClr val="FFFFFF"/>
                </a:solidFill>
                <a:latin typeface="Poppins"/>
              </a:rPr>
              <a:t>12 publications + 4 vidéos</a:t>
            </a:r>
          </a:p>
        </p:txBody>
      </p:sp>
      <p:sp>
        <p:nvSpPr>
          <p:cNvPr id="40" name="Oval 39"/>
          <p:cNvSpPr/>
          <p:nvPr/>
        </p:nvSpPr>
        <p:spPr>
          <a:xfrm>
            <a:off x="4594860" y="3823767"/>
            <a:ext cx="132080" cy="13208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4627880" y="3892347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4653280" y="3856787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4775200" y="3818534"/>
            <a:ext cx="2717800" cy="2009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919" b="0" i="0">
                <a:solidFill>
                  <a:srgbClr val="FFFFFF"/>
                </a:solidFill>
                <a:latin typeface="Poppins"/>
              </a:rPr>
              <a:t>Animation de communauté</a:t>
            </a:r>
          </a:p>
        </p:txBody>
      </p:sp>
      <p:sp>
        <p:nvSpPr>
          <p:cNvPr id="44" name="Oval 43"/>
          <p:cNvSpPr/>
          <p:nvPr/>
        </p:nvSpPr>
        <p:spPr>
          <a:xfrm>
            <a:off x="4594860" y="4104996"/>
            <a:ext cx="132080" cy="13208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4627880" y="4173576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653280" y="4138016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4775200" y="4099763"/>
            <a:ext cx="2717800" cy="2009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919" b="0" i="0">
                <a:solidFill>
                  <a:srgbClr val="FFFFFF"/>
                </a:solidFill>
                <a:latin typeface="Poppins"/>
              </a:rPr>
              <a:t>Stratégie éditoriale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975600" y="2184400"/>
            <a:ext cx="3403600" cy="2641600"/>
          </a:xfrm>
          <a:prstGeom prst="roundRect">
            <a:avLst>
              <a:gd name="adj" fmla="val 432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8229600" y="2441448"/>
            <a:ext cx="2844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 spc="180">
                <a:solidFill>
                  <a:srgbClr val="1F5E3A"/>
                </a:solidFill>
                <a:latin typeface="Poppins"/>
              </a:rPr>
              <a:t>PREMIUM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0" y="2656840"/>
            <a:ext cx="2844800" cy="647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0" i="0">
                <a:solidFill>
                  <a:srgbClr val="1F5E3A"/>
                </a:solidFill>
                <a:latin typeface="Alfa Slab One"/>
              </a:rPr>
              <a:t>250 000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600" y="3233725"/>
            <a:ext cx="28448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18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FCFA / mois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255000" y="3505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8252460" y="3669538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8285480" y="3738118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8310880" y="3702558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8432800" y="3664306"/>
            <a:ext cx="2717800" cy="2009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16 publications + 8 vidéos</a:t>
            </a:r>
          </a:p>
        </p:txBody>
      </p:sp>
      <p:sp>
        <p:nvSpPr>
          <p:cNvPr id="57" name="Oval 56"/>
          <p:cNvSpPr/>
          <p:nvPr/>
        </p:nvSpPr>
        <p:spPr>
          <a:xfrm>
            <a:off x="8252460" y="3950767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8285480" y="4019347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8310880" y="3983787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8432800" y="3945534"/>
            <a:ext cx="2717800" cy="2009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Stratégie + publicité</a:t>
            </a:r>
          </a:p>
        </p:txBody>
      </p:sp>
      <p:sp>
        <p:nvSpPr>
          <p:cNvPr id="61" name="Oval 60"/>
          <p:cNvSpPr/>
          <p:nvPr/>
        </p:nvSpPr>
        <p:spPr>
          <a:xfrm>
            <a:off x="8252460" y="4231996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8285480" y="4300576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8310880" y="4265016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8432800" y="4226763"/>
            <a:ext cx="2717800" cy="2009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Reporting mensuel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60400" y="5130800"/>
            <a:ext cx="10871200" cy="558800"/>
          </a:xfrm>
          <a:prstGeom prst="roundRect">
            <a:avLst>
              <a:gd name="adj" fmla="val 20454"/>
            </a:avLst>
          </a:prstGeom>
          <a:solidFill>
            <a:srgbClr val="F4F7F5"/>
          </a:solidFill>
          <a:ln w="1270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Rounded Rectangle 65"/>
          <p:cNvSpPr/>
          <p:nvPr/>
        </p:nvSpPr>
        <p:spPr>
          <a:xfrm>
            <a:off x="660400" y="5130800"/>
            <a:ext cx="63500" cy="558800"/>
          </a:xfrm>
          <a:prstGeom prst="roundRect">
            <a:avLst>
              <a:gd name="adj" fmla="val 4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939800" y="5216144"/>
            <a:ext cx="3860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50">
                <a:solidFill>
                  <a:srgbClr val="1AAB70"/>
                </a:solidFill>
                <a:latin typeface="Poppins"/>
              </a:rPr>
              <a:t>REVENUS COMPLÉMENTAIRES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39800" y="5390896"/>
            <a:ext cx="9956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0" i="0">
                <a:solidFill>
                  <a:srgbClr val="0A1A01"/>
                </a:solidFill>
                <a:latin typeface="Poppins"/>
              </a:rPr>
              <a:t>Contenus à la demande, campagnes publicitaires et stratégie ponctuelle — à partir de 25 000 FCFA.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5000" y="5824525"/>
            <a:ext cx="109220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18"/>
              </a:lnSpc>
            </a:pPr>
            <a:r>
              <a:rPr sz="860" b="0" i="1">
                <a:solidFill>
                  <a:srgbClr val="42612D"/>
                </a:solidFill>
                <a:latin typeface="Poppins"/>
              </a:rPr>
              <a:t>Paiement mensuel d'avance  ·  engagement 3 mois minimum  ·  devis sur mesure au-delà de 16 publications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BUSINESS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Rentabilité &amp; Projections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point mort atteignable dès le troisième client régulier.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08200"/>
            <a:ext cx="24892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08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63600" y="2311400"/>
            <a:ext cx="2082800" cy="5397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50"/>
              </a:lnSpc>
            </a:pPr>
            <a:r>
              <a:rPr sz="2500" b="0" i="0">
                <a:solidFill>
                  <a:srgbClr val="1F5E3A"/>
                </a:solidFill>
                <a:latin typeface="Alfa Slab One"/>
              </a:rPr>
              <a:t>85 000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3600" y="2776728"/>
            <a:ext cx="2082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>
                <a:solidFill>
                  <a:srgbClr val="42612D"/>
                </a:solidFill>
                <a:latin typeface="Poppins"/>
              </a:rPr>
              <a:t>FCFA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600" y="3006344"/>
            <a:ext cx="2133600" cy="177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8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Charges mensuelles estimées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03600" y="2108200"/>
            <a:ext cx="24892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3403600" y="2108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606800" y="2311400"/>
            <a:ext cx="2082800" cy="5397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50"/>
              </a:lnSpc>
            </a:pPr>
            <a:r>
              <a:rPr sz="2500" b="0" i="0">
                <a:solidFill>
                  <a:srgbClr val="1F5E3A"/>
                </a:solidFill>
                <a:latin typeface="Alfa Slab One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06800" y="2776728"/>
            <a:ext cx="2082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>
                <a:solidFill>
                  <a:srgbClr val="1AAB70"/>
                </a:solidFill>
                <a:latin typeface="Poppins"/>
              </a:rPr>
              <a:t>clients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06800" y="3006344"/>
            <a:ext cx="2133600" cy="177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8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Seuil de rentabilité (offre Pro)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46800" y="2108200"/>
            <a:ext cx="24892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6146800" y="2108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350000" y="2311400"/>
            <a:ext cx="2082800" cy="5397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50"/>
              </a:lnSpc>
            </a:pPr>
            <a:r>
              <a:rPr sz="2500" b="0" i="0">
                <a:solidFill>
                  <a:srgbClr val="1F5E3A"/>
                </a:solidFill>
                <a:latin typeface="Alfa Slab One"/>
              </a:rPr>
              <a:t>450 000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0000" y="2776728"/>
            <a:ext cx="2082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>
                <a:solidFill>
                  <a:srgbClr val="1F5E3A"/>
                </a:solidFill>
                <a:latin typeface="Poppins"/>
              </a:rPr>
              <a:t>FCFA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0000" y="3006344"/>
            <a:ext cx="2133600" cy="177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8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Revenu mensuel visé à 6 mois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90000" y="2108200"/>
            <a:ext cx="24892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8890000" y="2108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093200" y="2311400"/>
            <a:ext cx="2082800" cy="5397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50"/>
              </a:lnSpc>
            </a:pPr>
            <a:r>
              <a:rPr sz="2500" b="0" i="0">
                <a:solidFill>
                  <a:srgbClr val="1F5E3A"/>
                </a:solidFill>
                <a:latin typeface="Alfa Slab One"/>
              </a:rPr>
              <a:t>5,4 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93200" y="2776728"/>
            <a:ext cx="2082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>
                <a:solidFill>
                  <a:srgbClr val="1AAB70"/>
                </a:solidFill>
                <a:latin typeface="Poppins"/>
              </a:rPr>
              <a:t>FCFA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93200" y="3006344"/>
            <a:ext cx="2133600" cy="177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8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Chiffre d'affaires annualisé cible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000" y="3691128"/>
            <a:ext cx="513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50">
                <a:solidFill>
                  <a:srgbClr val="42612D"/>
                </a:solidFill>
                <a:latin typeface="Poppins"/>
              </a:rPr>
              <a:t>SCÉNARIO DE MONTÉE EN CHARGE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000" y="4146296"/>
            <a:ext cx="1066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0A1A01"/>
                </a:solidFill>
                <a:latin typeface="Poppins"/>
              </a:rPr>
              <a:t>Mois 1–3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27200" y="4147312"/>
            <a:ext cx="939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2 clients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41600" y="4114800"/>
            <a:ext cx="3708400" cy="279400"/>
          </a:xfrm>
          <a:prstGeom prst="roundRect">
            <a:avLst>
              <a:gd name="adj" fmla="val 50000"/>
            </a:avLst>
          </a:prstGeom>
          <a:solidFill>
            <a:srgbClr val="DC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2641600" y="4114800"/>
            <a:ext cx="1038352" cy="279400"/>
          </a:xfrm>
          <a:prstGeom prst="roundRect">
            <a:avLst>
              <a:gd name="adj" fmla="val 50000"/>
            </a:avLst>
          </a:prstGeom>
          <a:solidFill>
            <a:srgbClr val="9FB8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426200" y="4147312"/>
            <a:ext cx="2235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150 000 FCFA/mois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000" y="4730496"/>
            <a:ext cx="1066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0A1A01"/>
                </a:solidFill>
                <a:latin typeface="Poppins"/>
              </a:rPr>
              <a:t>Mois 4–6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27200" y="4731512"/>
            <a:ext cx="939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3 clients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41600" y="4699000"/>
            <a:ext cx="3708400" cy="279400"/>
          </a:xfrm>
          <a:prstGeom prst="roundRect">
            <a:avLst>
              <a:gd name="adj" fmla="val 50000"/>
            </a:avLst>
          </a:prstGeom>
          <a:solidFill>
            <a:srgbClr val="DC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2641600" y="4699000"/>
            <a:ext cx="2299208" cy="279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426200" y="4731512"/>
            <a:ext cx="2235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450 000 FCFA/mois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000" y="5314696"/>
            <a:ext cx="1066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0A1A01"/>
                </a:solidFill>
                <a:latin typeface="Poppins"/>
              </a:rPr>
              <a:t>Mois 7–12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27200" y="5315712"/>
            <a:ext cx="939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5 clients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641600" y="5283200"/>
            <a:ext cx="3708400" cy="279400"/>
          </a:xfrm>
          <a:prstGeom prst="roundRect">
            <a:avLst>
              <a:gd name="adj" fmla="val 50000"/>
            </a:avLst>
          </a:prstGeom>
          <a:solidFill>
            <a:srgbClr val="DC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ounded Rectangle 45"/>
          <p:cNvSpPr/>
          <p:nvPr/>
        </p:nvSpPr>
        <p:spPr>
          <a:xfrm>
            <a:off x="2641600" y="5283200"/>
            <a:ext cx="3708400" cy="2794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6426200" y="5315712"/>
            <a:ext cx="2235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750 000 FCFA/mois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890000" y="3708400"/>
            <a:ext cx="2641600" cy="2184400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ounded Rectangle 48"/>
          <p:cNvSpPr/>
          <p:nvPr/>
        </p:nvSpPr>
        <p:spPr>
          <a:xfrm>
            <a:off x="8890000" y="3708400"/>
            <a:ext cx="2641600" cy="508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9093200" y="3895344"/>
            <a:ext cx="2336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30">
                <a:solidFill>
                  <a:srgbClr val="1F5E3A"/>
                </a:solidFill>
                <a:latin typeface="Poppins"/>
              </a:rPr>
              <a:t>CHARGES PRINCIPALES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93200" y="4174338"/>
            <a:ext cx="17018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Connexion internet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90200" y="4174338"/>
            <a:ext cx="8382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066"/>
              </a:lnSpc>
            </a:pPr>
            <a:r>
              <a:rPr sz="819" b="1" i="0">
                <a:solidFill>
                  <a:srgbClr val="42612D"/>
                </a:solidFill>
                <a:latin typeface="Poppins"/>
              </a:rPr>
              <a:t>25 000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93200" y="4504538"/>
            <a:ext cx="17018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Déplacements terrain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90200" y="4504538"/>
            <a:ext cx="8382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066"/>
              </a:lnSpc>
            </a:pPr>
            <a:r>
              <a:rPr sz="819" b="1" i="0">
                <a:solidFill>
                  <a:srgbClr val="42612D"/>
                </a:solidFill>
                <a:latin typeface="Poppins"/>
              </a:rPr>
              <a:t>20 000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93200" y="4834738"/>
            <a:ext cx="17018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Outils &amp; abonnements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490200" y="4834738"/>
            <a:ext cx="8382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066"/>
              </a:lnSpc>
            </a:pPr>
            <a:r>
              <a:rPr sz="819" b="1" i="0">
                <a:solidFill>
                  <a:srgbClr val="42612D"/>
                </a:solidFill>
                <a:latin typeface="Poppins"/>
              </a:rPr>
              <a:t>20 000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93200" y="5164938"/>
            <a:ext cx="17018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Divers &amp; imprévus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490200" y="5164938"/>
            <a:ext cx="8382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066"/>
              </a:lnSpc>
            </a:pPr>
            <a:r>
              <a:rPr sz="819" b="1" i="0">
                <a:solidFill>
                  <a:srgbClr val="42612D"/>
                </a:solidFill>
                <a:latin typeface="Poppins"/>
              </a:rPr>
              <a:t>20 000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9118600" y="5511800"/>
            <a:ext cx="21844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9093200" y="5595925"/>
            <a:ext cx="13208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18"/>
              </a:lnSpc>
            </a:pPr>
            <a:r>
              <a:rPr sz="860" b="1" i="0">
                <a:solidFill>
                  <a:srgbClr val="1F5E3A"/>
                </a:solidFill>
                <a:latin typeface="Poppins"/>
              </a:rPr>
              <a:t>Total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82200" y="5595925"/>
            <a:ext cx="13462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118"/>
              </a:lnSpc>
            </a:pPr>
            <a:r>
              <a:rPr sz="860" b="1" i="0">
                <a:solidFill>
                  <a:srgbClr val="1AAB70"/>
                </a:solidFill>
                <a:latin typeface="Poppins"/>
              </a:rPr>
              <a:t>85 000 FCFA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5000" y="6104738"/>
            <a:ext cx="81788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1">
                <a:solidFill>
                  <a:srgbClr val="42612D"/>
                </a:solidFill>
                <a:latin typeface="Poppins"/>
              </a:rPr>
              <a:t>Hypothèses prudentes : outils en version gratuite, structure sans salarié, budget publicitaire refacturé au client.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BENCHMARK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Concurrence &amp; Différenciation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marché occupé par des généralistes — aucune agence spécialisée agro.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2090928"/>
            <a:ext cx="386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50">
                <a:solidFill>
                  <a:srgbClr val="42612D"/>
                </a:solidFill>
                <a:latin typeface="Poppins"/>
              </a:rPr>
              <a:t>LE MARCHÉ AUJOURD'HUI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0400" y="2387600"/>
            <a:ext cx="5334000" cy="58420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9000" y="2480564"/>
            <a:ext cx="2336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0A1A01"/>
                </a:solidFill>
                <a:latin typeface="Poppins"/>
              </a:rPr>
              <a:t>Agence Kolonell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9000" y="2701138"/>
            <a:ext cx="30988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0">
                <a:solidFill>
                  <a:srgbClr val="42612D"/>
                </a:solidFill>
                <a:latin typeface="Poppins"/>
              </a:rPr>
              <a:t>Expert, axé résultats et stratégie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38600" y="2571699"/>
            <a:ext cx="17780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22"/>
              </a:lnSpc>
            </a:pPr>
            <a:r>
              <a:rPr sz="940" b="1" i="0">
                <a:solidFill>
                  <a:srgbClr val="1F5E3A"/>
                </a:solidFill>
                <a:latin typeface="Poppins"/>
              </a:rPr>
              <a:t>250–600 k FCFA/mois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0400" y="3073400"/>
            <a:ext cx="5334000" cy="58420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89000" y="3166364"/>
            <a:ext cx="2336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0A1A01"/>
                </a:solidFill>
                <a:latin typeface="Poppins"/>
              </a:rPr>
              <a:t>Agence WEDRAOGO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9000" y="3386938"/>
            <a:ext cx="30988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0">
                <a:solidFill>
                  <a:srgbClr val="42612D"/>
                </a:solidFill>
                <a:latin typeface="Poppins"/>
              </a:rPr>
              <a:t>Professionnel, créatif et attractif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38600" y="3257499"/>
            <a:ext cx="17780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22"/>
              </a:lnSpc>
            </a:pPr>
            <a:r>
              <a:rPr sz="940" b="1" i="0">
                <a:solidFill>
                  <a:srgbClr val="1F5E3A"/>
                </a:solidFill>
                <a:latin typeface="Poppins"/>
              </a:rPr>
              <a:t>dès 130 k FCFA/mois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0400" y="3759200"/>
            <a:ext cx="5334000" cy="58420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89000" y="3852164"/>
            <a:ext cx="2336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0A1A01"/>
                </a:solidFill>
                <a:latin typeface="Poppins"/>
              </a:rPr>
              <a:t>CM freelance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9000" y="4072738"/>
            <a:ext cx="30988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0">
                <a:solidFill>
                  <a:srgbClr val="42612D"/>
                </a:solidFill>
                <a:latin typeface="Poppins"/>
              </a:rPr>
              <a:t>Généraliste et informel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38600" y="3943299"/>
            <a:ext cx="17780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22"/>
              </a:lnSpc>
            </a:pPr>
            <a:r>
              <a:rPr sz="940" b="1" i="0">
                <a:solidFill>
                  <a:srgbClr val="1F5E3A"/>
                </a:solidFill>
                <a:latin typeface="Poppins"/>
              </a:rPr>
              <a:t>50–150 k FCFA/mois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0400" y="4521200"/>
            <a:ext cx="5334000" cy="1498600"/>
          </a:xfrm>
          <a:prstGeom prst="roundRect">
            <a:avLst>
              <a:gd name="adj" fmla="val 8474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9800" y="4732528"/>
            <a:ext cx="386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50">
                <a:solidFill>
                  <a:srgbClr val="1AAB70"/>
                </a:solidFill>
                <a:latin typeface="Poppins"/>
              </a:rPr>
              <a:t>NOTRE DIFFÉRENCIATION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9800" y="4982464"/>
            <a:ext cx="4775200" cy="453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>
                <a:solidFill>
                  <a:srgbClr val="FFFFFF"/>
                </a:solidFill>
                <a:latin typeface="Poppins"/>
              </a:rPr>
              <a:t>La seule offre qui combine double expertise agriculture + digital et</a:t>
            </a:r>
          </a:p>
          <a:p>
            <a:pPr algn="l">
              <a:lnSpc>
                <a:spcPts val="1575"/>
              </a:lnSpc>
            </a:pPr>
            <a:r>
              <a:rPr sz="1050" b="0" i="0">
                <a:solidFill>
                  <a:srgbClr val="FFFFFF"/>
                </a:solidFill>
                <a:latin typeface="Poppins"/>
              </a:rPr>
              <a:t>spécialisation exclusive sur les acteurs agroalimentaires sénégalais.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9800" y="5672531"/>
            <a:ext cx="47752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92"/>
              </a:lnSpc>
            </a:pPr>
            <a:r>
              <a:rPr sz="840" b="0" i="1">
                <a:solidFill>
                  <a:srgbClr val="9FB8A2"/>
                </a:solidFill>
                <a:latin typeface="Poppins"/>
              </a:rPr>
              <a:t>Tarifs d'entrée compétitifs · structure agile · connaissance du terrain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23000" y="2108200"/>
            <a:ext cx="2489200" cy="1803400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6223000" y="2108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400800" y="2293112"/>
            <a:ext cx="2209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30">
                <a:solidFill>
                  <a:srgbClr val="1AAB70"/>
                </a:solidFill>
                <a:latin typeface="Poppins"/>
              </a:rPr>
              <a:t>FORCES</a:t>
            </a:r>
          </a:p>
        </p:txBody>
      </p:sp>
      <p:sp>
        <p:nvSpPr>
          <p:cNvPr id="32" name="Oval 31"/>
          <p:cNvSpPr/>
          <p:nvPr/>
        </p:nvSpPr>
        <p:spPr>
          <a:xfrm>
            <a:off x="6431280" y="2650363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65900" y="2624938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Double expertise agri + digital</a:t>
            </a:r>
          </a:p>
        </p:txBody>
      </p:sp>
      <p:sp>
        <p:nvSpPr>
          <p:cNvPr id="34" name="Oval 33"/>
          <p:cNvSpPr/>
          <p:nvPr/>
        </p:nvSpPr>
        <p:spPr>
          <a:xfrm>
            <a:off x="6431280" y="2872359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65900" y="2846934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Agilité d'une structure légère</a:t>
            </a:r>
          </a:p>
        </p:txBody>
      </p:sp>
      <p:sp>
        <p:nvSpPr>
          <p:cNvPr id="36" name="Oval 35"/>
          <p:cNvSpPr/>
          <p:nvPr/>
        </p:nvSpPr>
        <p:spPr>
          <a:xfrm>
            <a:off x="6431280" y="3094355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65900" y="3068930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Tarifs compétitifs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15400" y="2108200"/>
            <a:ext cx="2489200" cy="1803400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ounded Rectangle 38"/>
          <p:cNvSpPr/>
          <p:nvPr/>
        </p:nvSpPr>
        <p:spPr>
          <a:xfrm>
            <a:off x="8915400" y="2108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C44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093200" y="2293112"/>
            <a:ext cx="2209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30">
                <a:solidFill>
                  <a:srgbClr val="C4453F"/>
                </a:solidFill>
                <a:latin typeface="Poppins"/>
              </a:rPr>
              <a:t>FAIBLESSES</a:t>
            </a:r>
          </a:p>
        </p:txBody>
      </p:sp>
      <p:sp>
        <p:nvSpPr>
          <p:cNvPr id="41" name="Oval 40"/>
          <p:cNvSpPr/>
          <p:nvPr/>
        </p:nvSpPr>
        <p:spPr>
          <a:xfrm>
            <a:off x="9123680" y="2650363"/>
            <a:ext cx="76200" cy="76200"/>
          </a:xfrm>
          <a:prstGeom prst="ellipse">
            <a:avLst/>
          </a:prstGeom>
          <a:solidFill>
            <a:srgbClr val="C44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58300" y="2624938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Notoriété à construire</a:t>
            </a:r>
          </a:p>
        </p:txBody>
      </p:sp>
      <p:sp>
        <p:nvSpPr>
          <p:cNvPr id="43" name="Oval 42"/>
          <p:cNvSpPr/>
          <p:nvPr/>
        </p:nvSpPr>
        <p:spPr>
          <a:xfrm>
            <a:off x="9123680" y="2872359"/>
            <a:ext cx="76200" cy="76200"/>
          </a:xfrm>
          <a:prstGeom prst="ellipse">
            <a:avLst/>
          </a:prstGeom>
          <a:solidFill>
            <a:srgbClr val="C44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58300" y="2846934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Portfolio grands comptes limité</a:t>
            </a:r>
          </a:p>
        </p:txBody>
      </p:sp>
      <p:sp>
        <p:nvSpPr>
          <p:cNvPr id="45" name="Oval 44"/>
          <p:cNvSpPr/>
          <p:nvPr/>
        </p:nvSpPr>
        <p:spPr>
          <a:xfrm>
            <a:off x="9123680" y="3094355"/>
            <a:ext cx="76200" cy="76200"/>
          </a:xfrm>
          <a:prstGeom prst="ellipse">
            <a:avLst/>
          </a:prstGeom>
          <a:solidFill>
            <a:srgbClr val="C44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58300" y="3068930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Ressources de production réduites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23000" y="4089400"/>
            <a:ext cx="2489200" cy="1803400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ounded Rectangle 47"/>
          <p:cNvSpPr/>
          <p:nvPr/>
        </p:nvSpPr>
        <p:spPr>
          <a:xfrm>
            <a:off x="6223000" y="40894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400800" y="4274312"/>
            <a:ext cx="2209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30">
                <a:solidFill>
                  <a:srgbClr val="1F5E3A"/>
                </a:solidFill>
                <a:latin typeface="Poppins"/>
              </a:rPr>
              <a:t>OPPORTUNITÉS</a:t>
            </a:r>
          </a:p>
        </p:txBody>
      </p:sp>
      <p:sp>
        <p:nvSpPr>
          <p:cNvPr id="50" name="Oval 49"/>
          <p:cNvSpPr/>
          <p:nvPr/>
        </p:nvSpPr>
        <p:spPr>
          <a:xfrm>
            <a:off x="6431280" y="4631563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65900" y="4606138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Dynamique « Consommer local »</a:t>
            </a:r>
          </a:p>
        </p:txBody>
      </p:sp>
      <p:sp>
        <p:nvSpPr>
          <p:cNvPr id="52" name="Oval 51"/>
          <p:cNvSpPr/>
          <p:nvPr/>
        </p:nvSpPr>
        <p:spPr>
          <a:xfrm>
            <a:off x="6431280" y="4853559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65900" y="4828134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Digitalisation de l'agro</a:t>
            </a:r>
          </a:p>
        </p:txBody>
      </p:sp>
      <p:sp>
        <p:nvSpPr>
          <p:cNvPr id="54" name="Oval 53"/>
          <p:cNvSpPr/>
          <p:nvPr/>
        </p:nvSpPr>
        <p:spPr>
          <a:xfrm>
            <a:off x="6431280" y="5075555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65900" y="5050130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Niche encore inexploitée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915400" y="4089400"/>
            <a:ext cx="2489200" cy="1803400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ounded Rectangle 56"/>
          <p:cNvSpPr/>
          <p:nvPr/>
        </p:nvSpPr>
        <p:spPr>
          <a:xfrm>
            <a:off x="8915400" y="40894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9093200" y="4274312"/>
            <a:ext cx="2209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30">
                <a:solidFill>
                  <a:srgbClr val="42612D"/>
                </a:solidFill>
                <a:latin typeface="Poppins"/>
              </a:rPr>
              <a:t>MENACES</a:t>
            </a:r>
          </a:p>
        </p:txBody>
      </p:sp>
      <p:sp>
        <p:nvSpPr>
          <p:cNvPr id="59" name="Oval 58"/>
          <p:cNvSpPr/>
          <p:nvPr/>
        </p:nvSpPr>
        <p:spPr>
          <a:xfrm>
            <a:off x="9123680" y="4631563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258300" y="4606138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Agences établies</a:t>
            </a:r>
          </a:p>
        </p:txBody>
      </p:sp>
      <p:sp>
        <p:nvSpPr>
          <p:cNvPr id="61" name="Oval 60"/>
          <p:cNvSpPr/>
          <p:nvPr/>
        </p:nvSpPr>
        <p:spPr>
          <a:xfrm>
            <a:off x="9123680" y="4853559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258300" y="4828134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Budgets PME limités</a:t>
            </a:r>
          </a:p>
        </p:txBody>
      </p:sp>
      <p:sp>
        <p:nvSpPr>
          <p:cNvPr id="63" name="Oval 62"/>
          <p:cNvSpPr/>
          <p:nvPr/>
        </p:nvSpPr>
        <p:spPr>
          <a:xfrm>
            <a:off x="9123680" y="5075555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258300" y="5050130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Contraintes de connectivité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TRACTION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Ce que j'ai déjà réalisé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Une marque complète, construite de A à Z : logo, charte, bannière et carte de visite.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33600"/>
            <a:ext cx="3403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320544"/>
            <a:ext cx="2590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50">
                <a:solidFill>
                  <a:srgbClr val="1AAB70"/>
                </a:solidFill>
                <a:latin typeface="Poppins"/>
              </a:rPr>
              <a:t>LOGO</a:t>
            </a:r>
          </a:p>
        </p:txBody>
      </p:sp>
      <p:pic>
        <p:nvPicPr>
          <p:cNvPr id="15" name="Picture 14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600" y="2641600"/>
            <a:ext cx="2489200" cy="10033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14400" y="3742944"/>
            <a:ext cx="2895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Version horizontale couleur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67200" y="2133600"/>
            <a:ext cx="3403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42672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521200" y="2320544"/>
            <a:ext cx="2590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50">
                <a:solidFill>
                  <a:srgbClr val="1F5E3A"/>
                </a:solidFill>
                <a:latin typeface="Poppins"/>
              </a:rPr>
              <a:t>PALETTE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46600" y="25908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521200" y="30100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#1F5E3A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37200" y="25908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511800" y="30100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#1AAB70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27800" y="25908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502400" y="30100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#42612D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46600" y="32004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9FB8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521200" y="36196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#9FB8A2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537200" y="32004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0A1A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511800" y="36196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#0A1A01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27800" y="32004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502400" y="36196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#FFFFFF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1200" y="3819144"/>
            <a:ext cx="2895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6 couleurs officielles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874000" y="2133600"/>
            <a:ext cx="3657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7874000" y="2133600"/>
            <a:ext cx="3657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128000" y="2320544"/>
            <a:ext cx="2590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50">
                <a:solidFill>
                  <a:srgbClr val="42612D"/>
                </a:solidFill>
                <a:latin typeface="Poppins"/>
              </a:rPr>
              <a:t>TYPOGRAPHIE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28000" y="2546096"/>
            <a:ext cx="3098800" cy="4749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60"/>
              </a:lnSpc>
            </a:pPr>
            <a:r>
              <a:rPr sz="2200" b="0" i="0">
                <a:solidFill>
                  <a:srgbClr val="1F5E3A"/>
                </a:solidFill>
                <a:latin typeface="Alfa Slab One"/>
              </a:rPr>
              <a:t>Sadiya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28000" y="2981757"/>
            <a:ext cx="30988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Alfa Slab One — titres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28000" y="3165856"/>
            <a:ext cx="3098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AAB70"/>
                </a:solidFill>
                <a:latin typeface="Poppins"/>
              </a:rPr>
              <a:t>Digital Agri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28000" y="3540557"/>
            <a:ext cx="30988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Poppins — sous-titres et textes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28000" y="3793744"/>
            <a:ext cx="3098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Hiérarchie à 3 niveaux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0400" y="4267200"/>
            <a:ext cx="7010400" cy="165100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41"/>
          <p:cNvSpPr/>
          <p:nvPr/>
        </p:nvSpPr>
        <p:spPr>
          <a:xfrm>
            <a:off x="660400" y="4267200"/>
            <a:ext cx="70104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914400" y="4454144"/>
            <a:ext cx="3860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50">
                <a:solidFill>
                  <a:srgbClr val="1AAB70"/>
                </a:solidFill>
                <a:latin typeface="Poppins"/>
              </a:rPr>
              <a:t>BANNIÈRE RÉSEAUX SOCIAUX</a:t>
            </a:r>
          </a:p>
        </p:txBody>
      </p:sp>
      <p:pic>
        <p:nvPicPr>
          <p:cNvPr id="44" name="Picture 43" descr="bannie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800" y="4724400"/>
            <a:ext cx="6451600" cy="1041400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7874000" y="4267200"/>
            <a:ext cx="3657600" cy="165100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ounded Rectangle 45"/>
          <p:cNvSpPr/>
          <p:nvPr/>
        </p:nvSpPr>
        <p:spPr>
          <a:xfrm>
            <a:off x="7874000" y="4267200"/>
            <a:ext cx="3657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8128000" y="4454144"/>
            <a:ext cx="3225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50">
                <a:solidFill>
                  <a:srgbClr val="1F5E3A"/>
                </a:solidFill>
                <a:latin typeface="Poppins"/>
              </a:rPr>
              <a:t>CARTE DE VISITE</a:t>
            </a:r>
          </a:p>
        </p:txBody>
      </p:sp>
      <p:pic>
        <p:nvPicPr>
          <p:cNvPr id="48" name="Picture 47" descr="carte_vis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3400" y="4749800"/>
            <a:ext cx="3098800" cy="8636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TRACTION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Présence Digitale &amp; Outils Maîtrisés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Des canaux actifs, un site portfolio en ligne et une gestion de projet outillée.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2065528"/>
            <a:ext cx="513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50">
                <a:solidFill>
                  <a:srgbClr val="1AAB70"/>
                </a:solidFill>
                <a:latin typeface="Poppins"/>
              </a:rPr>
              <a:t>CANAUX EN LIGNE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0400" y="2362200"/>
            <a:ext cx="2489200" cy="149860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660400" y="2362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s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" y="2590800"/>
            <a:ext cx="431800" cy="431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3600" y="3129280"/>
            <a:ext cx="2133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1F5E3A"/>
                </a:solidFill>
                <a:latin typeface="Poppins"/>
              </a:rPr>
              <a:t>Site portfolio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3600" y="3337763"/>
            <a:ext cx="2184400" cy="164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99"/>
              </a:lnSpc>
            </a:pPr>
            <a:r>
              <a:rPr sz="740" b="0" i="0">
                <a:solidFill>
                  <a:srgbClr val="42612D"/>
                </a:solidFill>
                <a:latin typeface="Poppins"/>
              </a:rPr>
              <a:t>nene-hsd.vercel.app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9000" y="3581400"/>
            <a:ext cx="736600" cy="190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63600" y="3606089"/>
            <a:ext cx="787400" cy="1424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58"/>
              </a:lnSpc>
            </a:pPr>
            <a:r>
              <a:rPr sz="660" b="1" i="0">
                <a:solidFill>
                  <a:srgbClr val="FFFFFF"/>
                </a:solidFill>
                <a:latin typeface="Poppins"/>
              </a:rPr>
              <a:t>En ligne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03600" y="2362200"/>
            <a:ext cx="2489200" cy="149860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3403600" y="2362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linked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2200" y="2590800"/>
            <a:ext cx="431800" cy="431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06800" y="3129280"/>
            <a:ext cx="2133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1F5E3A"/>
                </a:solidFill>
                <a:latin typeface="Poppins"/>
              </a:rPr>
              <a:t>Page pro LinkedIn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6800" y="3337763"/>
            <a:ext cx="2184400" cy="164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99"/>
              </a:lnSpc>
            </a:pPr>
            <a:r>
              <a:rPr sz="740" b="0" i="0">
                <a:solidFill>
                  <a:srgbClr val="42612D"/>
                </a:solidFill>
                <a:latin typeface="Poppins"/>
              </a:rPr>
              <a:t>/company/sadiyadigitalagri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32200" y="3581400"/>
            <a:ext cx="736600" cy="190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3606800" y="3606089"/>
            <a:ext cx="787400" cy="1424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58"/>
              </a:lnSpc>
            </a:pPr>
            <a:r>
              <a:rPr sz="660" b="1" i="0">
                <a:solidFill>
                  <a:srgbClr val="FFFFFF"/>
                </a:solidFill>
                <a:latin typeface="Poppins"/>
              </a:rPr>
              <a:t>Active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46800" y="2362200"/>
            <a:ext cx="2489200" cy="149860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6146800" y="2362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Picture 28" descr="faceboo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5400" y="2590800"/>
            <a:ext cx="431800" cy="431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350000" y="3129280"/>
            <a:ext cx="2133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1F5E3A"/>
                </a:solidFill>
                <a:latin typeface="Poppins"/>
              </a:rPr>
              <a:t>Page Facebook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0000" y="3337763"/>
            <a:ext cx="2184400" cy="164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99"/>
              </a:lnSpc>
            </a:pPr>
            <a:r>
              <a:rPr sz="740" b="0" i="0">
                <a:solidFill>
                  <a:srgbClr val="42612D"/>
                </a:solidFill>
                <a:latin typeface="Poppins"/>
              </a:rPr>
              <a:t>/sadiyadigitalagri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75400" y="3581400"/>
            <a:ext cx="736600" cy="190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350000" y="3606089"/>
            <a:ext cx="787400" cy="1424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58"/>
              </a:lnSpc>
            </a:pPr>
            <a:r>
              <a:rPr sz="660" b="1" i="0">
                <a:solidFill>
                  <a:srgbClr val="FFFFFF"/>
                </a:solidFill>
                <a:latin typeface="Poppins"/>
              </a:rPr>
              <a:t>Active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90000" y="2362200"/>
            <a:ext cx="2489200" cy="149860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ounded Rectangle 34"/>
          <p:cNvSpPr/>
          <p:nvPr/>
        </p:nvSpPr>
        <p:spPr>
          <a:xfrm>
            <a:off x="8890000" y="2362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pu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18600" y="2590800"/>
            <a:ext cx="431800" cy="4318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093200" y="3129280"/>
            <a:ext cx="2133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1F5E3A"/>
                </a:solidFill>
                <a:latin typeface="Poppins"/>
              </a:rPr>
              <a:t>Meta Business Suite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93200" y="3337763"/>
            <a:ext cx="2184400" cy="164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99"/>
              </a:lnSpc>
            </a:pPr>
            <a:r>
              <a:rPr sz="740" b="0" i="0">
                <a:solidFill>
                  <a:srgbClr val="42612D"/>
                </a:solidFill>
                <a:latin typeface="Poppins"/>
              </a:rPr>
              <a:t>Page pub &amp; programmation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18600" y="3581400"/>
            <a:ext cx="736600" cy="190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093200" y="3606089"/>
            <a:ext cx="787400" cy="1424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58"/>
              </a:lnSpc>
            </a:pPr>
            <a:r>
              <a:rPr sz="660" b="1" i="0">
                <a:solidFill>
                  <a:srgbClr val="FFFFFF"/>
                </a:solidFill>
                <a:latin typeface="Poppins"/>
              </a:rPr>
              <a:t>Configurée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" y="4047744"/>
            <a:ext cx="3860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40">
                <a:solidFill>
                  <a:srgbClr val="42612D"/>
                </a:solidFill>
                <a:latin typeface="Poppins"/>
              </a:rPr>
              <a:t>AUSSI PRÉSENTE SUR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60400" y="4318000"/>
            <a:ext cx="12192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3" name="Picture 42" descr="instagram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4700" y="4406900"/>
            <a:ext cx="203200" cy="2032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16000" y="4430776"/>
            <a:ext cx="838200" cy="151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sz="700" b="1" i="0">
                <a:solidFill>
                  <a:srgbClr val="1F5E3A"/>
                </a:solidFill>
                <a:latin typeface="Poppins"/>
              </a:rPr>
              <a:t>Instagram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032000" y="4318000"/>
            <a:ext cx="12192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6" name="Picture 45" descr="tikto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46300" y="4406900"/>
            <a:ext cx="203200" cy="2032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2387600" y="4430776"/>
            <a:ext cx="838200" cy="151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sz="700" b="1" i="0">
                <a:solidFill>
                  <a:srgbClr val="1F5E3A"/>
                </a:solidFill>
                <a:latin typeface="Poppins"/>
              </a:rPr>
              <a:t>TikTok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03600" y="4318000"/>
            <a:ext cx="12192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9" name="Picture 48" descr="whatsapp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17900" y="4406900"/>
            <a:ext cx="203200" cy="2032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3759200" y="4430776"/>
            <a:ext cx="838200" cy="266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sz="700" b="1" i="0">
                <a:solidFill>
                  <a:srgbClr val="1F5E3A"/>
                </a:solidFill>
                <a:latin typeface="Poppins"/>
              </a:rPr>
              <a:t>WhatsApp</a:t>
            </a:r>
          </a:p>
          <a:p>
            <a:pPr algn="l">
              <a:lnSpc>
                <a:spcPts val="910"/>
              </a:lnSpc>
            </a:pPr>
            <a:r>
              <a:rPr sz="700" b="1" i="0">
                <a:solidFill>
                  <a:srgbClr val="1F5E3A"/>
                </a:solidFill>
                <a:latin typeface="Poppins"/>
              </a:rPr>
              <a:t>Business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775200" y="4318000"/>
            <a:ext cx="12192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2" name="Picture 51" descr="email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89500" y="4406900"/>
            <a:ext cx="203200" cy="20320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5130800" y="4430776"/>
            <a:ext cx="838200" cy="151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sz="700" b="1" i="0">
                <a:solidFill>
                  <a:srgbClr val="1F5E3A"/>
                </a:solidFill>
                <a:latin typeface="Poppins"/>
              </a:rPr>
              <a:t>Email pro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5000" y="4910328"/>
            <a:ext cx="386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50">
                <a:solidFill>
                  <a:srgbClr val="1AAB70"/>
                </a:solidFill>
                <a:latin typeface="Poppins"/>
              </a:rPr>
              <a:t>OUTILS MAÎTRISÉS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60400" y="5207000"/>
            <a:ext cx="1600200" cy="7874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6" name="Picture 55" descr="canv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2800" y="5384800"/>
            <a:ext cx="381000" cy="38100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270000" y="5365699"/>
            <a:ext cx="939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1" i="0">
                <a:solidFill>
                  <a:srgbClr val="1F5E3A"/>
                </a:solidFill>
                <a:latin typeface="Poppins"/>
              </a:rPr>
              <a:t>Canva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70000" y="5561482"/>
            <a:ext cx="990600" cy="1468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84"/>
              </a:lnSpc>
            </a:pPr>
            <a:r>
              <a:rPr sz="680" b="0" i="0">
                <a:solidFill>
                  <a:srgbClr val="42612D"/>
                </a:solidFill>
                <a:latin typeface="Poppins"/>
              </a:rPr>
              <a:t>Visuels &amp; carrousels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413000" y="5207000"/>
            <a:ext cx="1600200" cy="7874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capcut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65400" y="5384800"/>
            <a:ext cx="381000" cy="38100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3022600" y="5365699"/>
            <a:ext cx="939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1" i="0">
                <a:solidFill>
                  <a:srgbClr val="1F5E3A"/>
                </a:solidFill>
                <a:latin typeface="Poppins"/>
              </a:rPr>
              <a:t>CapCut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022600" y="5561482"/>
            <a:ext cx="990600" cy="1468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84"/>
              </a:lnSpc>
            </a:pPr>
            <a:r>
              <a:rPr sz="680" b="0" i="0">
                <a:solidFill>
                  <a:srgbClr val="42612D"/>
                </a:solidFill>
                <a:latin typeface="Poppins"/>
              </a:rPr>
              <a:t>Montage vidéo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165600" y="5207000"/>
            <a:ext cx="1600200" cy="7874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4" name="Picture 63" descr="trello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318000" y="5384800"/>
            <a:ext cx="381000" cy="381000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4775200" y="5365699"/>
            <a:ext cx="939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1" i="0">
                <a:solidFill>
                  <a:srgbClr val="1F5E3A"/>
                </a:solidFill>
                <a:latin typeface="Poppins"/>
              </a:rPr>
              <a:t>Trello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775200" y="5561482"/>
            <a:ext cx="990600" cy="1468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84"/>
              </a:lnSpc>
            </a:pPr>
            <a:r>
              <a:rPr sz="680" b="0" i="0">
                <a:solidFill>
                  <a:srgbClr val="42612D"/>
                </a:solidFill>
                <a:latin typeface="Poppins"/>
              </a:rPr>
              <a:t>Suivi de projet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918200" y="5207000"/>
            <a:ext cx="1600200" cy="7874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8" name="Picture 67" descr="chart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070600" y="5384800"/>
            <a:ext cx="381000" cy="38100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6527800" y="5365699"/>
            <a:ext cx="939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1" i="0">
                <a:solidFill>
                  <a:srgbClr val="1F5E3A"/>
                </a:solidFill>
                <a:latin typeface="Poppins"/>
              </a:rPr>
              <a:t>Charte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527800" y="5561482"/>
            <a:ext cx="990600" cy="1468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84"/>
              </a:lnSpc>
            </a:pPr>
            <a:r>
              <a:rPr sz="680" b="0" i="0">
                <a:solidFill>
                  <a:srgbClr val="42612D"/>
                </a:solidFill>
                <a:latin typeface="Poppins"/>
              </a:rPr>
              <a:t>Identité visuelle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874000" y="4064000"/>
            <a:ext cx="3657600" cy="1930400"/>
          </a:xfrm>
          <a:prstGeom prst="roundRect">
            <a:avLst>
              <a:gd name="adj" fmla="val 6578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2" name="Picture 71" descr="trello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153400" y="4292600"/>
            <a:ext cx="381000" cy="381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8636000" y="4301744"/>
            <a:ext cx="2590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40">
                <a:solidFill>
                  <a:srgbClr val="1AAB70"/>
                </a:solidFill>
                <a:latin typeface="Poppins"/>
              </a:rPr>
              <a:t>SUIVI DE PROJET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636000" y="4441952"/>
            <a:ext cx="25908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0" i="0">
                <a:solidFill>
                  <a:srgbClr val="FFFFFF"/>
                </a:solidFill>
                <a:latin typeface="Alfa Slab One"/>
              </a:rPr>
              <a:t>Trello</a:t>
            </a:r>
          </a:p>
        </p:txBody>
      </p:sp>
      <p:sp>
        <p:nvSpPr>
          <p:cNvPr id="75" name="Oval 74"/>
          <p:cNvSpPr/>
          <p:nvPr/>
        </p:nvSpPr>
        <p:spPr>
          <a:xfrm>
            <a:off x="8158480" y="4885563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293100" y="4860138"/>
            <a:ext cx="30607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FFFFFF"/>
                </a:solidFill>
                <a:latin typeface="Poppins"/>
              </a:rPr>
              <a:t>Un tableau par client</a:t>
            </a:r>
          </a:p>
        </p:txBody>
      </p:sp>
      <p:sp>
        <p:nvSpPr>
          <p:cNvPr id="77" name="Oval 76"/>
          <p:cNvSpPr/>
          <p:nvPr/>
        </p:nvSpPr>
        <p:spPr>
          <a:xfrm>
            <a:off x="8158480" y="5107559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293100" y="5082134"/>
            <a:ext cx="30607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FFFFFF"/>
                </a:solidFill>
                <a:latin typeface="Poppins"/>
              </a:rPr>
              <a:t>Calendrier éditorial partagé</a:t>
            </a:r>
          </a:p>
        </p:txBody>
      </p:sp>
      <p:sp>
        <p:nvSpPr>
          <p:cNvPr id="79" name="Oval 78"/>
          <p:cNvSpPr/>
          <p:nvPr/>
        </p:nvSpPr>
        <p:spPr>
          <a:xfrm>
            <a:off x="8158480" y="5329555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93100" y="5304130"/>
            <a:ext cx="30607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FFFFFF"/>
                </a:solidFill>
                <a:latin typeface="Poppins"/>
              </a:rPr>
              <a:t>Validation des contenus en ligne</a:t>
            </a:r>
          </a:p>
        </p:txBody>
      </p:sp>
      <p:sp>
        <p:nvSpPr>
          <p:cNvPr id="81" name="Oval 80"/>
          <p:cNvSpPr/>
          <p:nvPr/>
        </p:nvSpPr>
        <p:spPr>
          <a:xfrm>
            <a:off x="8158480" y="5551551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93100" y="5526126"/>
            <a:ext cx="30607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FFFFFF"/>
                </a:solidFill>
                <a:latin typeface="Poppins"/>
              </a:rPr>
              <a:t>Suivi des KPI et des livrables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TRACTION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Étapes Franchies &amp; Ambitions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Ce que j'ai déjà accompli — et où je veux aller.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082800"/>
            <a:ext cx="5334000" cy="381000"/>
          </a:xfrm>
          <a:prstGeom prst="roundRect">
            <a:avLst>
              <a:gd name="adj" fmla="val 2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89000" y="2177796"/>
            <a:ext cx="4876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20">
                <a:solidFill>
                  <a:srgbClr val="1AAB70"/>
                </a:solidFill>
                <a:latin typeface="Poppins"/>
              </a:rPr>
              <a:t>CE QUE J'AI DÉJÀ ACCOMPLI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0400" y="2565400"/>
            <a:ext cx="5334000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89000" y="2755900"/>
            <a:ext cx="228600" cy="2286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947420" y="2872740"/>
            <a:ext cx="38100" cy="40640"/>
          </a:xfrm>
          <a:prstGeom prst="line">
            <a:avLst/>
          </a:prstGeom>
          <a:ln w="2159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985520" y="2829560"/>
            <a:ext cx="73660" cy="83820"/>
          </a:xfrm>
          <a:prstGeom prst="line">
            <a:avLst/>
          </a:prstGeom>
          <a:ln w="2159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244600" y="2672080"/>
            <a:ext cx="45720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1F5E3A"/>
                </a:solidFill>
                <a:latin typeface="Poppins"/>
              </a:rPr>
              <a:t>Formalisation de l'entreprise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44600" y="2891638"/>
            <a:ext cx="45720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0">
                <a:solidFill>
                  <a:srgbClr val="42612D"/>
                </a:solidFill>
                <a:latin typeface="Poppins"/>
              </a:rPr>
              <a:t>NINEA + Registre de commerce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0400" y="3276600"/>
            <a:ext cx="5334000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889000" y="3467100"/>
            <a:ext cx="228600" cy="2286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947420" y="3583940"/>
            <a:ext cx="38100" cy="40640"/>
          </a:xfrm>
          <a:prstGeom prst="line">
            <a:avLst/>
          </a:prstGeom>
          <a:ln w="2159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985520" y="3540760"/>
            <a:ext cx="73660" cy="83820"/>
          </a:xfrm>
          <a:prstGeom prst="line">
            <a:avLst/>
          </a:prstGeom>
          <a:ln w="2159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244600" y="3383280"/>
            <a:ext cx="45720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1F5E3A"/>
                </a:solidFill>
                <a:latin typeface="Poppins"/>
              </a:rPr>
              <a:t>Identité visuelle complète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44600" y="3602838"/>
            <a:ext cx="45720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0">
                <a:solidFill>
                  <a:srgbClr val="42612D"/>
                </a:solidFill>
                <a:latin typeface="Poppins"/>
              </a:rPr>
              <a:t>Logo, charte, bannière, carte de visite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0400" y="3987800"/>
            <a:ext cx="5334000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89000" y="4178300"/>
            <a:ext cx="228600" cy="2286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947420" y="4295140"/>
            <a:ext cx="38100" cy="40640"/>
          </a:xfrm>
          <a:prstGeom prst="line">
            <a:avLst/>
          </a:prstGeom>
          <a:ln w="2159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985520" y="4251960"/>
            <a:ext cx="73660" cy="83820"/>
          </a:xfrm>
          <a:prstGeom prst="line">
            <a:avLst/>
          </a:prstGeom>
          <a:ln w="2159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244600" y="4094480"/>
            <a:ext cx="45720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1F5E3A"/>
                </a:solidFill>
                <a:latin typeface="Poppins"/>
              </a:rPr>
              <a:t>Présence digitale opérationnelle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44600" y="4314038"/>
            <a:ext cx="45720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0">
                <a:solidFill>
                  <a:srgbClr val="42612D"/>
                </a:solidFill>
                <a:latin typeface="Poppins"/>
              </a:rPr>
              <a:t>Site portfolio + pages LinkedIn et Facebook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60400" y="4699000"/>
            <a:ext cx="5334000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889000" y="4889500"/>
            <a:ext cx="228600" cy="2286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947420" y="5006340"/>
            <a:ext cx="38100" cy="40640"/>
          </a:xfrm>
          <a:prstGeom prst="line">
            <a:avLst/>
          </a:prstGeom>
          <a:ln w="2159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985520" y="4963160"/>
            <a:ext cx="73660" cy="83820"/>
          </a:xfrm>
          <a:prstGeom prst="line">
            <a:avLst/>
          </a:prstGeom>
          <a:ln w="2159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1244600" y="4805680"/>
            <a:ext cx="45720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1F5E3A"/>
                </a:solidFill>
                <a:latin typeface="Poppins"/>
              </a:rPr>
              <a:t>Formation Community Management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44600" y="5025238"/>
            <a:ext cx="45720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0">
                <a:solidFill>
                  <a:srgbClr val="42612D"/>
                </a:solidFill>
                <a:latin typeface="Poppins"/>
              </a:rPr>
              <a:t>7 semaines — Design &amp; CM, Simplon Sénégal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60400" y="5410200"/>
            <a:ext cx="5334000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889000" y="5600700"/>
            <a:ext cx="228600" cy="2286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947420" y="5717540"/>
            <a:ext cx="38100" cy="40640"/>
          </a:xfrm>
          <a:prstGeom prst="line">
            <a:avLst/>
          </a:prstGeom>
          <a:ln w="2159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985520" y="5674360"/>
            <a:ext cx="73660" cy="83820"/>
          </a:xfrm>
          <a:prstGeom prst="line">
            <a:avLst/>
          </a:prstGeom>
          <a:ln w="2159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1244600" y="5516880"/>
            <a:ext cx="45720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1F5E3A"/>
                </a:solidFill>
                <a:latin typeface="Poppins"/>
              </a:rPr>
              <a:t>Formation en agriculture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44600" y="5736438"/>
            <a:ext cx="45720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0">
                <a:solidFill>
                  <a:srgbClr val="42612D"/>
                </a:solidFill>
                <a:latin typeface="Poppins"/>
              </a:rPr>
              <a:t>Licence en Agronomie — UCAD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97600" y="2082800"/>
            <a:ext cx="5334000" cy="381000"/>
          </a:xfrm>
          <a:prstGeom prst="roundRect">
            <a:avLst>
              <a:gd name="adj" fmla="val 2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6426200" y="2177796"/>
            <a:ext cx="4876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20">
                <a:solidFill>
                  <a:srgbClr val="FFFFFF"/>
                </a:solidFill>
                <a:latin typeface="Poppins"/>
              </a:rPr>
              <a:t>MES OBJECTIFS (6–12 MOIS)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97600" y="2565400"/>
            <a:ext cx="5334000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ounded Rectangle 46"/>
          <p:cNvSpPr/>
          <p:nvPr/>
        </p:nvSpPr>
        <p:spPr>
          <a:xfrm>
            <a:off x="6197600" y="2565400"/>
            <a:ext cx="50800" cy="6096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Oval 47"/>
          <p:cNvSpPr/>
          <p:nvPr/>
        </p:nvSpPr>
        <p:spPr>
          <a:xfrm>
            <a:off x="6451600" y="27432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26200" y="27859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32600" y="2760980"/>
            <a:ext cx="45720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0A1A01"/>
                </a:solidFill>
                <a:latin typeface="Poppins"/>
              </a:rPr>
              <a:t>Acquérir mes premiers clients agro-industriels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197600" y="3276600"/>
            <a:ext cx="5334000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Rounded Rectangle 51"/>
          <p:cNvSpPr/>
          <p:nvPr/>
        </p:nvSpPr>
        <p:spPr>
          <a:xfrm>
            <a:off x="6197600" y="3276600"/>
            <a:ext cx="50800" cy="6096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6451600" y="34544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26200" y="34971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32600" y="3472180"/>
            <a:ext cx="45720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0A1A01"/>
                </a:solidFill>
                <a:latin typeface="Poppins"/>
              </a:rPr>
              <a:t>Développer un portefeuille de clients réguliers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97600" y="3987800"/>
            <a:ext cx="5334000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ounded Rectangle 56"/>
          <p:cNvSpPr/>
          <p:nvPr/>
        </p:nvSpPr>
        <p:spPr>
          <a:xfrm>
            <a:off x="6197600" y="3987800"/>
            <a:ext cx="50800" cy="6096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6451600" y="41656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26200" y="42083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32600" y="4183380"/>
            <a:ext cx="45720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0A1A01"/>
                </a:solidFill>
                <a:latin typeface="Poppins"/>
              </a:rPr>
              <a:t>Renforcer mon expertise en publicité en ligne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197600" y="4699000"/>
            <a:ext cx="5334000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Rounded Rectangle 61"/>
          <p:cNvSpPr/>
          <p:nvPr/>
        </p:nvSpPr>
        <p:spPr>
          <a:xfrm>
            <a:off x="6197600" y="4699000"/>
            <a:ext cx="50800" cy="6096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Oval 62"/>
          <p:cNvSpPr/>
          <p:nvPr/>
        </p:nvSpPr>
        <p:spPr>
          <a:xfrm>
            <a:off x="6451600" y="48768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26200" y="49195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32600" y="4894580"/>
            <a:ext cx="45720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0A1A01"/>
                </a:solidFill>
                <a:latin typeface="Poppins"/>
              </a:rPr>
              <a:t>Structurer une offre de production vidéo terrain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197600" y="5410200"/>
            <a:ext cx="5334000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Rounded Rectangle 66"/>
          <p:cNvSpPr/>
          <p:nvPr/>
        </p:nvSpPr>
        <p:spPr>
          <a:xfrm>
            <a:off x="6197600" y="5410200"/>
            <a:ext cx="50800" cy="6096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Oval 67"/>
          <p:cNvSpPr/>
          <p:nvPr/>
        </p:nvSpPr>
        <p:spPr>
          <a:xfrm>
            <a:off x="6451600" y="55880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26200" y="56307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32600" y="5605780"/>
            <a:ext cx="45720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0A1A01"/>
                </a:solidFill>
                <a:latin typeface="Poppins"/>
              </a:rPr>
              <a:t>Faire de Sadiya Digital Agri une agence reconnue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108712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712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8712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8712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712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8712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8712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8712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0109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0109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0109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109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0109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109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0109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0109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1506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1506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1506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1506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1506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1506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1506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1506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2903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2903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2903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2903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2903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2903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12903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12903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14300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4300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4300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14300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4300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4300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4300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15697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5697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5697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15697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15697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5697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15697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5697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7094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7094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17094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7094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7094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17094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17094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17094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18491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8491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18491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8491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18491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18491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8491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18491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0" y="5969000"/>
            <a:ext cx="2540000" cy="889000"/>
          </a:xfrm>
          <a:custGeom>
            <a:avLst/>
            <a:gdLst/>
            <a:ahLst/>
            <a:cxnLst/>
            <a:rect l="l" t="t" r="r" b="b"/>
            <a:pathLst>
              <a:path w="2540000" h="889000">
                <a:moveTo>
                  <a:pt x="0" y="0"/>
                </a:moveTo>
                <a:lnTo>
                  <a:pt x="2540000" y="0"/>
                </a:lnTo>
                <a:lnTo>
                  <a:pt x="1778000" y="889000"/>
                </a:lnTo>
                <a:lnTo>
                  <a:pt x="0" y="889000"/>
                </a:lnTo>
                <a:close/>
              </a:path>
            </a:pathLst>
          </a:cu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60400" y="5588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774700" y="541528"/>
            <a:ext cx="513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CE DONT J'AI BESOIN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5000" y="718312"/>
            <a:ext cx="7670800" cy="7340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20"/>
              </a:lnSpc>
            </a:pPr>
            <a:r>
              <a:rPr sz="3400" b="0" i="0">
                <a:solidFill>
                  <a:srgbClr val="FFFFFF"/>
                </a:solidFill>
                <a:latin typeface="Alfa Slab One"/>
              </a:rPr>
              <a:t>Appel à l'Action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5000" y="1448816"/>
            <a:ext cx="7924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0" i="0">
                <a:solidFill>
                  <a:srgbClr val="9FB8A2"/>
                </a:solidFill>
                <a:latin typeface="Poppins"/>
              </a:rPr>
              <a:t>De quoi ai-je besoin pour faire grandir Sadiya Digital Agri ?</a:t>
            </a:r>
          </a:p>
        </p:txBody>
      </p:sp>
      <p:pic>
        <p:nvPicPr>
          <p:cNvPr id="73" name="Picture 72" descr="logo-sadiya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1000" y="508000"/>
            <a:ext cx="1168400" cy="355600"/>
          </a:xfrm>
          <a:prstGeom prst="rect">
            <a:avLst/>
          </a:prstGeom>
        </p:spPr>
      </p:pic>
      <p:sp>
        <p:nvSpPr>
          <p:cNvPr id="74" name="Rounded Rectangle 73"/>
          <p:cNvSpPr/>
          <p:nvPr/>
        </p:nvSpPr>
        <p:spPr>
          <a:xfrm>
            <a:off x="660400" y="2133600"/>
            <a:ext cx="3403600" cy="1270000"/>
          </a:xfrm>
          <a:prstGeom prst="roundRect">
            <a:avLst>
              <a:gd name="adj" fmla="val 9000"/>
            </a:avLst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Rounded Rectangle 74"/>
          <p:cNvSpPr/>
          <p:nvPr/>
        </p:nvSpPr>
        <p:spPr>
          <a:xfrm>
            <a:off x="660400" y="2133600"/>
            <a:ext cx="50800" cy="12700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939800" y="2384552"/>
            <a:ext cx="28448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FFFFFF"/>
                </a:solidFill>
                <a:latin typeface="Poppins"/>
              </a:rPr>
              <a:t>Financement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39800" y="2724912"/>
            <a:ext cx="2921000" cy="3771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9FB8A2"/>
                </a:solidFill>
                <a:latin typeface="Poppins"/>
              </a:rPr>
              <a:t>Amorcer la production</a:t>
            </a:r>
          </a:p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9FB8A2"/>
                </a:solidFill>
                <a:latin typeface="Poppins"/>
              </a:rPr>
              <a:t>et les campagnes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318000" y="2133600"/>
            <a:ext cx="3403600" cy="1270000"/>
          </a:xfrm>
          <a:prstGeom prst="roundRect">
            <a:avLst>
              <a:gd name="adj" fmla="val 9000"/>
            </a:avLst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Rounded Rectangle 78"/>
          <p:cNvSpPr/>
          <p:nvPr/>
        </p:nvSpPr>
        <p:spPr>
          <a:xfrm>
            <a:off x="4318000" y="2133600"/>
            <a:ext cx="50800" cy="12700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4597400" y="2384552"/>
            <a:ext cx="28448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FFFFFF"/>
                </a:solidFill>
                <a:latin typeface="Poppins"/>
              </a:rPr>
              <a:t>Accompagnement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597400" y="2724912"/>
            <a:ext cx="2921000" cy="3771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9FB8A2"/>
                </a:solidFill>
                <a:latin typeface="Poppins"/>
              </a:rPr>
              <a:t>Mentorat business</a:t>
            </a:r>
          </a:p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9FB8A2"/>
                </a:solidFill>
                <a:latin typeface="Poppins"/>
              </a:rPr>
              <a:t>et structuration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975600" y="2133600"/>
            <a:ext cx="3403600" cy="1270000"/>
          </a:xfrm>
          <a:prstGeom prst="roundRect">
            <a:avLst>
              <a:gd name="adj" fmla="val 9000"/>
            </a:avLst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ounded Rectangle 82"/>
          <p:cNvSpPr/>
          <p:nvPr/>
        </p:nvSpPr>
        <p:spPr>
          <a:xfrm>
            <a:off x="7975600" y="2133600"/>
            <a:ext cx="50800" cy="12700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8255000" y="2384552"/>
            <a:ext cx="28448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FFFFFF"/>
                </a:solidFill>
                <a:latin typeface="Poppins"/>
              </a:rPr>
              <a:t>Partenariat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55000" y="2724912"/>
            <a:ext cx="2921000" cy="3771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9FB8A2"/>
                </a:solidFill>
                <a:latin typeface="Poppins"/>
              </a:rPr>
              <a:t>Accès aux réseaux</a:t>
            </a:r>
          </a:p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9FB8A2"/>
                </a:solidFill>
                <a:latin typeface="Poppins"/>
              </a:rPr>
              <a:t>agro-industriels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60400" y="3632200"/>
            <a:ext cx="3403600" cy="1270000"/>
          </a:xfrm>
          <a:prstGeom prst="roundRect">
            <a:avLst>
              <a:gd name="adj" fmla="val 9000"/>
            </a:avLst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Rounded Rectangle 86"/>
          <p:cNvSpPr/>
          <p:nvPr/>
        </p:nvSpPr>
        <p:spPr>
          <a:xfrm>
            <a:off x="660400" y="3632200"/>
            <a:ext cx="50800" cy="12700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939800" y="3883152"/>
            <a:ext cx="28448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FFFFFF"/>
                </a:solidFill>
                <a:latin typeface="Poppins"/>
              </a:rPr>
              <a:t>Équipements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39800" y="4223512"/>
            <a:ext cx="2921000" cy="3771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9FB8A2"/>
                </a:solidFill>
                <a:latin typeface="Poppins"/>
              </a:rPr>
              <a:t>Matériel de captation</a:t>
            </a:r>
          </a:p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9FB8A2"/>
                </a:solidFill>
                <a:latin typeface="Poppins"/>
              </a:rPr>
              <a:t>photo et vidéo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318000" y="3632200"/>
            <a:ext cx="3403600" cy="1270000"/>
          </a:xfrm>
          <a:prstGeom prst="roundRect">
            <a:avLst>
              <a:gd name="adj" fmla="val 9000"/>
            </a:avLst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Rounded Rectangle 90"/>
          <p:cNvSpPr/>
          <p:nvPr/>
        </p:nvSpPr>
        <p:spPr>
          <a:xfrm>
            <a:off x="4318000" y="3632200"/>
            <a:ext cx="50800" cy="12700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4597400" y="3883152"/>
            <a:ext cx="28448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FFFFFF"/>
                </a:solidFill>
                <a:latin typeface="Poppins"/>
              </a:rPr>
              <a:t>Visibilité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597400" y="4223512"/>
            <a:ext cx="2921000" cy="3771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9FB8A2"/>
                </a:solidFill>
                <a:latin typeface="Poppins"/>
              </a:rPr>
              <a:t>Références et</a:t>
            </a:r>
          </a:p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9FB8A2"/>
                </a:solidFill>
                <a:latin typeface="Poppins"/>
              </a:rPr>
              <a:t>recommandations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7975600" y="3632200"/>
            <a:ext cx="3403600" cy="1270000"/>
          </a:xfrm>
          <a:prstGeom prst="roundRect">
            <a:avLst>
              <a:gd name="adj" fmla="val 9000"/>
            </a:avLst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Rounded Rectangle 94"/>
          <p:cNvSpPr/>
          <p:nvPr/>
        </p:nvSpPr>
        <p:spPr>
          <a:xfrm>
            <a:off x="7975600" y="3632200"/>
            <a:ext cx="50800" cy="12700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8255000" y="3883152"/>
            <a:ext cx="28448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FFFFFF"/>
                </a:solidFill>
                <a:latin typeface="Poppins"/>
              </a:rPr>
              <a:t>Formation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255000" y="4223512"/>
            <a:ext cx="2921000" cy="3771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9FB8A2"/>
                </a:solidFill>
                <a:latin typeface="Poppins"/>
              </a:rPr>
              <a:t>Publicité en ligne</a:t>
            </a:r>
          </a:p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9FB8A2"/>
                </a:solidFill>
                <a:latin typeface="Poppins"/>
              </a:rPr>
              <a:t>et stratégie avancée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5000" y="5485384"/>
            <a:ext cx="109220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90"/>
              </a:lnSpc>
            </a:pPr>
            <a:r>
              <a:rPr sz="1300" b="0" i="0">
                <a:solidFill>
                  <a:srgbClr val="1AAB70"/>
                </a:solidFill>
                <a:latin typeface="Alfa Slab One"/>
              </a:rPr>
              <a:t>« Avec votre soutien, mon activité peut créer plus d'impact et d'opportunités. »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0" name="Picture 9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4191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Freeform 3"/>
          <p:cNvSpPr/>
          <p:nvPr/>
        </p:nvSpPr>
        <p:spPr>
          <a:xfrm>
            <a:off x="8890000" y="4191000"/>
            <a:ext cx="3302000" cy="1143000"/>
          </a:xfrm>
          <a:custGeom>
            <a:avLst/>
            <a:gdLst/>
            <a:ahLst/>
            <a:cxnLst/>
            <a:rect l="l" t="t" r="r" b="b"/>
            <a:pathLst>
              <a:path w="3302000" h="1143000">
                <a:moveTo>
                  <a:pt x="0" y="0"/>
                </a:moveTo>
                <a:lnTo>
                  <a:pt x="3302000" y="0"/>
                </a:lnTo>
                <a:lnTo>
                  <a:pt x="3302000" y="1143000"/>
                </a:lnTo>
                <a:lnTo>
                  <a:pt x="1270000" y="1143000"/>
                </a:lnTo>
                <a:close/>
              </a:path>
            </a:pathLst>
          </a:cu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810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810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10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810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810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810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810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810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810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207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07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207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07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207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07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207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207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207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604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04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604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604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04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604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604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604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604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001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1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001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001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001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001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001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001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001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398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398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398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398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398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398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398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398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398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795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795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0795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0795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0795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0795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0795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0795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0795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logo-sadiya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0800" y="762000"/>
            <a:ext cx="1930400" cy="59690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35000" y="1550416"/>
            <a:ext cx="10922000" cy="13385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0"/>
              </a:lnSpc>
            </a:pPr>
            <a:r>
              <a:rPr sz="6200" b="0" i="0">
                <a:solidFill>
                  <a:srgbClr val="FFFFFF"/>
                </a:solidFill>
                <a:latin typeface="Alfa Slab One"/>
              </a:rPr>
              <a:t>Merci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5000" y="2835656"/>
            <a:ext cx="109220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 spc="140">
                <a:solidFill>
                  <a:srgbClr val="1AAB70"/>
                </a:solidFill>
                <a:latin typeface="Poppins"/>
              </a:rPr>
              <a:t>pour votre attention !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540000" y="3708400"/>
            <a:ext cx="71120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2514600" y="3951224"/>
            <a:ext cx="7162800" cy="388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340"/>
              </a:lnSpc>
            </a:pPr>
            <a:r>
              <a:rPr sz="1800" b="0" i="0">
                <a:solidFill>
                  <a:srgbClr val="1F5E3A"/>
                </a:solidFill>
                <a:latin typeface="Alfa Slab One"/>
              </a:rPr>
              <a:t>Nene Halimatou Sahdiya Diallo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14600" y="4373880"/>
            <a:ext cx="7162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Fondatrice &amp; CEO — Sadiya Digital Agri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5080000" y="4724400"/>
            <a:ext cx="20320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2514600" y="4883506"/>
            <a:ext cx="7162800" cy="1986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96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Dakar, Sénégal   ·   Communication digitale &amp; agro-industrie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387600" y="5569712"/>
            <a:ext cx="7416800" cy="4000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95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Sadiya Digital Agri accompagne les entreprises agroalimentaires sénégalaises pour mieux communiquer, valoriser leurs</a:t>
            </a:r>
          </a:p>
          <a:p>
            <a:pPr algn="ctr">
              <a:lnSpc>
                <a:spcPts val="1395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produits et développer leur visibilité grâce au digital.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69" name="Picture 68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