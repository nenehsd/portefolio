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33172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78000" y="1625600"/>
            <a:ext cx="8636000" cy="4648200"/>
          </a:xfrm>
          <a:prstGeom prst="roundRect">
            <a:avLst>
              <a:gd name="adj" fmla="val 491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03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3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3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3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3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3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0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0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0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0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0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7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4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4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4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4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4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4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4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1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1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1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1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1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1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1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11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1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1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1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8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8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8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8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38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8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8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38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8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8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8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8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5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5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65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5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65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65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65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65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5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65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5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76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76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1176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176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176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176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176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6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176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03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03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303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03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303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303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303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03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1303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303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30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430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430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30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430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430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430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430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430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30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1557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557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557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557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557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1557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1557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557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557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557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684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684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684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684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84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684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684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684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684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684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811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811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811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11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811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11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811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11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811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811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938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38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1938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938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1938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938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938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938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938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938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14000" y="5080000"/>
            <a:ext cx="1778000" cy="1193800"/>
          </a:xfrm>
          <a:custGeom>
            <a:avLst/>
            <a:gdLst/>
            <a:ahLst/>
            <a:cxnLst/>
            <a:rect l="l" t="t" r="r" b="b"/>
            <a:pathLst>
              <a:path w="1778000" h="1193800">
                <a:moveTo>
                  <a:pt x="0" y="0"/>
                </a:moveTo>
                <a:lnTo>
                  <a:pt x="1778000" y="0"/>
                </a:lnTo>
                <a:lnTo>
                  <a:pt x="1778000" y="1193800"/>
                </a:lnTo>
                <a:lnTo>
                  <a:pt x="508000" y="11938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logo_fabr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30200"/>
            <a:ext cx="1498600" cy="1003300"/>
          </a:xfrm>
          <a:prstGeom prst="rect">
            <a:avLst/>
          </a:prstGeom>
        </p:spPr>
      </p:pic>
      <p:pic>
        <p:nvPicPr>
          <p:cNvPr id="161" name="Picture 160" descr="logo_simpl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381000"/>
            <a:ext cx="1625600" cy="825500"/>
          </a:xfrm>
          <a:prstGeom prst="rect">
            <a:avLst/>
          </a:prstGeom>
        </p:spPr>
      </p:pic>
      <p:pic>
        <p:nvPicPr>
          <p:cNvPr id="162" name="Picture 161" descr="hero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0" y="279400"/>
            <a:ext cx="4775200" cy="23749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2387600" y="2887472"/>
            <a:ext cx="7416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sz="2900" b="0" i="0" spc="80">
                <a:solidFill>
                  <a:srgbClr val="FFFFFF"/>
                </a:solidFill>
                <a:latin typeface="Alfa Slab One"/>
              </a:rPr>
              <a:t>SADIYA DIGITAL AGRI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9464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0678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2387600" y="3416300"/>
            <a:ext cx="7416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 spc="140">
                <a:solidFill>
                  <a:srgbClr val="1AAB70"/>
                </a:solidFill>
                <a:latin typeface="Poppins"/>
              </a:rPr>
              <a:t>DESIGN &amp; COMMUNITY MANAGEMENT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95600" y="3763264"/>
            <a:ext cx="6400800" cy="426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Votre partenaire en production agricole</a:t>
            </a:r>
          </a:p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et communication digitale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810000" y="4368800"/>
            <a:ext cx="4572000" cy="0"/>
          </a:xfrm>
          <a:prstGeom prst="line">
            <a:avLst/>
          </a:prstGeom>
          <a:ln w="889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2387600" y="4492752"/>
            <a:ext cx="7416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320">
                <a:solidFill>
                  <a:srgbClr val="FFFFFF"/>
                </a:solidFill>
                <a:latin typeface="Poppins"/>
              </a:rPr>
              <a:t>SIMPLON SÉNÉGAL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87600" y="4833518"/>
            <a:ext cx="7416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 spc="240">
                <a:solidFill>
                  <a:srgbClr val="1AAB70"/>
                </a:solidFill>
                <a:latin typeface="Poppins"/>
              </a:rPr>
              <a:t>PROGRAMME DE PRÉ-INCUBATION 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7600" y="5087112"/>
            <a:ext cx="741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1">
                <a:solidFill>
                  <a:srgbClr val="9FB8A2"/>
                </a:solidFill>
                <a:latin typeface="Poppins"/>
              </a:rPr>
              <a:t>Juillet – Septembre 2026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921000" y="5410200"/>
            <a:ext cx="6350000" cy="406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2895600" y="5513832"/>
            <a:ext cx="640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Présentatrice : Nene Halimatou Sahdiya Diallo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895600" y="59009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0" i="0">
                <a:solidFill>
                  <a:srgbClr val="9FB8A2"/>
                </a:solidFill>
                <a:latin typeface="Poppins"/>
              </a:rPr>
              <a:t>Fondatrice &amp; CEO — Sadiya Digital Agri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POINT DE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Contexte &amp; Problématique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secteur qui produit beaucoup, mais qui se vend mal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113280"/>
            <a:ext cx="640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LE CONTEXTE — UN MARCHÉ PORTEUR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AAB70"/>
                </a:solidFill>
                <a:latin typeface="Alfa Slab One"/>
              </a:rPr>
              <a:t>11,5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utilisateurs internet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60,6 % de pénétration, fin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F5E3A"/>
                </a:solidFill>
                <a:latin typeface="Alfa Slab One"/>
              </a:rPr>
              <a:t>5,42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identités sur les réseaux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28,5 % de la population, fin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56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756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42612D"/>
                </a:solidFill>
                <a:latin typeface="Alfa Slab One"/>
              </a:rPr>
              <a:t>63 %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des PMI industrielles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évoluent dans l'agroalimentaire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38608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AAB7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5000" y="39644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Les Sénégalais passent en moyenne 2 h 24 par jour sur les réseaux sociaux.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4348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FFB800"/>
                </a:solidFill>
                <a:latin typeface="Poppins"/>
              </a:rPr>
              <a:t>LA PROBLÉMATIQUE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398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2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Présence faible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Des pages inactives, peu de contenu.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180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3180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5974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038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Pas de stratégie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On publie sans objectif ni calendrier.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756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79756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2550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14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Aucune conversion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 la visibilité, mais pas de clients.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0400" y="58420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5000" y="59456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Des produits de qualité restent invisibles pendant que les marques importées occupent le terrain.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7404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duits_loc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787400"/>
            <a:ext cx="6045200" cy="56134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5207000" y="0"/>
            <a:ext cx="3683000" cy="990600"/>
          </a:xfrm>
          <a:custGeom>
            <a:avLst/>
            <a:gdLst/>
            <a:ahLst/>
            <a:cxnLst/>
            <a:rect l="l" t="t" r="r" b="b"/>
            <a:pathLst>
              <a:path w="3683000" h="990600">
                <a:moveTo>
                  <a:pt x="0" y="0"/>
                </a:moveTo>
                <a:lnTo>
                  <a:pt x="3683000" y="0"/>
                </a:lnTo>
                <a:lnTo>
                  <a:pt x="2921000" y="990600"/>
                </a:lnTo>
                <a:lnTo>
                  <a:pt x="762000" y="990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8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5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5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5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5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5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2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2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2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2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2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9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9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9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9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9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9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9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9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9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6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36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6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6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6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6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6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6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63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3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63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3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3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63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3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3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3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3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2000" y="15361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DU LOCAL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23235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AAB70"/>
                </a:solidFill>
                <a:latin typeface="Alfa Slab One"/>
              </a:rPr>
              <a:t>AU DIGITAL,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7400" y="3327400"/>
            <a:ext cx="584200" cy="4445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62000" y="3577336"/>
            <a:ext cx="4419600" cy="87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Si nos produits ne sont pas visibles,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comment donner envie de les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consommer 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4960925"/>
            <a:ext cx="4470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Au Sénégal, des centaines de PME agroalimentaires produisent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d'excellents produits locaux… mais restent invisibles en ligne.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0"/>
            <a:ext cx="3302000" cy="1117600"/>
          </a:xfrm>
          <a:custGeom>
            <a:avLst/>
            <a:gdLst/>
            <a:ahLst/>
            <a:cxnLst/>
            <a:rect l="l" t="t" r="r" b="b"/>
            <a:pathLst>
              <a:path w="3302000" h="1117600">
                <a:moveTo>
                  <a:pt x="0" y="0"/>
                </a:moveTo>
                <a:lnTo>
                  <a:pt x="3302000" y="0"/>
                </a:lnTo>
                <a:lnTo>
                  <a:pt x="3302000" y="1117600"/>
                </a:lnTo>
                <a:lnTo>
                  <a:pt x="1244600" y="1117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74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74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74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74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74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74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74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268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268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268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68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268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68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268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792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792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3792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792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792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792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3792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16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5316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316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5316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5316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5316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5316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840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6840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840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6840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840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6840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840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836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836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836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836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836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36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836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0400" y="5588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74700" y="540512"/>
            <a:ext cx="513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90">
                <a:solidFill>
                  <a:srgbClr val="1AAB70"/>
                </a:solidFill>
                <a:latin typeface="Poppins"/>
              </a:rPr>
              <a:t>NOTRE RÉPONSE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706120"/>
            <a:ext cx="6400800" cy="863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4000" b="0" i="0">
                <a:solidFill>
                  <a:srgbClr val="1F5E3A"/>
                </a:solidFill>
                <a:latin typeface="Alfa Slab One"/>
              </a:rPr>
              <a:t>La Solution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0400" y="1676400"/>
            <a:ext cx="4826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660400" y="1676400"/>
            <a:ext cx="48260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057400"/>
            <a:ext cx="3708400" cy="149860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791200" y="1676400"/>
            <a:ext cx="5740400" cy="1905000"/>
          </a:xfrm>
          <a:prstGeom prst="roundRect">
            <a:avLst>
              <a:gd name="adj" fmla="val 8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121400" y="2021840"/>
            <a:ext cx="5130800" cy="1022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Une agence de community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management spécialisée dans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l'agro-industrie sénégalaise.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46800" y="3098800"/>
            <a:ext cx="7620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604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6604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39800" y="4140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112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577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3208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Stratégie Social Media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Objectifs, réseaux et ligne éditoriale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180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43180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4597400" y="4140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6688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7153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9784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Création de Contenu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Visuels, carrousels et vidéos courtes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56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79756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255000" y="4140200"/>
            <a:ext cx="279400" cy="2794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83264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3729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6360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Gestion de Communauté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Animation, modération et relation client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0400" y="5689600"/>
            <a:ext cx="10871200" cy="533400"/>
          </a:xfrm>
          <a:prstGeom prst="roundRect">
            <a:avLst>
              <a:gd name="adj" fmla="val 21428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35000" y="58282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La double expertise agriculture + digital, unique sur ce marché.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684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1168400"/>
            <a:ext cx="12192000" cy="5689600"/>
          </a:xfrm>
          <a:prstGeom prst="rect">
            <a:avLst/>
          </a:prstGeom>
          <a:solidFill>
            <a:srgbClr val="E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35000" y="302768"/>
            <a:ext cx="76708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0A1A01"/>
                </a:solidFill>
                <a:latin typeface="Alfa Slab One"/>
              </a:rPr>
              <a:t>NOTRE MARCHÉ 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200" y="786384"/>
            <a:ext cx="8178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0" i="0">
                <a:solidFill>
                  <a:srgbClr val="42612D"/>
                </a:solidFill>
                <a:latin typeface="Poppins"/>
              </a:rPr>
              <a:t>Un marché 100 % B2B au cœur de l'agroalimentaire sénégalais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330200"/>
            <a:ext cx="939800" cy="381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937000" y="1676400"/>
            <a:ext cx="4318000" cy="1930400"/>
          </a:xfrm>
          <a:prstGeom prst="roundRect">
            <a:avLst>
              <a:gd name="adj" fmla="val 855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11600" y="18582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 spc="13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2172208"/>
            <a:ext cx="4114800" cy="6813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Digitaliser la visibilité</a:t>
            </a:r>
          </a:p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et la commercialisation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3105912"/>
            <a:ext cx="411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des acteurs agroalimentaires sénégalais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2946400" cy="914400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63600" y="2387600"/>
            <a:ext cx="431800" cy="431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1079500" y="2578100"/>
            <a:ext cx="0" cy="177800"/>
          </a:xfrm>
          <a:prstGeom prst="line">
            <a:avLst/>
          </a:prstGeom>
          <a:ln w="22860">
            <a:solidFill>
              <a:srgbClr val="1F5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39800" y="2565400"/>
            <a:ext cx="152400" cy="1143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6800" y="2501900"/>
            <a:ext cx="152400" cy="1143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2500" y="2743200"/>
            <a:ext cx="254000" cy="381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97000" y="2463800"/>
            <a:ext cx="20574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PRODUCTEURS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85200" y="2133600"/>
            <a:ext cx="2946400" cy="914400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788400" y="2387600"/>
            <a:ext cx="431800" cy="431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8890000" y="2578100"/>
            <a:ext cx="228600" cy="190500"/>
          </a:xfrm>
          <a:custGeom>
            <a:avLst/>
            <a:gdLst/>
            <a:ahLst/>
            <a:cxnLst/>
            <a:rect l="l" t="t" r="r" b="b"/>
            <a:pathLst>
              <a:path w="228600" h="190500">
                <a:moveTo>
                  <a:pt x="0" y="0"/>
                </a:moveTo>
                <a:lnTo>
                  <a:pt x="228600" y="0"/>
                </a:lnTo>
                <a:lnTo>
                  <a:pt x="203200" y="190500"/>
                </a:lnTo>
                <a:lnTo>
                  <a:pt x="25400" y="190500"/>
                </a:lnTo>
                <a:close/>
              </a:path>
            </a:pathLst>
          </a:cu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40800" y="2476500"/>
            <a:ext cx="127000" cy="139700"/>
          </a:xfrm>
          <a:prstGeom prst="ellipse">
            <a:avLst/>
          </a:prstGeom>
          <a:noFill/>
          <a:ln w="22860">
            <a:solidFill>
              <a:srgbClr val="1F5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40800" y="2552700"/>
            <a:ext cx="127000" cy="6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1800" y="2463800"/>
            <a:ext cx="20574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ACHETEURS PRO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7400" y="4318000"/>
            <a:ext cx="2870200" cy="914400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90600" y="4572000"/>
            <a:ext cx="431800" cy="431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66800" y="4787900"/>
            <a:ext cx="279400" cy="177800"/>
          </a:xfrm>
          <a:prstGeom prst="roundRect">
            <a:avLst>
              <a:gd name="adj" fmla="val 1071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1104900" y="4686300"/>
            <a:ext cx="63500" cy="101600"/>
          </a:xfrm>
          <a:prstGeom prst="roundRect">
            <a:avLst>
              <a:gd name="adj" fmla="val 2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Freeform 28"/>
          <p:cNvSpPr/>
          <p:nvPr/>
        </p:nvSpPr>
        <p:spPr>
          <a:xfrm>
            <a:off x="1193800" y="4787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76200"/>
                </a:moveTo>
                <a:lnTo>
                  <a:pt x="76200" y="0"/>
                </a:lnTo>
                <a:lnTo>
                  <a:pt x="76200" y="76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270000" y="4787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76200"/>
                </a:moveTo>
                <a:lnTo>
                  <a:pt x="76200" y="0"/>
                </a:lnTo>
                <a:lnTo>
                  <a:pt x="76200" y="76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24000" y="4648200"/>
            <a:ext cx="19812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TRANSFORMATEURS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48200" y="4597400"/>
            <a:ext cx="2895600" cy="914400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4851400" y="4851400"/>
            <a:ext cx="431800" cy="431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927600" y="4978400"/>
            <a:ext cx="114300" cy="1143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035550" y="4978400"/>
            <a:ext cx="139700" cy="1397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143500" y="4978400"/>
            <a:ext cx="114300" cy="1143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902200" y="5130800"/>
            <a:ext cx="330200" cy="1143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384800" y="4927600"/>
            <a:ext cx="2006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GIE &amp; COOPÉRATIVES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34400" y="4318000"/>
            <a:ext cx="2946400" cy="914400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737600" y="4572000"/>
            <a:ext cx="431800" cy="431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801100" y="4749800"/>
            <a:ext cx="177800" cy="139700"/>
          </a:xfrm>
          <a:prstGeom prst="roundRect">
            <a:avLst>
              <a:gd name="adj" fmla="val 13636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Freeform 41"/>
          <p:cNvSpPr/>
          <p:nvPr/>
        </p:nvSpPr>
        <p:spPr>
          <a:xfrm>
            <a:off x="8978900" y="4800600"/>
            <a:ext cx="127000" cy="88900"/>
          </a:xfrm>
          <a:custGeom>
            <a:avLst/>
            <a:gdLst/>
            <a:ahLst/>
            <a:cxnLst/>
            <a:rect l="l" t="t" r="r" b="b"/>
            <a:pathLst>
              <a:path w="127000" h="88900">
                <a:moveTo>
                  <a:pt x="0" y="0"/>
                </a:moveTo>
                <a:lnTo>
                  <a:pt x="76200" y="0"/>
                </a:lnTo>
                <a:lnTo>
                  <a:pt x="127000" y="50800"/>
                </a:lnTo>
                <a:lnTo>
                  <a:pt x="127000" y="88900"/>
                </a:lnTo>
                <a:lnTo>
                  <a:pt x="0" y="88900"/>
                </a:lnTo>
                <a:close/>
              </a:path>
            </a:pathLst>
          </a:cu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839200" y="4876800"/>
            <a:ext cx="88900" cy="889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991600" y="4876800"/>
            <a:ext cx="88900" cy="889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71000" y="4648200"/>
            <a:ext cx="20574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DISTRIBUTEURS</a:t>
            </a:r>
          </a:p>
        </p:txBody>
      </p:sp>
      <p:cxnSp>
        <p:nvCxnSpPr>
          <p:cNvPr id="46" name="Connector 45"/>
          <p:cNvCxnSpPr/>
          <p:nvPr/>
        </p:nvCxnSpPr>
        <p:spPr>
          <a:xfrm flipH="1" flipV="1">
            <a:off x="3606800" y="2590800"/>
            <a:ext cx="2489200" cy="6858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096000" y="2590800"/>
            <a:ext cx="2489200" cy="6858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3657600" y="3276600"/>
            <a:ext cx="2438400" cy="1346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6000" y="3276600"/>
            <a:ext cx="0" cy="14478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96000" y="3276600"/>
            <a:ext cx="2438400" cy="1346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NOTRE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La stratégie TOMSTER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Six étapes pour transformer une présence digitale en opportunités commerciales.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514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56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À qui je m'adresse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597400" y="2514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32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Objectives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32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veux accomplir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56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9756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255000" y="2514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42612D"/>
                </a:solidFill>
                <a:latin typeface="Alfa Slab One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Message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dis, et comment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604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39800" y="4419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56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Strategy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256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Mon approche globale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80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43180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597400" y="4419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32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Tactics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832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Mes actions concrètes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756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79756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255000" y="4419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560316"/>
            <a:ext cx="6096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560"/>
              </a:lnSpc>
            </a:pPr>
            <a:r>
              <a:rPr sz="1200" b="0" i="0">
                <a:solidFill>
                  <a:srgbClr val="42612D"/>
                </a:solidFill>
                <a:latin typeface="Alfa Slab One"/>
              </a:rPr>
              <a:t>E+R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408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Execution &amp; Results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08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Je produis, je mesure, j'ajuste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qui nous adressons-nous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B2B concentré, identifiable et joignable directement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10871200" cy="3175000"/>
          </a:xfrm>
          <a:prstGeom prst="roundRect">
            <a:avLst>
              <a:gd name="adj" fmla="val 48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219200" y="2616200"/>
            <a:ext cx="1625600" cy="1625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3800" y="2993136"/>
            <a:ext cx="1676400" cy="1122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6760"/>
              </a:lnSpc>
            </a:pPr>
            <a:r>
              <a:rPr sz="5200" b="0" i="0">
                <a:solidFill>
                  <a:srgbClr val="1AAB70"/>
                </a:solidFill>
                <a:latin typeface="Alfa Slab One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000" y="2545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80">
                <a:solidFill>
                  <a:srgbClr val="1AAB70"/>
                </a:solidFill>
                <a:latin typeface="Poppins"/>
              </a:rPr>
              <a:t>PERSONA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2000" y="2779776"/>
            <a:ext cx="7162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Aminata, 36 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7400" y="3479800"/>
            <a:ext cx="8128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02000" y="3679952"/>
            <a:ext cx="7670800" cy="328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0" i="0">
                <a:solidFill>
                  <a:srgbClr val="FFFFFF"/>
                </a:solidFill>
                <a:latin typeface="Poppins"/>
              </a:rPr>
              <a:t>Directrice générale d'une PME de transformation de fruits et légumes à Dakar.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192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12192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4224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BESOIN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4702048"/>
            <a:ext cx="29210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Faire connaître ses gammes de jus</a:t>
            </a:r>
          </a:p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locaux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244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7244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9276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FREIN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276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Manque de temps et d'expertise interne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2296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328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28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LinkedIn · Facebook · TikTok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5635752"/>
            <a:ext cx="109220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0" i="0">
                <a:solidFill>
                  <a:srgbClr val="1F5E3A"/>
                </a:solidFill>
                <a:latin typeface="Alfa Slab One"/>
              </a:rPr>
              <a:t>« De bons produits locaux, mais ni le temps ni les compétences pour les rendre visibles.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O ·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accomplir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objectifs SMART, mesurables et échelonnés sur les 6 premiers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AAB70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abonnés qualifiés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8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398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3 mois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F5E3A"/>
                </a:solidFill>
                <a:latin typeface="Poppins"/>
              </a:rPr>
              <a:t>PROSPECTION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demandes qualifiées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974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974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42612D"/>
                </a:solidFill>
                <a:latin typeface="Poppins"/>
              </a:rPr>
              <a:t>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contrats signés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550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550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296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0400" y="5232400"/>
            <a:ext cx="10871200" cy="660400"/>
          </a:xfrm>
          <a:prstGeom prst="roundRect">
            <a:avLst>
              <a:gd name="adj" fmla="val 1730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5000" y="54010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1" i="0" spc="80">
                <a:solidFill>
                  <a:srgbClr val="1AAB70"/>
                </a:solidFill>
                <a:latin typeface="Poppins"/>
              </a:rPr>
              <a:t>Visibilité  ›  Engagement  ›  Prospects  ›  Clients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M ·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positionnement clair, une proposition de valeur unique, un ton reconnaissable.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6934200" cy="1371600"/>
          </a:xfrm>
          <a:prstGeom prst="roundRect">
            <a:avLst>
              <a:gd name="adj" fmla="val 9259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9800" y="22910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PROPOSITION DE 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558288"/>
            <a:ext cx="6400800" cy="617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« Rendre les produits locaux sénégalais aussi visibles</a:t>
            </a:r>
          </a:p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en ligne qu'ils le sont dans les rayons.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97800" y="2108200"/>
            <a:ext cx="37338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797800" y="2108200"/>
            <a:ext cx="50800" cy="1371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51800" y="22910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POSITIONNEMENT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1800" y="2568448"/>
            <a:ext cx="3251200" cy="7054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L'agence qui combine expertise agricole et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maîtrise digitale au service de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l'agroalimentaire.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37388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NOS MESSAGES CLÉS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0400" y="40386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38200" y="41910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42128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1686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Sadiya Digital Agri comprend à la fois l'agriculture et le digital.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46228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38200" y="47752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47970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600" y="47528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Les produits cultivés et transformés au Sénégal méritent d'être visibles en ligne.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52070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8200" y="53594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53812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7600" y="53370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Nous transformons votre présence sociale en visibilité, communauté et opportunités.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97800" y="3759200"/>
            <a:ext cx="3733800" cy="2311400"/>
          </a:xfrm>
          <a:prstGeom prst="roundRect">
            <a:avLst>
              <a:gd name="adj" fmla="val 49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51800" y="39674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TON DE VOIX</a:t>
            </a:r>
          </a:p>
        </p:txBody>
      </p:sp>
      <p:sp>
        <p:nvSpPr>
          <p:cNvPr id="32" name="Oval 31"/>
          <p:cNvSpPr/>
          <p:nvPr/>
        </p:nvSpPr>
        <p:spPr>
          <a:xfrm>
            <a:off x="8077200" y="43434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142111" y="44732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184444" y="44252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32800" y="43550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Professionnel</a:t>
            </a:r>
          </a:p>
        </p:txBody>
      </p:sp>
      <p:sp>
        <p:nvSpPr>
          <p:cNvPr id="36" name="Oval 35"/>
          <p:cNvSpPr/>
          <p:nvPr/>
        </p:nvSpPr>
        <p:spPr>
          <a:xfrm>
            <a:off x="8077200" y="47752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142111" y="49050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184444" y="48570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32800" y="47868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Chaleureux</a:t>
            </a:r>
          </a:p>
        </p:txBody>
      </p:sp>
      <p:sp>
        <p:nvSpPr>
          <p:cNvPr id="40" name="Oval 39"/>
          <p:cNvSpPr/>
          <p:nvPr/>
        </p:nvSpPr>
        <p:spPr>
          <a:xfrm>
            <a:off x="8077200" y="52070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142111" y="53368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184444" y="52888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32800" y="52186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Pédagogique</a:t>
            </a:r>
          </a:p>
        </p:txBody>
      </p:sp>
      <p:sp>
        <p:nvSpPr>
          <p:cNvPr id="44" name="Oval 43"/>
          <p:cNvSpPr/>
          <p:nvPr/>
        </p:nvSpPr>
        <p:spPr>
          <a:xfrm>
            <a:off x="8077200" y="56388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8142111" y="57686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184444" y="57206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432800" y="56504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Dynamique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 approche globale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réseaux, trois rôles complémentaires dans un parcours unique.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TikTok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AAB70"/>
                </a:solidFill>
                <a:latin typeface="Poppins"/>
              </a:rPr>
              <a:t>Réseau de visibilité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398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Attirer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94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Facebook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F5E3A"/>
                </a:solidFill>
                <a:latin typeface="Poppins"/>
              </a:rPr>
              <a:t>Réseau principal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974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5974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720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Engager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70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LinkedIn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42612D"/>
                </a:solidFill>
                <a:latin typeface="Poppins"/>
              </a:rPr>
              <a:t>Réseau B2B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550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550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Convertir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0400" y="4419600"/>
            <a:ext cx="10871200" cy="685800"/>
          </a:xfrm>
          <a:prstGeom prst="roundRect">
            <a:avLst>
              <a:gd name="adj" fmla="val 16666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9800" y="46426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PARCOURS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9000" y="4608068"/>
            <a:ext cx="9194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FFFFFF"/>
                </a:solidFill>
                <a:latin typeface="Poppins"/>
              </a:rPr>
              <a:t>TikTok attire  ›  Facebook fédère  ›  LinkedIn crédibilise  ›  convertir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53136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5 PILIERS ÉDITORIAUX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Éducation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448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8194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Valorisation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038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Expertise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136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1882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Offres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980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726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Communauté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Quelles actions concrètes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calendrier éditorial réaliste : 3 jours de publication par semaine.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330200"/>
          </a:xfrm>
          <a:prstGeom prst="roundRect">
            <a:avLst>
              <a:gd name="adj" fmla="val 1923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8200" y="21915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200" y="2191512"/>
            <a:ext cx="195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1915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CONTENU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1915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OBJECTIF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400" y="25400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60400" y="25400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8200" y="26817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MARDI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1200" y="26837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Facebook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26837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Post + visuel expert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7600" y="26670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72200" y="26995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Crédibilité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31242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4F7F5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60400" y="31242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32659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VENDREDI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81200" y="32679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Facebook + TikTok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32679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Carrousel + vidéo courte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7600" y="32512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72200" y="32837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Engagement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37084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37084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8200" y="38501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DIMANCHE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81200" y="38521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TikTok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38521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Storytelling / étude de cas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7600" y="38354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172200" y="38679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Prospection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5262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ANIMATION DE LA COMMUNAUTÉ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2-3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stories / sem.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01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0447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955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sondage / sem.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798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544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052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Q&amp;R / 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895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641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49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live / mois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992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738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1-2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46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défis TikTok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97800" y="2133600"/>
            <a:ext cx="3733800" cy="3327400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F5E3A"/>
                </a:solidFill>
                <a:latin typeface="Poppins"/>
              </a:rPr>
              <a:t>MOYENS MOBILISÉS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77200" y="2781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280400" y="2693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Canva Free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7200" y="3162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80400" y="3074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CapCut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77200" y="3543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280400" y="3455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Meta Business Suite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77200" y="3924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280400" y="3836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TikTok Studio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7200" y="4305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80400" y="4217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LinkedIn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77200" y="4686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280400" y="4598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Drive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77200" y="5067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280400" y="4979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Sheets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E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Comment je produis et j'anime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production organisée, une modération cadrée, une relation client rapide.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387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Production</a:t>
            </a:r>
          </a:p>
        </p:txBody>
      </p:sp>
      <p:sp>
        <p:nvSpPr>
          <p:cNvPr id="15" name="Oval 14"/>
          <p:cNvSpPr/>
          <p:nvPr/>
        </p:nvSpPr>
        <p:spPr>
          <a:xfrm>
            <a:off x="944880" y="304736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95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Thèmes définis en début de mois</a:t>
            </a:r>
          </a:p>
        </p:txBody>
      </p:sp>
      <p:sp>
        <p:nvSpPr>
          <p:cNvPr id="17" name="Oval 16"/>
          <p:cNvSpPr/>
          <p:nvPr/>
        </p:nvSpPr>
        <p:spPr>
          <a:xfrm>
            <a:off x="944880" y="338264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95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créés en avance</a:t>
            </a:r>
          </a:p>
        </p:txBody>
      </p:sp>
      <p:sp>
        <p:nvSpPr>
          <p:cNvPr id="19" name="Oval 18"/>
          <p:cNvSpPr/>
          <p:nvPr/>
        </p:nvSpPr>
        <p:spPr>
          <a:xfrm>
            <a:off x="944880" y="371792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95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Programmation Meta Suite &amp; TikTok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97400" y="23876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38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Modération</a:t>
            </a:r>
          </a:p>
        </p:txBody>
      </p:sp>
      <p:sp>
        <p:nvSpPr>
          <p:cNvPr id="26" name="Oval 25"/>
          <p:cNvSpPr/>
          <p:nvPr/>
        </p:nvSpPr>
        <p:spPr>
          <a:xfrm>
            <a:off x="4602480" y="304736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71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Ton professionnel et respectueux</a:t>
            </a:r>
          </a:p>
        </p:txBody>
      </p:sp>
      <p:sp>
        <p:nvSpPr>
          <p:cNvPr id="28" name="Oval 27"/>
          <p:cNvSpPr/>
          <p:nvPr/>
        </p:nvSpPr>
        <p:spPr>
          <a:xfrm>
            <a:off x="4602480" y="338264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371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Critiques constructives conservées</a:t>
            </a:r>
          </a:p>
        </p:txBody>
      </p:sp>
      <p:sp>
        <p:nvSpPr>
          <p:cNvPr id="30" name="Oval 29"/>
          <p:cNvSpPr/>
          <p:nvPr/>
        </p:nvSpPr>
        <p:spPr>
          <a:xfrm>
            <a:off x="4602480" y="371792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71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Réclamations traitées en privé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56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255000" y="2387600"/>
            <a:ext cx="304800" cy="304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614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Relation client</a:t>
            </a:r>
          </a:p>
        </p:txBody>
      </p:sp>
      <p:sp>
        <p:nvSpPr>
          <p:cNvPr id="37" name="Oval 36"/>
          <p:cNvSpPr/>
          <p:nvPr/>
        </p:nvSpPr>
        <p:spPr>
          <a:xfrm>
            <a:off x="8260080" y="304736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7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Surveillance quotidienne</a:t>
            </a:r>
          </a:p>
        </p:txBody>
      </p:sp>
      <p:sp>
        <p:nvSpPr>
          <p:cNvPr id="39" name="Oval 38"/>
          <p:cNvSpPr/>
          <p:nvPr/>
        </p:nvSpPr>
        <p:spPr>
          <a:xfrm>
            <a:off x="8260080" y="338264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7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Réponse sous 24 h ouvrées</a:t>
            </a:r>
          </a:p>
        </p:txBody>
      </p:sp>
      <p:sp>
        <p:nvSpPr>
          <p:cNvPr id="41" name="Oval 40"/>
          <p:cNvSpPr/>
          <p:nvPr/>
        </p:nvSpPr>
        <p:spPr>
          <a:xfrm>
            <a:off x="8260080" y="371792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947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Demandes commerciales en privé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0400" y="4749800"/>
            <a:ext cx="10871200" cy="1320800"/>
          </a:xfrm>
          <a:prstGeom prst="roundRect">
            <a:avLst>
              <a:gd name="adj" fmla="val 961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39800" y="4958080"/>
            <a:ext cx="259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PLAN BAD BUZZ</a:t>
            </a:r>
          </a:p>
        </p:txBody>
      </p:sp>
      <p:sp>
        <p:nvSpPr>
          <p:cNvPr id="45" name="Oval 44"/>
          <p:cNvSpPr/>
          <p:nvPr/>
        </p:nvSpPr>
        <p:spPr>
          <a:xfrm>
            <a:off x="965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9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0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Identifier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3368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26924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670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480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Vérifier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0640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4196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42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752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Répondre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7912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61468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14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24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Traiter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5184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8740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486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Suivre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2456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9601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75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56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Tirer les leçons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9800" y="5692648"/>
            <a:ext cx="894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1">
                <a:solidFill>
                  <a:srgbClr val="9FB8A2"/>
                </a:solidFill>
                <a:latin typeface="Poppins"/>
              </a:rPr>
              <a:t>Règle d'or : ne jamais répondre sous le coup de l'émotion.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R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Est-ce que ça marche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KPI clairs par objectif, un bilan hebdomadaire et mensuel.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9800" y="22438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800" y="25577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Abonnés · portée · impressions · vues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22795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Facebook, LinkedIn, TikTok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8400" y="26162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53000" y="26372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31242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31242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9800" y="32344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Prospects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35483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Messages · demandes · clics · leads qualifiés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2701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+ tableau de suivi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78400" y="36068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953000" y="36278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Hebdo + mensuel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1148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41148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9800" y="42250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Conversion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800" y="45389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Prospects convertis · contrats · taux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3000" y="42607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Tableau de suivi commercial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78400" y="45974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53000" y="46184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97800" y="2133600"/>
            <a:ext cx="3733800" cy="2971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40">
                <a:solidFill>
                  <a:srgbClr val="1F5E3A"/>
                </a:solidFill>
                <a:latin typeface="Poppins"/>
              </a:rPr>
              <a:t>BOUCLE D'AMÉLIORATION</a:t>
            </a:r>
          </a:p>
        </p:txBody>
      </p:sp>
      <p:sp>
        <p:nvSpPr>
          <p:cNvPr id="34" name="Oval 33"/>
          <p:cNvSpPr/>
          <p:nvPr/>
        </p:nvSpPr>
        <p:spPr>
          <a:xfrm>
            <a:off x="8077200" y="27178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51800" y="27884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9000" y="27559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Publier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229600" y="30480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077200" y="31750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51800" y="32456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9000" y="32131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Mesurer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29600" y="35052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077200" y="36322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51800" y="37028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9000" y="36703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Analyser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229600" y="39624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8077200" y="40894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51800" y="41600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9000" y="41275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Ajuster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229600" y="44196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077200" y="4546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51800" y="46172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09000" y="45847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Améliorer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0400" y="5334000"/>
            <a:ext cx="6934200" cy="736600"/>
          </a:xfrm>
          <a:prstGeom prst="roundRect">
            <a:avLst>
              <a:gd name="adj" fmla="val 1551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39800" y="5513832"/>
            <a:ext cx="6400800" cy="481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semaine : identifier les contenus performants.</a:t>
            </a:r>
          </a:p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mois : comparer aux objectifs et ajuster.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Nos Offres d'Abonnement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formules mensuelles, plus des prestations à la demande.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9FB8A2"/>
                </a:solidFill>
                <a:latin typeface="Poppins"/>
              </a:rPr>
              <a:t>ESSENTIEL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75 000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372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702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956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176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8 publications / mois</a:t>
            </a:r>
          </a:p>
        </p:txBody>
      </p:sp>
      <p:sp>
        <p:nvSpPr>
          <p:cNvPr id="19" name="Oval 18"/>
          <p:cNvSpPr/>
          <p:nvPr/>
        </p:nvSpPr>
        <p:spPr>
          <a:xfrm>
            <a:off x="9372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702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956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176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Visuels personnalisés</a:t>
            </a:r>
          </a:p>
        </p:txBody>
      </p:sp>
      <p:sp>
        <p:nvSpPr>
          <p:cNvPr id="23" name="Oval 22"/>
          <p:cNvSpPr/>
          <p:nvPr/>
        </p:nvSpPr>
        <p:spPr>
          <a:xfrm>
            <a:off x="9372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9702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956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176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Gestion de communauté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8000" y="2057400"/>
            <a:ext cx="3403600" cy="2895600"/>
          </a:xfrm>
          <a:prstGeom prst="roundRect">
            <a:avLst>
              <a:gd name="adj" fmla="val 3947"/>
            </a:avLst>
          </a:prstGeom>
          <a:solidFill>
            <a:srgbClr val="1F5E3A"/>
          </a:solidFill>
          <a:ln w="2032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435600" y="1917700"/>
            <a:ext cx="11684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10200" y="1966163"/>
            <a:ext cx="12192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 spc="80">
                <a:solidFill>
                  <a:srgbClr val="FFFFFF"/>
                </a:solidFill>
                <a:latin typeface="Poppins"/>
              </a:rPr>
              <a:t>RECOMMANDÉ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231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AAB70"/>
                </a:solidFill>
                <a:latin typeface="Poppins"/>
              </a:rPr>
              <a:t>PRO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549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FFFFFF"/>
                </a:solidFill>
                <a:latin typeface="Alfa Slab One"/>
              </a:rPr>
              <a:t>150 000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3180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9FB8A2"/>
                </a:solidFill>
                <a:latin typeface="Poppins"/>
              </a:rPr>
              <a:t>FCFA / mois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97400" y="3378200"/>
            <a:ext cx="2844800" cy="0"/>
          </a:xfrm>
          <a:prstGeom prst="line">
            <a:avLst/>
          </a:prstGeom>
          <a:ln w="1270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594860" y="3603625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4627880" y="3672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53280" y="3636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75200" y="3584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12 publications + 4 vidéos</a:t>
            </a:r>
          </a:p>
        </p:txBody>
      </p:sp>
      <p:sp>
        <p:nvSpPr>
          <p:cNvPr id="38" name="Oval 37"/>
          <p:cNvSpPr/>
          <p:nvPr/>
        </p:nvSpPr>
        <p:spPr>
          <a:xfrm>
            <a:off x="4594860" y="3940429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627880" y="4009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53280" y="3973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75200" y="3921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Animation de communauté</a:t>
            </a:r>
          </a:p>
        </p:txBody>
      </p:sp>
      <p:sp>
        <p:nvSpPr>
          <p:cNvPr id="42" name="Oval 41"/>
          <p:cNvSpPr/>
          <p:nvPr/>
        </p:nvSpPr>
        <p:spPr>
          <a:xfrm>
            <a:off x="4594860" y="4277233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627880" y="4345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653280" y="4310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75200" y="4258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Stratégie éditoriale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756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2296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F5E3A"/>
                </a:solidFill>
                <a:latin typeface="Poppins"/>
              </a:rPr>
              <a:t>PREMIUM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250 000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2550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82524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82854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3108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4328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16 publications + 8 vidéos</a:t>
            </a:r>
          </a:p>
        </p:txBody>
      </p:sp>
      <p:sp>
        <p:nvSpPr>
          <p:cNvPr id="55" name="Oval 54"/>
          <p:cNvSpPr/>
          <p:nvPr/>
        </p:nvSpPr>
        <p:spPr>
          <a:xfrm>
            <a:off x="82524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82854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3108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4328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Stratégie + publicité</a:t>
            </a:r>
          </a:p>
        </p:txBody>
      </p:sp>
      <p:sp>
        <p:nvSpPr>
          <p:cNvPr id="59" name="Oval 58"/>
          <p:cNvSpPr/>
          <p:nvPr/>
        </p:nvSpPr>
        <p:spPr>
          <a:xfrm>
            <a:off x="82524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82854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3108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4328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Reporting mensuel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60400" y="5130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F4F7F5"/>
          </a:solidFill>
          <a:ln w="1270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660400" y="5130800"/>
            <a:ext cx="63500" cy="558800"/>
          </a:xfrm>
          <a:prstGeom prst="roundRect">
            <a:avLst>
              <a:gd name="adj" fmla="val 4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39800" y="52014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50">
                <a:solidFill>
                  <a:srgbClr val="1AAB70"/>
                </a:solidFill>
                <a:latin typeface="Poppins"/>
              </a:rPr>
              <a:t>REVENUS COMPLÉMENTAIRES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9800" y="5400548"/>
            <a:ext cx="9956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à la demande, publicité et stratégie ponctuelle — dès 25 000 FCFA.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000" y="5847080"/>
            <a:ext cx="1092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1">
                <a:solidFill>
                  <a:srgbClr val="42612D"/>
                </a:solidFill>
                <a:latin typeface="Poppins"/>
              </a:rPr>
              <a:t>Paiement mensuel d'avance  ·  engagement 3 mois minimum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Rentabilité &amp;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point mort atteignable dès le troisième client régulier.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36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85 000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FCFA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Charges mensuelles estimées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36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4036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068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68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68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Seuil de rentabilité (offre Pro)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68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1468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500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450 000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FCFA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Revenu mensuel visé à 6 mois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00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890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0932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5,4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32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FCFA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32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Chiffre d'affaires annualisé cible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688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SCÉNARIO DE MONTÉE EN CHARGE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41305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1–3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78000" y="41315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2 clients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41600" y="41148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641600" y="4114800"/>
            <a:ext cx="1038352" cy="279400"/>
          </a:xfrm>
          <a:prstGeom prst="roundRect">
            <a:avLst>
              <a:gd name="adj" fmla="val 5000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6200" y="41315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150 000 FCFA/mois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7147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4–6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78000" y="47157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3 clients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41600" y="46990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2641600" y="4699000"/>
            <a:ext cx="2299208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26200" y="47157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450 000 FCFA/mois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52989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7–12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8000" y="52999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5 clients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26200" y="52999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750 000 FCFA/mois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90000" y="3708400"/>
            <a:ext cx="2641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8890000" y="3708400"/>
            <a:ext cx="2641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093200" y="38933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F5E3A"/>
                </a:solidFill>
                <a:latin typeface="Poppins"/>
              </a:rPr>
              <a:t>CHARGES PRINCIPALES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93200" y="41718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Connexion internet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64800" y="41718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200" y="45020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Déplacements terrain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4800" y="45020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200" y="48322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Outils &amp; abonnements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64800" y="48322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3200" y="51624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Divers &amp; imprévus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4800" y="51624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118600" y="5511800"/>
            <a:ext cx="21844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093200" y="5593080"/>
            <a:ext cx="132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Total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56800" y="5593080"/>
            <a:ext cx="1371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1" i="0">
                <a:solidFill>
                  <a:srgbClr val="1AAB70"/>
                </a:solidFill>
                <a:latin typeface="Poppins"/>
              </a:rPr>
              <a:t>85 000 FCFA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000" y="6102299"/>
            <a:ext cx="817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1">
                <a:solidFill>
                  <a:srgbClr val="42612D"/>
                </a:solidFill>
                <a:latin typeface="Poppins"/>
              </a:rPr>
              <a:t>Hypothèses prudentes : outils gratuits, structure sans salarié.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de Plus Qu'Eux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Comparaison sur les cinq critères qui comptent pour une PME agroalimentaire.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28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990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1AAB70"/>
                </a:solidFill>
                <a:latin typeface="Poppins"/>
              </a:rPr>
              <a:t>75 000 – 250 000 FCFA/mois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04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866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Agences établies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130 000 – 600 000 FCFA/mois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80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742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CM freelance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42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50 000 – 150 000 FCFA/mois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28702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63600" y="29992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Expertise agricole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228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575300" y="29718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646702" y="31146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693269" y="30618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0104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9629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3980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03505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60400" y="34290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63600" y="35580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Spécialisation agro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228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5575300" y="35306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646702" y="36734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693269" y="36206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0104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9629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3980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03505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60400" y="39878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63600" y="41168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Tarifs adaptés aux PME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228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5575300" y="4089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646702" y="42322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693269" y="41794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0104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7962900" y="40894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3980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10350500" y="4089400"/>
            <a:ext cx="279400" cy="279400"/>
          </a:xfrm>
          <a:prstGeom prst="ellipse">
            <a:avLst/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420350" y="4216400"/>
            <a:ext cx="139700" cy="330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660400" y="45466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63600" y="46756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Stratégie structurée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6228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575300" y="4648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6467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6932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0104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7962900" y="4648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80343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80808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3980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10350500" y="46482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660400" y="51054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863600" y="52344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Reporting et mesure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6228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5575300" y="52070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56467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6932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70104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7962900" y="52070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0343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80808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3980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350500" y="52070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660400" y="5740400"/>
            <a:ext cx="10871200" cy="508000"/>
          </a:xfrm>
          <a:prstGeom prst="roundRect">
            <a:avLst>
              <a:gd name="adj" fmla="val 22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35000" y="5867400"/>
            <a:ext cx="109220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Seule offre du marché à combiner expertise agronomique et maîtrise digitale.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déjà réalisé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marque complète, construite de A à Z : logo, charte, bannière et carte de visite.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LOGO</a:t>
            </a:r>
          </a:p>
        </p:txBody>
      </p:sp>
      <p:pic>
        <p:nvPicPr>
          <p:cNvPr id="13" name="Picture 12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641600"/>
            <a:ext cx="2489200" cy="1003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4400" y="37400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Version horizontale couleur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2672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12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PALETTE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66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12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#1F5E3A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72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5118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#1AAB70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278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024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#42612D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66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12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#9FB8A2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72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0A1A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5118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#0A1A01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278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024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#FFFFFF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1200" y="38162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6 couleurs officielles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74000" y="2133600"/>
            <a:ext cx="3657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874000" y="21336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280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TYPOGRAPHIE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2546096"/>
            <a:ext cx="30988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60"/>
              </a:lnSpc>
            </a:pPr>
            <a:r>
              <a:rPr sz="2200" b="0" i="0">
                <a:solidFill>
                  <a:srgbClr val="1F5E3A"/>
                </a:solidFill>
                <a:latin typeface="Alfa Slab One"/>
              </a:rPr>
              <a:t>Sadiya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30043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Alfa Slab One — titres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3165856"/>
            <a:ext cx="3098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AAB70"/>
                </a:solidFill>
                <a:latin typeface="Poppins"/>
              </a:rPr>
              <a:t>Digital Agri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35631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Poppins — sous-titres et textes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38162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Hiérarchie à 3 niveaux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267200"/>
            <a:ext cx="70104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660400" y="4267200"/>
            <a:ext cx="70104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14400" y="44510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BANNIÈRE RÉSEAUX SOCIAUX</a:t>
            </a:r>
          </a:p>
        </p:txBody>
      </p:sp>
      <p:pic>
        <p:nvPicPr>
          <p:cNvPr id="42" name="Picture 41" descr="banni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" y="4724400"/>
            <a:ext cx="6451600" cy="104140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874000" y="4267200"/>
            <a:ext cx="36576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874000" y="42672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128000" y="4451096"/>
            <a:ext cx="3225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CARTE DE VISITE</a:t>
            </a:r>
          </a:p>
        </p:txBody>
      </p:sp>
      <p:pic>
        <p:nvPicPr>
          <p:cNvPr id="46" name="Picture 45" descr="carte_vi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400" y="4749800"/>
            <a:ext cx="30988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Présence Digitale &amp; Outils Maîtrisés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canaux actifs, un site portfolio en ligne et une gestion de projet outillée.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062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CANAUX EN LIGNE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2590800"/>
            <a:ext cx="431800" cy="431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36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Site portfolio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36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En ligne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36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036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2200" y="2590800"/>
            <a:ext cx="431800" cy="431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068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pro LinkedIn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322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6068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68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1468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ce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5400" y="2590800"/>
            <a:ext cx="431800" cy="431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500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Facebook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754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500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900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88900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p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8600" y="2590800"/>
            <a:ext cx="431800" cy="431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932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Meta Business Suite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186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0932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Configurée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40446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40">
                <a:solidFill>
                  <a:srgbClr val="42612D"/>
                </a:solidFill>
                <a:latin typeface="Poppins"/>
              </a:rPr>
              <a:t>AUSSI PRÉSENTE SUR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nstagr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700" y="4406900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160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Instagram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320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tikt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6300" y="4406900"/>
            <a:ext cx="203200" cy="2032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3876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TikTok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036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whatsap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17900" y="4406900"/>
            <a:ext cx="203200" cy="203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59200" y="4416044"/>
            <a:ext cx="863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WhatsApp</a:t>
            </a:r>
          </a:p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Business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752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emai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9500" y="4406900"/>
            <a:ext cx="203200" cy="2032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1308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Email pro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000" y="49072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OUTILS MAÎTRISÉS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04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canv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5384800"/>
            <a:ext cx="381000" cy="381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2700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Canva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700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130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capcu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65400" y="5384800"/>
            <a:ext cx="381000" cy="381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0226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CapCut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226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656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8000" y="5384800"/>
            <a:ext cx="381000" cy="381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47752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Trello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752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Suivi de projet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9182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har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70600" y="5384800"/>
            <a:ext cx="381000" cy="3810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5278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Charte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278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Identité visuelle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874000" y="4064000"/>
            <a:ext cx="3657600" cy="1930400"/>
          </a:xfrm>
          <a:prstGeom prst="roundRect">
            <a:avLst>
              <a:gd name="adj" fmla="val 657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6" name="Picture 65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53400" y="4292600"/>
            <a:ext cx="381000" cy="381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636000" y="4299712"/>
            <a:ext cx="259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SUIVI DE PROJET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36000" y="4437888"/>
            <a:ext cx="2590800" cy="345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Trello</a:t>
            </a:r>
          </a:p>
        </p:txBody>
      </p:sp>
      <p:sp>
        <p:nvSpPr>
          <p:cNvPr id="69" name="Oval 68"/>
          <p:cNvSpPr/>
          <p:nvPr/>
        </p:nvSpPr>
        <p:spPr>
          <a:xfrm>
            <a:off x="8158480" y="492353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93100" y="4881067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Un tableau par client</a:t>
            </a:r>
          </a:p>
        </p:txBody>
      </p:sp>
      <p:sp>
        <p:nvSpPr>
          <p:cNvPr id="71" name="Oval 70"/>
          <p:cNvSpPr/>
          <p:nvPr/>
        </p:nvSpPr>
        <p:spPr>
          <a:xfrm>
            <a:off x="8158480" y="522274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93100" y="5180279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Calendrier éditorial partagé</a:t>
            </a:r>
          </a:p>
        </p:txBody>
      </p:sp>
      <p:sp>
        <p:nvSpPr>
          <p:cNvPr id="73" name="Oval 72"/>
          <p:cNvSpPr/>
          <p:nvPr/>
        </p:nvSpPr>
        <p:spPr>
          <a:xfrm>
            <a:off x="8158480" y="552196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93100" y="5479491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Validation des contenus</a:t>
            </a:r>
          </a:p>
        </p:txBody>
      </p:sp>
      <p:sp>
        <p:nvSpPr>
          <p:cNvPr id="75" name="Oval 74"/>
          <p:cNvSpPr/>
          <p:nvPr/>
        </p:nvSpPr>
        <p:spPr>
          <a:xfrm>
            <a:off x="8158480" y="5821172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3100" y="5778703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Suivi des KPI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Ambitions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Où je veux emmener Sadiya Digital Agri dans les 12 prochains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5200" y="23241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800" y="23802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8600" y="23317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Acquérir mes premiers clients agro-industriels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33000" y="23495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07600" y="24074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0–6 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29210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29210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65200" y="30607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800" y="31168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8600" y="30683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Développer un portefeuille de clients réguliers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33000" y="30861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07600" y="31440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36576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36576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65200" y="3797300"/>
            <a:ext cx="330200" cy="330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9800" y="38534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8600" y="38049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Renforcer mon expertise en publicité en ligne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33000" y="38227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07600" y="38806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400" y="43942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60400" y="43942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65200" y="45339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9800" y="45900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98600" y="45415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Structurer une offre de production vidéo terrain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33000" y="45593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007600" y="46172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9–12 mois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51308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660400" y="51308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965200" y="52705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9800" y="53266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98600" y="52781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Faire de Sadiya Digital Agri une agence reconnue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33000" y="52959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007600" y="53538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12 mois +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0400" y="5994400"/>
            <a:ext cx="10871200" cy="482600"/>
          </a:xfrm>
          <a:prstGeom prst="roundRect">
            <a:avLst>
              <a:gd name="adj" fmla="val 2368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9800" y="6129528"/>
            <a:ext cx="939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40">
                <a:solidFill>
                  <a:srgbClr val="1AAB70"/>
                </a:solidFill>
                <a:latin typeface="Poppins"/>
              </a:rPr>
              <a:t>LE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28800" y="6096000"/>
            <a:ext cx="9448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Faire des produits sénégalais une référence digitale.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L'ÉQUIPE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Notre 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compétences complémentaires : expertise métier, création et développement commercial.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eam_ce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" y="2413000"/>
            <a:ext cx="1600200" cy="2133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82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Nene H. S. Diallo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Fondatrice &amp; CEO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36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AAB70"/>
                </a:solidFill>
                <a:latin typeface="Poppins"/>
              </a:rPr>
              <a:t>Stratégie digitale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30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876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AAB70"/>
                </a:solidFill>
                <a:latin typeface="Poppins"/>
              </a:rPr>
              <a:t>Expertise agro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80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3180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eam_create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700" y="2413000"/>
            <a:ext cx="1600200" cy="2133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4958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Créatrice de contenu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Poste à pourvoir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66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12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F5E3A"/>
                </a:solidFill>
                <a:latin typeface="Poppins"/>
              </a:rPr>
              <a:t>Canva &amp; CapCut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706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0452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F5E3A"/>
                </a:solidFill>
                <a:latin typeface="Poppins"/>
              </a:rPr>
              <a:t>Vidéo terrain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team_commerci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7300" y="2413000"/>
            <a:ext cx="1600200" cy="2133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534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Responsable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Poste à pourvoir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042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1788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Prospection B2B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282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7028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Négociation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5867400"/>
            <a:ext cx="10871200" cy="482600"/>
          </a:xfrm>
          <a:prstGeom prst="roundRect">
            <a:avLst>
              <a:gd name="adj" fmla="val 2368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9800" y="6001512"/>
            <a:ext cx="1524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AUJOURD'HUI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6800" y="5983732"/>
            <a:ext cx="894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Je porte seule l'activité. Recrutements en freelance dès le 3e client.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CE DONT J'AI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Appel à l'Action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financement de 1 850 000 FCFA pour passer à l'échelle.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276600" cy="1473200"/>
          </a:xfrm>
          <a:prstGeom prst="roundRect">
            <a:avLst>
              <a:gd name="adj" fmla="val 862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3439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FINANCEMENT DEMANDÉ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51176"/>
            <a:ext cx="2844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1 850 000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790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FCFA — sur 12 mois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72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958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Équipements de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5800" y="24729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Ordinateur, smartphone, éclairage, 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0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1 020 000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48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9248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534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Abonnements &amp; outils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3400" y="2472944"/>
            <a:ext cx="2387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Meta Ads, Canva Pro, CapCut Pro,</a:t>
            </a:r>
          </a:p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hébergement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16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305 000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72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2672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958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Formations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58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Analytics, marketing B2B, acquisition client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40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275 000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48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9248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534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Site vitrine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Offres, portfolio et formulaire de devis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16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250 000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866896"/>
            <a:ext cx="513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AU-DELÀ DU FINANCEMENT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04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604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90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Accompagnement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0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Mentorat business : offre,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pricing et gestion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80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3180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466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Partenariat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466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Accès aux réseaux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agro-industriels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756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9756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042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Visibilité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042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Références et premiers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clients pilotes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54091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0" i="0">
                <a:solidFill>
                  <a:srgbClr val="1F5E3A"/>
                </a:solidFill>
                <a:latin typeface="Alfa Slab One"/>
              </a:rPr>
              <a:t>« Avec votre soutien, mon activité peut créer plus d'impact et d'opportunités. 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91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4191000"/>
            <a:ext cx="3302000" cy="1143000"/>
          </a:xfrm>
          <a:custGeom>
            <a:avLst/>
            <a:gdLst/>
            <a:ahLst/>
            <a:cxnLst/>
            <a:rect l="l" t="t" r="r" b="b"/>
            <a:pathLst>
              <a:path w="3302000" h="1143000">
                <a:moveTo>
                  <a:pt x="0" y="0"/>
                </a:moveTo>
                <a:lnTo>
                  <a:pt x="3302000" y="0"/>
                </a:lnTo>
                <a:lnTo>
                  <a:pt x="3302000" y="1143000"/>
                </a:lnTo>
                <a:lnTo>
                  <a:pt x="1270000" y="1143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1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1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1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1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1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1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1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10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0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0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0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0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0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0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07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0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0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0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0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0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0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4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0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0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0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0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0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0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01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98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8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98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98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98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98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8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98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98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5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95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795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95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95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95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95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95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795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762000"/>
            <a:ext cx="1930400" cy="5969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35000" y="1550416"/>
            <a:ext cx="10922000" cy="133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0"/>
              </a:lnSpc>
            </a:pPr>
            <a:r>
              <a:rPr sz="6200" b="0" i="0">
                <a:solidFill>
                  <a:srgbClr val="FFFFFF"/>
                </a:solidFill>
                <a:latin typeface="Alfa Slab One"/>
              </a:rPr>
              <a:t>Merci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28356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 spc="140">
                <a:solidFill>
                  <a:srgbClr val="1AAB70"/>
                </a:solidFill>
                <a:latin typeface="Poppins"/>
              </a:rPr>
              <a:t>pour votre attention !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40000" y="3708400"/>
            <a:ext cx="71120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514600" y="3951224"/>
            <a:ext cx="7162800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sz="1800" b="0" i="0">
                <a:solidFill>
                  <a:srgbClr val="1F5E3A"/>
                </a:solidFill>
                <a:latin typeface="Alfa Slab One"/>
              </a:rPr>
              <a:t>Nene Halimatou Sahdiya Diallo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4600" y="4373880"/>
            <a:ext cx="7162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Fondatrice &amp; CEO — Sadiya Digital Agri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80000" y="4724400"/>
            <a:ext cx="20320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514600" y="4883506"/>
            <a:ext cx="7162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Dakar, Sénégal   ·   Communication digitale &amp; agro-industrie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87600" y="5569712"/>
            <a:ext cx="741680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Sadiya Digital Agri accompagne les entreprises agroalimentaires sénégalaises pour mieux communiquer, valoriser leurs</a:t>
            </a:r>
          </a:p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produits et développer leur visibilité grâce au digital.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69" name="Picture 68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