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5918200"/>
            <a:ext cx="1219200" cy="241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FFB800"/>
                </a:solidFill>
                <a:latin typeface="Poppins"/>
              </a:rPr>
              <a:t>CONSTAT TERRAIN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freins qui empêchent les acteurs agroalimentaires de vendre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463800"/>
            <a:ext cx="266700" cy="2667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Faible présence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sur les réseaux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Pages inactives, contenus rares et irréguliers : la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marque n'existe pas là où se trouvent ses clients.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942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942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673600" y="2463800"/>
            <a:ext cx="266700" cy="266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82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82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Manque de stratégie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de communication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736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482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On publie sans objectif, sans ligne éditoriale ni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calendrier — donc sans résultat mesurable.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80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1280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407400" y="2463800"/>
            <a:ext cx="266700" cy="2667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20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Visibilité qui ne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convertit pas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074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820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Des vues, parfois des likes, mais aucun prospect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qualifié ni contrat signé au bout.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400" y="5080000"/>
            <a:ext cx="10871200" cy="711200"/>
          </a:xfrm>
          <a:prstGeom prst="roundRect">
            <a:avLst>
              <a:gd name="adj" fmla="val 16071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9800" y="5239512"/>
            <a:ext cx="170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CONSÉQUENCE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9800" y="5437632"/>
            <a:ext cx="1021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inconnus, pendant que les marques importées occupent tout l'espace digital.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boutique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905000"/>
            <a:ext cx="5207000" cy="43942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8890000" y="0"/>
            <a:ext cx="3302000" cy="1219200"/>
          </a:xfrm>
          <a:custGeom>
            <a:avLst/>
            <a:gdLst/>
            <a:ahLst/>
            <a:cxnLst/>
            <a:rect l="l" t="t" r="r" b="b"/>
            <a:pathLst>
              <a:path w="3302000" h="1219200">
                <a:moveTo>
                  <a:pt x="0" y="0"/>
                </a:moveTo>
                <a:lnTo>
                  <a:pt x="3302000" y="0"/>
                </a:lnTo>
                <a:lnTo>
                  <a:pt x="3302000" y="1219200"/>
                </a:lnTo>
                <a:lnTo>
                  <a:pt x="1143000" y="12192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4775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0400" y="1371600"/>
            <a:ext cx="685800" cy="508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5000" y="1619504"/>
            <a:ext cx="6019800" cy="629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70"/>
              </a:lnSpc>
            </a:pPr>
            <a:r>
              <a:rPr sz="1550" b="1" i="0">
                <a:solidFill>
                  <a:srgbClr val="0A1A01"/>
                </a:solidFill>
                <a:latin typeface="Poppins"/>
              </a:rPr>
              <a:t>Une agence de community management spécialisée</a:t>
            </a:r>
          </a:p>
          <a:p>
            <a:pPr algn="l">
              <a:lnSpc>
                <a:spcPts val="2170"/>
              </a:lnSpc>
            </a:pPr>
            <a:r>
              <a:rPr sz="1550" b="1" i="0">
                <a:solidFill>
                  <a:srgbClr val="0A1A01"/>
                </a:solidFill>
                <a:latin typeface="Poppins"/>
              </a:rPr>
              <a:t>dans le secteur agro-industriel.</a:t>
            </a:r>
          </a:p>
        </p:txBody>
      </p:sp>
      <p:sp>
        <p:nvSpPr>
          <p:cNvPr id="9" name="Freeform 8"/>
          <p:cNvSpPr/>
          <p:nvPr/>
        </p:nvSpPr>
        <p:spPr>
          <a:xfrm>
            <a:off x="660400" y="2641600"/>
            <a:ext cx="5715000" cy="1879600"/>
          </a:xfrm>
          <a:custGeom>
            <a:avLst/>
            <a:gdLst/>
            <a:ahLst/>
            <a:cxnLst/>
            <a:rect l="l" t="t" r="r" b="b"/>
            <a:pathLst>
              <a:path w="5715000" h="1879600">
                <a:moveTo>
                  <a:pt x="0" y="0"/>
                </a:moveTo>
                <a:lnTo>
                  <a:pt x="5334000" y="0"/>
                </a:lnTo>
                <a:lnTo>
                  <a:pt x="5715000" y="939800"/>
                </a:lnTo>
                <a:lnTo>
                  <a:pt x="5334000" y="1879600"/>
                </a:lnTo>
                <a:lnTo>
                  <a:pt x="0" y="1879600"/>
                </a:lnTo>
                <a:close/>
              </a:path>
            </a:pathLst>
          </a:cu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8860" y="295465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2919984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Stratégie Social Media</a:t>
            </a:r>
          </a:p>
        </p:txBody>
      </p:sp>
      <p:sp>
        <p:nvSpPr>
          <p:cNvPr id="12" name="Oval 11"/>
          <p:cNvSpPr/>
          <p:nvPr/>
        </p:nvSpPr>
        <p:spPr>
          <a:xfrm>
            <a:off x="1038860" y="3388487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3353816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Création de Contenu</a:t>
            </a:r>
          </a:p>
        </p:txBody>
      </p:sp>
      <p:sp>
        <p:nvSpPr>
          <p:cNvPr id="14" name="Oval 13"/>
          <p:cNvSpPr/>
          <p:nvPr/>
        </p:nvSpPr>
        <p:spPr>
          <a:xfrm>
            <a:off x="1038860" y="382231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3787648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Gestion de Communauté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807712"/>
            <a:ext cx="589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AAB70"/>
                </a:solidFill>
                <a:latin typeface="Poppins"/>
              </a:rPr>
              <a:t>LA DOUBLE EXPERTISE QUI FAIT LA DIFFÉRENCE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5080000"/>
            <a:ext cx="2743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8200" y="5209032"/>
            <a:ext cx="246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Agriculture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456834"/>
            <a:ext cx="2463800" cy="189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2"/>
              </a:lnSpc>
            </a:pPr>
            <a:r>
              <a:rPr sz="830" b="0" i="0">
                <a:solidFill>
                  <a:srgbClr val="42612D"/>
                </a:solidFill>
                <a:latin typeface="Poppins"/>
              </a:rPr>
              <a:t>Licence en agronomie, terrain connu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06800" y="5080000"/>
            <a:ext cx="2743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84600" y="5209032"/>
            <a:ext cx="246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Digital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4600" y="5456834"/>
            <a:ext cx="2463800" cy="189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2"/>
              </a:lnSpc>
            </a:pPr>
            <a:r>
              <a:rPr sz="830" b="0" i="0">
                <a:solidFill>
                  <a:srgbClr val="42612D"/>
                </a:solidFill>
                <a:latin typeface="Poppins"/>
              </a:rPr>
              <a:t>Community management certifié Simplon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24" name="Picture 23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32232"/>
            <a:ext cx="76708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sz="24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813816"/>
            <a:ext cx="817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84680"/>
            <a:ext cx="4368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200656"/>
            <a:ext cx="4114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125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082138"/>
            <a:ext cx="4114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636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21864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5979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Exploitations agricoles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&amp; entreprises de production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852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7884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5900" y="21864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0" y="25979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Hôtels, restaurants,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commerces &amp; enseignes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400" y="4216400"/>
            <a:ext cx="28702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90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8100" y="4421632"/>
            <a:ext cx="22225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833112"/>
            <a:ext cx="25146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PME et entreprises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de transformation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8200" y="4521200"/>
            <a:ext cx="28956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851400" y="469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6000" y="474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8900" y="4726432"/>
            <a:ext cx="22479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6000" y="5137912"/>
            <a:ext cx="2540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Structures collectives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à professionnaliser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4400" y="42164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737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12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5100" y="44216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2200" y="48331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Grossistes, distributeurs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&amp; acteurs de la chaîne</a:t>
            </a:r>
          </a:p>
        </p:txBody>
      </p:sp>
      <p:cxnSp>
        <p:nvCxnSpPr>
          <p:cNvPr id="37" name="Connector 36"/>
          <p:cNvCxnSpPr/>
          <p:nvPr/>
        </p:nvCxnSpPr>
        <p:spPr>
          <a:xfrm flipH="1" flipV="1">
            <a:off x="36068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0960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36576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0" y="3276600"/>
            <a:ext cx="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960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438400"/>
            <a:ext cx="508000" cy="508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48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48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98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Cible &amp; persona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597400" y="2438400"/>
            <a:ext cx="508000" cy="508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24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24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Objectifs SMART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255000" y="2438400"/>
            <a:ext cx="508000" cy="508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00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550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Positionnement &amp; valeur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939800" y="4343400"/>
            <a:ext cx="508000" cy="508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465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48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748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398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144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Réseaux &amp; parcours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597400" y="4343400"/>
            <a:ext cx="508000" cy="508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0" y="4465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324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324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974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720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Calendrier éditorial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255000" y="4343400"/>
            <a:ext cx="508000" cy="508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0" y="4473448"/>
            <a:ext cx="558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900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900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2550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2296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KPI &amp; ajustement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5334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439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CIBLE PRINCIPALE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621280"/>
            <a:ext cx="4826000" cy="64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Dirigeants et responsables communication des PME agroalimentaires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sénégalaises : marques locales, coopératives, unités artisanales et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agro-industrielles.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7600" y="2133600"/>
            <a:ext cx="5334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197600" y="2133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51600" y="23439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42612D"/>
                </a:solidFill>
                <a:latin typeface="Poppins"/>
              </a:rPr>
              <a:t>CIBLE SECONDAIRE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1600" y="2621280"/>
            <a:ext cx="4826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Grandes entreprises et industries agroalimentaires sénégalaises,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disposant de budgets structurés et d'enjeux de marque nationale.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4038600"/>
            <a:ext cx="10871200" cy="1879600"/>
          </a:xfrm>
          <a:prstGeom prst="roundRect">
            <a:avLst>
              <a:gd name="adj" fmla="val 743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16000" y="4368800"/>
            <a:ext cx="965200" cy="965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600" y="4587240"/>
            <a:ext cx="10160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900"/>
              </a:lnSpc>
            </a:pPr>
            <a:r>
              <a:rPr sz="3000" b="0" i="0">
                <a:solidFill>
                  <a:srgbClr val="1AAB70"/>
                </a:solidFill>
                <a:latin typeface="Alfa Slab One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5200" y="42753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5200" y="4461256"/>
            <a:ext cx="386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5200" y="4883506"/>
            <a:ext cx="5384800" cy="2161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33"/>
              </a:lnSpc>
            </a:pPr>
            <a:r>
              <a:rPr sz="919" b="0" i="0">
                <a:solidFill>
                  <a:srgbClr val="9FB8A2"/>
                </a:solidFill>
                <a:latin typeface="Poppins"/>
              </a:rPr>
              <a:t>Directrice générale d'une PME de transformation de fruits et légumes à Dakar.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60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387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7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Faire connaître ses gammes de jus locaux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8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435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5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56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83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3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6051296"/>
            <a:ext cx="109220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235"/>
              </a:lnSpc>
            </a:pPr>
            <a:r>
              <a:rPr sz="950" b="0" i="1">
                <a:solidFill>
                  <a:srgbClr val="42612D"/>
                </a:solidFill>
                <a:latin typeface="Poppins"/>
              </a:rPr>
              <a:t>« Elle possède de bons produits locaux mais manque de temps et de compétences pour les rendre visibles en ligne.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Faire connaître Sadiya Digital Agri auprès des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PME agroalimentaires via des contenus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spécialisés et pédagogiques.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98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Générer des prospects grâce aux contenus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éducatifs, études de cas et appels à l'action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ciblés.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974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550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Transformer les prospects en clients avec des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offres adaptées aux budgets des PME et un suivi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personnalisé.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550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296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5511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000" y="56611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9800" y="22941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800" y="2535936"/>
            <a:ext cx="6400800" cy="5598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51800" y="22941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1800" y="2546096"/>
            <a:ext cx="3251200" cy="422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2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L'agence qui combine expertise agricole et maîtrise</a:t>
            </a:r>
          </a:p>
          <a:p>
            <a:pPr algn="l">
              <a:lnSpc>
                <a:spcPts val="1472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digitale au service de l'agroalimentaire sénégalais.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37409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" y="41841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7600" y="47683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600" y="53525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39451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4267200"/>
            <a:ext cx="114300" cy="1143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51800" y="4272788"/>
            <a:ext cx="165100" cy="1295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780"/>
              </a:lnSpc>
            </a:pPr>
            <a:r>
              <a:rPr sz="6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5000" y="4223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7" name="Oval 36"/>
          <p:cNvSpPr/>
          <p:nvPr/>
        </p:nvSpPr>
        <p:spPr>
          <a:xfrm>
            <a:off x="8077200" y="4521200"/>
            <a:ext cx="114300" cy="1143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51800" y="4526788"/>
            <a:ext cx="165100" cy="1295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780"/>
              </a:lnSpc>
            </a:pPr>
            <a:r>
              <a:rPr sz="6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5000" y="4477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0" name="Oval 39"/>
          <p:cNvSpPr/>
          <p:nvPr/>
        </p:nvSpPr>
        <p:spPr>
          <a:xfrm>
            <a:off x="8077200" y="4775200"/>
            <a:ext cx="114300" cy="1143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51800" y="4780788"/>
            <a:ext cx="165100" cy="1295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780"/>
              </a:lnSpc>
            </a:pPr>
            <a:r>
              <a:rPr sz="6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5000" y="4731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3" name="Oval 42"/>
          <p:cNvSpPr/>
          <p:nvPr/>
        </p:nvSpPr>
        <p:spPr>
          <a:xfrm>
            <a:off x="8077200" y="5029200"/>
            <a:ext cx="114300" cy="1143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51800" y="5034788"/>
            <a:ext cx="165100" cy="1295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780"/>
              </a:lnSpc>
            </a:pPr>
            <a:r>
              <a:rPr sz="6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5000" y="4985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  <p:sp>
        <p:nvSpPr>
          <p:cNvPr id="46" name="Oval 45"/>
          <p:cNvSpPr/>
          <p:nvPr/>
        </p:nvSpPr>
        <p:spPr>
          <a:xfrm>
            <a:off x="8077200" y="5283200"/>
            <a:ext cx="114300" cy="1143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51800" y="5288788"/>
            <a:ext cx="165100" cy="1295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780"/>
              </a:lnSpc>
            </a:pPr>
            <a:r>
              <a:rPr sz="6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55000" y="5239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Jargon inutile</a:t>
            </a:r>
          </a:p>
        </p:txBody>
      </p:sp>
      <p:sp>
        <p:nvSpPr>
          <p:cNvPr id="49" name="Oval 48"/>
          <p:cNvSpPr/>
          <p:nvPr/>
        </p:nvSpPr>
        <p:spPr>
          <a:xfrm>
            <a:off x="8077200" y="5537200"/>
            <a:ext cx="114300" cy="1143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51800" y="5542788"/>
            <a:ext cx="165100" cy="1295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780"/>
              </a:lnSpc>
            </a:pPr>
            <a:r>
              <a:rPr sz="6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55000" y="5493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Promesses irréalistes</a:t>
            </a:r>
          </a:p>
        </p:txBody>
      </p:sp>
      <p:sp>
        <p:nvSpPr>
          <p:cNvPr id="52" name="Oval 51"/>
          <p:cNvSpPr/>
          <p:nvPr/>
        </p:nvSpPr>
        <p:spPr>
          <a:xfrm>
            <a:off x="8077200" y="5791200"/>
            <a:ext cx="114300" cy="1143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51800" y="5796788"/>
            <a:ext cx="165100" cy="1295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780"/>
              </a:lnSpc>
            </a:pPr>
            <a:r>
              <a:rPr sz="6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55000" y="5747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Ton agressif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232506"/>
            <a:ext cx="2895600" cy="397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Vidéo courte et dynamique pour élargir la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portée et rendre l'agri-digital accessible.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98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9400" y="3007360"/>
            <a:ext cx="254000" cy="431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974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0" y="3232506"/>
            <a:ext cx="2895600" cy="397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Informer, éduquer, présenter l'offre et fédérer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une communauté d'acteurs locaux.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974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720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7000" y="3007360"/>
            <a:ext cx="254000" cy="431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550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0" y="3232506"/>
            <a:ext cx="2895600" cy="5725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Crédibilité, expertise et prospection directe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auprès des dirigeants et responsables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marketing.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550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296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4673600"/>
            <a:ext cx="10871200" cy="635000"/>
          </a:xfrm>
          <a:prstGeom prst="roundRect">
            <a:avLst>
              <a:gd name="adj" fmla="val 1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39800" y="4860544"/>
            <a:ext cx="1193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06600" y="4840732"/>
            <a:ext cx="932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message privé pour convertir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54945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50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448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28194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038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136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882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980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3726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8200" y="2206650"/>
            <a:ext cx="1193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2206650"/>
            <a:ext cx="1955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206650"/>
            <a:ext cx="2336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206650"/>
            <a:ext cx="1320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8200" y="26974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1200" y="26991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6991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72200" y="27142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8200" y="32816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1200" y="32833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32833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72200" y="32984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38200" y="38658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1200" y="38675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38675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172200" y="38826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5293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0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0447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209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4544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306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8641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403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738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051800" y="23449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2692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29600" y="2622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2778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77200" y="3073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229600" y="3003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3159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3454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29600" y="3384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3540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programmation FB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77200" y="3835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229600" y="3765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3921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gestion TikTok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077200" y="4216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229600" y="4146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0" y="4302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publication &amp; stats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77200" y="4597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8229600" y="4527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0" y="4683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stockage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77200" y="4978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8229600" y="4908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0" y="5064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calendrier &amp; suivi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362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00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Production &amp; publication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285584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Début du mois : thèmes et objectifs définis.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099841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071317"/>
            <a:ext cx="2781300" cy="35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Chaque semaine : création, validation,</a:t>
            </a:r>
          </a:p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préparation.</a:t>
            </a:r>
          </a:p>
        </p:txBody>
      </p:sp>
      <p:sp>
        <p:nvSpPr>
          <p:cNvPr id="21" name="Oval 20"/>
          <p:cNvSpPr/>
          <p:nvPr/>
        </p:nvSpPr>
        <p:spPr>
          <a:xfrm>
            <a:off x="944880" y="349892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9500" y="34704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Contenus créés en avance, jamais improvisés.</a:t>
            </a:r>
          </a:p>
        </p:txBody>
      </p:sp>
      <p:sp>
        <p:nvSpPr>
          <p:cNvPr id="23" name="Oval 22"/>
          <p:cNvSpPr/>
          <p:nvPr/>
        </p:nvSpPr>
        <p:spPr>
          <a:xfrm>
            <a:off x="944880" y="374291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9500" y="3714394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Programmation via Meta Suite et TikTok Studio.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597400" y="2362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76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2855849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Ton professionnel, chaleureux et respectueux.</a:t>
            </a:r>
          </a:p>
        </p:txBody>
      </p:sp>
      <p:sp>
        <p:nvSpPr>
          <p:cNvPr id="32" name="Oval 31"/>
          <p:cNvSpPr/>
          <p:nvPr/>
        </p:nvSpPr>
        <p:spPr>
          <a:xfrm>
            <a:off x="4602480" y="3099841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7100" y="3071317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Répondre avec courtoisie, jamais de conflit.</a:t>
            </a:r>
          </a:p>
        </p:txBody>
      </p:sp>
      <p:sp>
        <p:nvSpPr>
          <p:cNvPr id="34" name="Oval 33"/>
          <p:cNvSpPr/>
          <p:nvPr/>
        </p:nvSpPr>
        <p:spPr>
          <a:xfrm>
            <a:off x="4602480" y="3343834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7100" y="3315310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Critiques constructives conservées.</a:t>
            </a:r>
          </a:p>
        </p:txBody>
      </p:sp>
      <p:sp>
        <p:nvSpPr>
          <p:cNvPr id="36" name="Oval 35"/>
          <p:cNvSpPr/>
          <p:nvPr/>
        </p:nvSpPr>
        <p:spPr>
          <a:xfrm>
            <a:off x="4602480" y="358782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37100" y="35593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Réclamations déplacées en message privé.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255000" y="2362200"/>
            <a:ext cx="254000" cy="254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852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43" name="Oval 42"/>
          <p:cNvSpPr/>
          <p:nvPr/>
        </p:nvSpPr>
        <p:spPr>
          <a:xfrm>
            <a:off x="8260080" y="2855849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947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Surveillance quotidienne des messages.</a:t>
            </a:r>
          </a:p>
        </p:txBody>
      </p:sp>
      <p:sp>
        <p:nvSpPr>
          <p:cNvPr id="45" name="Oval 44"/>
          <p:cNvSpPr/>
          <p:nvPr/>
        </p:nvSpPr>
        <p:spPr>
          <a:xfrm>
            <a:off x="8260080" y="3099841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4700" y="3071317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Délai cible : moins de 24 h ouvrées.</a:t>
            </a:r>
          </a:p>
        </p:txBody>
      </p:sp>
      <p:sp>
        <p:nvSpPr>
          <p:cNvPr id="47" name="Oval 46"/>
          <p:cNvSpPr/>
          <p:nvPr/>
        </p:nvSpPr>
        <p:spPr>
          <a:xfrm>
            <a:off x="8260080" y="3343834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94700" y="3315310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Demande commerciale : orientée en privé.</a:t>
            </a:r>
          </a:p>
        </p:txBody>
      </p:sp>
      <p:sp>
        <p:nvSpPr>
          <p:cNvPr id="49" name="Oval 48"/>
          <p:cNvSpPr/>
          <p:nvPr/>
        </p:nvSpPr>
        <p:spPr>
          <a:xfrm>
            <a:off x="8260080" y="358782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94700" y="35593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Sujets sensibles transmis au client.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39800" y="4961128"/>
            <a:ext cx="259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53" name="Oval 52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54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226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498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770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042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314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9800" y="5695696"/>
            <a:ext cx="894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9800" y="22595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25475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000" y="22943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53000" y="26519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9800" y="32501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35381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32849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953000" y="36425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9800" y="42407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800" y="45287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42755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953000" y="46331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051800" y="23449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83600" y="27716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83600" y="32288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3600" y="36860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3600" y="41432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3600" y="46004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39800" y="5593893"/>
            <a:ext cx="64008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92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Chaque semaine : identifier les contenus performants.   |   Chaque mois : comparer aux objectifs et</a:t>
            </a:r>
          </a:p>
          <a:p>
            <a:pPr algn="l">
              <a:lnSpc>
                <a:spcPts val="1392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Modèle Économique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offres d'abonnement mensuel,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2743200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3906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829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479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37260" y="3644138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389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19" name="Oval 18"/>
          <p:cNvSpPr/>
          <p:nvPr/>
        </p:nvSpPr>
        <p:spPr>
          <a:xfrm>
            <a:off x="937260" y="3925367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9201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1" name="Oval 20"/>
          <p:cNvSpPr/>
          <p:nvPr/>
        </p:nvSpPr>
        <p:spPr>
          <a:xfrm>
            <a:off x="937260" y="4206596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2013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8000" y="1981200"/>
            <a:ext cx="3403600" cy="2997200"/>
          </a:xfrm>
          <a:prstGeom prst="roundRect">
            <a:avLst>
              <a:gd name="adj" fmla="val 3813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5435600" y="18415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10200" y="18899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2636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4790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30559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97400" y="33528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4594860" y="3517138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5200" y="35119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32" name="Oval 31"/>
          <p:cNvSpPr/>
          <p:nvPr/>
        </p:nvSpPr>
        <p:spPr>
          <a:xfrm>
            <a:off x="4594860" y="3798367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5200" y="37931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34" name="Oval 33"/>
          <p:cNvSpPr/>
          <p:nvPr/>
        </p:nvSpPr>
        <p:spPr>
          <a:xfrm>
            <a:off x="4594860" y="4079596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75200" y="40743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75600" y="2108200"/>
            <a:ext cx="3403600" cy="2743200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29600" y="23906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26060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1829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55000" y="3479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8252460" y="3644138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32800" y="36389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43" name="Oval 42"/>
          <p:cNvSpPr/>
          <p:nvPr/>
        </p:nvSpPr>
        <p:spPr>
          <a:xfrm>
            <a:off x="8252460" y="3925367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2800" y="39201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45" name="Oval 44"/>
          <p:cNvSpPr/>
          <p:nvPr/>
        </p:nvSpPr>
        <p:spPr>
          <a:xfrm>
            <a:off x="8252460" y="4206596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2800" y="42013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0400" y="5232400"/>
            <a:ext cx="10871200" cy="787400"/>
          </a:xfrm>
          <a:prstGeom prst="roundRect">
            <a:avLst>
              <a:gd name="adj" fmla="val 14516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60400" y="5232400"/>
            <a:ext cx="63500" cy="7874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39800" y="54183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9800" y="5643880"/>
            <a:ext cx="995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Création de contenus à la demande, campagnes publicitaires et prestations ponctuelles de stratégie digitale — à partir de 25 000 FCFA.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Concurrence &amp; Différenciation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occupé par des généralistes — aucune agence spécialisée agro.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09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LE MARCHÉ AUJOURD'HUI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" y="23876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9000" y="24805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Agence Kolonell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27011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Expert, axé résultats et stratégie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25716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250–600 k FCFA/mois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30734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89000" y="31663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Agence WEDRAOGO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" y="33869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Professionnel, créatif et attractif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8600" y="32574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dès 130 k FCFA/mois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0400" y="37592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890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CM freelance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" y="40727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Généraliste et informel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8600" y="39432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50–150 k FCFA/mois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0400" y="4521200"/>
            <a:ext cx="5334000" cy="1498600"/>
          </a:xfrm>
          <a:prstGeom prst="roundRect">
            <a:avLst>
              <a:gd name="adj" fmla="val 847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9800" y="47325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NOTRE DIFFÉRENCIATION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" y="4982464"/>
            <a:ext cx="4775200" cy="453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FFFFFF"/>
                </a:solidFill>
                <a:latin typeface="Poppins"/>
              </a:rPr>
              <a:t>La seule offre qui combine double expertise agriculture + digital et</a:t>
            </a:r>
          </a:p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FFFFFF"/>
                </a:solidFill>
                <a:latin typeface="Poppins"/>
              </a:rPr>
              <a:t>spécialisation exclusive sur les acteurs agroalimentaires sénégalais.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800" y="5672531"/>
            <a:ext cx="47752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1">
                <a:solidFill>
                  <a:srgbClr val="9FB8A2"/>
                </a:solidFill>
                <a:latin typeface="Poppins"/>
              </a:rPr>
              <a:t>Tarifs d'entrée compétitifs · structure agile · connaissance du terrain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3000" y="21082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223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00800" y="22931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AAB70"/>
                </a:solidFill>
                <a:latin typeface="Poppins"/>
              </a:rPr>
              <a:t>FORCES</a:t>
            </a:r>
          </a:p>
        </p:txBody>
      </p:sp>
      <p:sp>
        <p:nvSpPr>
          <p:cNvPr id="32" name="Oval 31"/>
          <p:cNvSpPr/>
          <p:nvPr/>
        </p:nvSpPr>
        <p:spPr>
          <a:xfrm>
            <a:off x="6431280" y="2650363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900" y="26249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Double expertise agri + digital</a:t>
            </a:r>
          </a:p>
        </p:txBody>
      </p:sp>
      <p:sp>
        <p:nvSpPr>
          <p:cNvPr id="34" name="Oval 33"/>
          <p:cNvSpPr/>
          <p:nvPr/>
        </p:nvSpPr>
        <p:spPr>
          <a:xfrm>
            <a:off x="6431280" y="287235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65900" y="28469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Agilité d'une structure légère</a:t>
            </a:r>
          </a:p>
        </p:txBody>
      </p:sp>
      <p:sp>
        <p:nvSpPr>
          <p:cNvPr id="36" name="Oval 35"/>
          <p:cNvSpPr/>
          <p:nvPr/>
        </p:nvSpPr>
        <p:spPr>
          <a:xfrm>
            <a:off x="6431280" y="309435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65900" y="30689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Tarifs compétitifs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21082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8915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93200" y="22931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C4453F"/>
                </a:solidFill>
                <a:latin typeface="Poppins"/>
              </a:rPr>
              <a:t>FAIBLESSES</a:t>
            </a:r>
          </a:p>
        </p:txBody>
      </p:sp>
      <p:sp>
        <p:nvSpPr>
          <p:cNvPr id="41" name="Oval 40"/>
          <p:cNvSpPr/>
          <p:nvPr/>
        </p:nvSpPr>
        <p:spPr>
          <a:xfrm>
            <a:off x="9123680" y="2650363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58300" y="26249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Notoriété à construire</a:t>
            </a:r>
          </a:p>
        </p:txBody>
      </p:sp>
      <p:sp>
        <p:nvSpPr>
          <p:cNvPr id="43" name="Oval 42"/>
          <p:cNvSpPr/>
          <p:nvPr/>
        </p:nvSpPr>
        <p:spPr>
          <a:xfrm>
            <a:off x="9123680" y="2872359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58300" y="28469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Portfolio grands comptes limité</a:t>
            </a:r>
          </a:p>
        </p:txBody>
      </p:sp>
      <p:sp>
        <p:nvSpPr>
          <p:cNvPr id="45" name="Oval 44"/>
          <p:cNvSpPr/>
          <p:nvPr/>
        </p:nvSpPr>
        <p:spPr>
          <a:xfrm>
            <a:off x="9123680" y="3094355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58300" y="30689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Ressources de production réduites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23000" y="40894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223000" y="40894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00800" y="42743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OPPORTUNITÉS</a:t>
            </a:r>
          </a:p>
        </p:txBody>
      </p:sp>
      <p:sp>
        <p:nvSpPr>
          <p:cNvPr id="50" name="Oval 49"/>
          <p:cNvSpPr/>
          <p:nvPr/>
        </p:nvSpPr>
        <p:spPr>
          <a:xfrm>
            <a:off x="6431280" y="4631563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65900" y="46061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Dynamique « Consommer local »</a:t>
            </a:r>
          </a:p>
        </p:txBody>
      </p:sp>
      <p:sp>
        <p:nvSpPr>
          <p:cNvPr id="52" name="Oval 51"/>
          <p:cNvSpPr/>
          <p:nvPr/>
        </p:nvSpPr>
        <p:spPr>
          <a:xfrm>
            <a:off x="6431280" y="4853559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65900" y="48281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Digitalisation de l'agro</a:t>
            </a:r>
          </a:p>
        </p:txBody>
      </p:sp>
      <p:sp>
        <p:nvSpPr>
          <p:cNvPr id="54" name="Oval 53"/>
          <p:cNvSpPr/>
          <p:nvPr/>
        </p:nvSpPr>
        <p:spPr>
          <a:xfrm>
            <a:off x="6431280" y="507555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65900" y="50501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Niche encore inexploitée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15400" y="40894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8915400" y="40894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093200" y="42743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42612D"/>
                </a:solidFill>
                <a:latin typeface="Poppins"/>
              </a:rPr>
              <a:t>MENACES</a:t>
            </a:r>
          </a:p>
        </p:txBody>
      </p:sp>
      <p:sp>
        <p:nvSpPr>
          <p:cNvPr id="59" name="Oval 58"/>
          <p:cNvSpPr/>
          <p:nvPr/>
        </p:nvSpPr>
        <p:spPr>
          <a:xfrm>
            <a:off x="9123680" y="4631563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58300" y="46061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Agences établies</a:t>
            </a:r>
          </a:p>
        </p:txBody>
      </p:sp>
      <p:sp>
        <p:nvSpPr>
          <p:cNvPr id="61" name="Oval 60"/>
          <p:cNvSpPr/>
          <p:nvPr/>
        </p:nvSpPr>
        <p:spPr>
          <a:xfrm>
            <a:off x="9123680" y="4853559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58300" y="48281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Budgets PME limités</a:t>
            </a:r>
          </a:p>
        </p:txBody>
      </p:sp>
      <p:sp>
        <p:nvSpPr>
          <p:cNvPr id="63" name="Oval 62"/>
          <p:cNvSpPr/>
          <p:nvPr/>
        </p:nvSpPr>
        <p:spPr>
          <a:xfrm>
            <a:off x="9123680" y="507555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58300" y="50501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Contraintes de connectivité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Réalisations &amp; 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j'ai déjà accompli — et où je veux aller.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082800"/>
            <a:ext cx="5334000" cy="381000"/>
          </a:xfrm>
          <a:prstGeom prst="roundRect">
            <a:avLst>
              <a:gd name="adj" fmla="val 2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9000" y="2177796"/>
            <a:ext cx="487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20">
                <a:solidFill>
                  <a:srgbClr val="1AAB70"/>
                </a:solidFill>
                <a:latin typeface="Poppins"/>
              </a:rPr>
              <a:t>CE QUE J'AI DÉJÀ ACCOMPLI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400" y="2590800"/>
            <a:ext cx="5334000" cy="635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89000" y="27940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2826512"/>
            <a:ext cx="2794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4600" y="2709774"/>
            <a:ext cx="4572000" cy="2202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26"/>
              </a:lnSpc>
            </a:pPr>
            <a:r>
              <a:rPr sz="1019" b="1" i="0">
                <a:solidFill>
                  <a:srgbClr val="1F5E3A"/>
                </a:solidFill>
                <a:latin typeface="Poppins"/>
              </a:rPr>
              <a:t>Formalisation de l'entreprise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4600" y="2929331"/>
            <a:ext cx="4572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NINEA + Registre de commerce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3327400"/>
            <a:ext cx="5334000" cy="635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89000" y="35306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600" y="3563112"/>
            <a:ext cx="2794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4600" y="3446374"/>
            <a:ext cx="4572000" cy="2202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26"/>
              </a:lnSpc>
            </a:pPr>
            <a:r>
              <a:rPr sz="1019" b="1" i="0">
                <a:solidFill>
                  <a:srgbClr val="1F5E3A"/>
                </a:solidFill>
                <a:latin typeface="Poppins"/>
              </a:rPr>
              <a:t>Identité visuelle Sadiya Digital Agri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4600" y="3665931"/>
            <a:ext cx="4572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Charte graphique + réseaux sociaux créés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064000"/>
            <a:ext cx="5334000" cy="635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89000" y="42672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3600" y="4299712"/>
            <a:ext cx="2794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44600" y="4182974"/>
            <a:ext cx="4572000" cy="2202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26"/>
              </a:lnSpc>
            </a:pPr>
            <a:r>
              <a:rPr sz="1019" b="1" i="0">
                <a:solidFill>
                  <a:srgbClr val="1F5E3A"/>
                </a:solidFill>
                <a:latin typeface="Poppins"/>
              </a:rPr>
              <a:t>Formation Community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4600" y="4402531"/>
            <a:ext cx="4572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7 semaines — Design &amp; CM, Simplon Sénégal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4800600"/>
            <a:ext cx="5334000" cy="635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89000" y="50038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600" y="5036312"/>
            <a:ext cx="2794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44600" y="4919574"/>
            <a:ext cx="4572000" cy="2202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26"/>
              </a:lnSpc>
            </a:pPr>
            <a:r>
              <a:rPr sz="1019" b="1" i="0">
                <a:solidFill>
                  <a:srgbClr val="1F5E3A"/>
                </a:solidFill>
                <a:latin typeface="Poppins"/>
              </a:rPr>
              <a:t>Formation en agriculture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44600" y="5139131"/>
            <a:ext cx="4572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Licence en Agronomie — UCAD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7600" y="2082800"/>
            <a:ext cx="5334000" cy="381000"/>
          </a:xfrm>
          <a:prstGeom prst="roundRect">
            <a:avLst>
              <a:gd name="adj" fmla="val 2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6200" y="2177796"/>
            <a:ext cx="487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20">
                <a:solidFill>
                  <a:srgbClr val="FFFFFF"/>
                </a:solidFill>
                <a:latin typeface="Poppins"/>
              </a:rPr>
              <a:t>MES OBJECTIFS (6–12 MOIS)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7600" y="2590800"/>
            <a:ext cx="5334000" cy="635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197600" y="2590800"/>
            <a:ext cx="50800" cy="6350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6451600" y="27813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6200" y="28240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2600" y="2798674"/>
            <a:ext cx="4572000" cy="2202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26"/>
              </a:lnSpc>
            </a:pPr>
            <a:r>
              <a:rPr sz="1019" b="1" i="0">
                <a:solidFill>
                  <a:srgbClr val="0A1A01"/>
                </a:solidFill>
                <a:latin typeface="Poppins"/>
              </a:rPr>
              <a:t>Acquérir mes premiers clients agro-industriels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7600" y="3327400"/>
            <a:ext cx="5334000" cy="635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6197600" y="3327400"/>
            <a:ext cx="50800" cy="6350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6451600" y="35179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6200" y="35606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2600" y="3535274"/>
            <a:ext cx="4572000" cy="2202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26"/>
              </a:lnSpc>
            </a:pPr>
            <a:r>
              <a:rPr sz="1019" b="1" i="0">
                <a:solidFill>
                  <a:srgbClr val="0A1A01"/>
                </a:solidFill>
                <a:latin typeface="Poppins"/>
              </a:rPr>
              <a:t>Développer un portefeuille de clients réguliers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97600" y="4064000"/>
            <a:ext cx="5334000" cy="635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6197600" y="4064000"/>
            <a:ext cx="50800" cy="6350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6451600" y="42545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6200" y="42972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2600" y="4271874"/>
            <a:ext cx="4572000" cy="2202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26"/>
              </a:lnSpc>
            </a:pPr>
            <a:r>
              <a:rPr sz="1019" b="1" i="0">
                <a:solidFill>
                  <a:srgbClr val="0A1A01"/>
                </a:solidFill>
                <a:latin typeface="Poppins"/>
              </a:rPr>
              <a:t>Renforcer mon expertise en stratégie digitale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97600" y="4800600"/>
            <a:ext cx="5334000" cy="635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6197600" y="4800600"/>
            <a:ext cx="50800" cy="6350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6451600" y="49911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6200" y="50338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2600" y="5008474"/>
            <a:ext cx="4572000" cy="2202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26"/>
              </a:lnSpc>
            </a:pPr>
            <a:r>
              <a:rPr sz="1019" b="1" i="0">
                <a:solidFill>
                  <a:srgbClr val="0A1A01"/>
                </a:solidFill>
                <a:latin typeface="Poppins"/>
              </a:rPr>
              <a:t>Faire de Sadiya Digital Agri une agence reconnue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08712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712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712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712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712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712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8712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8712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109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109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109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109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109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109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109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109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506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506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506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506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1506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506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506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1506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903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2903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2903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2903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903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2903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2903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2903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430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30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430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430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430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430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430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569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69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569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569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569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569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569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569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709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709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709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709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709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709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709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709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849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849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849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49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849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849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849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849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0" y="5969000"/>
            <a:ext cx="2540000" cy="889000"/>
          </a:xfrm>
          <a:custGeom>
            <a:avLst/>
            <a:gdLst/>
            <a:ahLst/>
            <a:cxnLst/>
            <a:rect l="l" t="t" r="r" b="b"/>
            <a:pathLst>
              <a:path w="2540000" h="889000">
                <a:moveTo>
                  <a:pt x="0" y="0"/>
                </a:moveTo>
                <a:lnTo>
                  <a:pt x="2540000" y="0"/>
                </a:lnTo>
                <a:lnTo>
                  <a:pt x="1778000" y="889000"/>
                </a:lnTo>
                <a:lnTo>
                  <a:pt x="0" y="889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60400" y="5588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74700" y="5415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5000" y="718312"/>
            <a:ext cx="7670800" cy="7340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20"/>
              </a:lnSpc>
            </a:pPr>
            <a:r>
              <a:rPr sz="3400" b="0" i="0">
                <a:solidFill>
                  <a:srgbClr val="FFFFFF"/>
                </a:solidFill>
                <a:latin typeface="Alfa Slab One"/>
              </a:rPr>
              <a:t>Appel à l'Action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5000" y="1448816"/>
            <a:ext cx="792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0" i="0">
                <a:solidFill>
                  <a:srgbClr val="9FB8A2"/>
                </a:solidFill>
                <a:latin typeface="Poppins"/>
              </a:rPr>
              <a:t>De quoi ai-je besoin pour faire grandir Sadiya Digital Agri ?</a:t>
            </a:r>
          </a:p>
        </p:txBody>
      </p:sp>
      <p:pic>
        <p:nvPicPr>
          <p:cNvPr id="73" name="Picture 72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000" y="508000"/>
            <a:ext cx="1168400" cy="355600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660400" y="2133600"/>
            <a:ext cx="3403600" cy="1270000"/>
          </a:xfrm>
          <a:prstGeom prst="roundRect">
            <a:avLst>
              <a:gd name="adj" fmla="val 9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660400" y="2133600"/>
            <a:ext cx="50800" cy="1270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39800" y="2384552"/>
            <a:ext cx="2844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Financement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9800" y="2724912"/>
            <a:ext cx="2921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Amorcer la production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et les campagnes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318000" y="2133600"/>
            <a:ext cx="3403600" cy="1270000"/>
          </a:xfrm>
          <a:prstGeom prst="roundRect">
            <a:avLst>
              <a:gd name="adj" fmla="val 9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4318000" y="2133600"/>
            <a:ext cx="50800" cy="1270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597400" y="2384552"/>
            <a:ext cx="2844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Accompagnement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97400" y="2724912"/>
            <a:ext cx="2921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Mentorat business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et structuration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975600" y="2133600"/>
            <a:ext cx="3403600" cy="1270000"/>
          </a:xfrm>
          <a:prstGeom prst="roundRect">
            <a:avLst>
              <a:gd name="adj" fmla="val 9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7975600" y="2133600"/>
            <a:ext cx="50800" cy="1270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8255000" y="2384552"/>
            <a:ext cx="2844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Partenariat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55000" y="2724912"/>
            <a:ext cx="2921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Accès aux réseaux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agro-industriels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60400" y="3632200"/>
            <a:ext cx="3403600" cy="1270000"/>
          </a:xfrm>
          <a:prstGeom prst="roundRect">
            <a:avLst>
              <a:gd name="adj" fmla="val 9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ounded Rectangle 86"/>
          <p:cNvSpPr/>
          <p:nvPr/>
        </p:nvSpPr>
        <p:spPr>
          <a:xfrm>
            <a:off x="660400" y="3632200"/>
            <a:ext cx="50800" cy="1270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939800" y="3883152"/>
            <a:ext cx="2844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Équipements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39800" y="4223512"/>
            <a:ext cx="2921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Matériel de captation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photo et vidéo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318000" y="3632200"/>
            <a:ext cx="3403600" cy="1270000"/>
          </a:xfrm>
          <a:prstGeom prst="roundRect">
            <a:avLst>
              <a:gd name="adj" fmla="val 9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ounded Rectangle 90"/>
          <p:cNvSpPr/>
          <p:nvPr/>
        </p:nvSpPr>
        <p:spPr>
          <a:xfrm>
            <a:off x="4318000" y="3632200"/>
            <a:ext cx="50800" cy="1270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4597400" y="3883152"/>
            <a:ext cx="2844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Visibilité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97400" y="4223512"/>
            <a:ext cx="2921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Références et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recommandations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75600" y="3632200"/>
            <a:ext cx="3403600" cy="1270000"/>
          </a:xfrm>
          <a:prstGeom prst="roundRect">
            <a:avLst>
              <a:gd name="adj" fmla="val 9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ounded Rectangle 94"/>
          <p:cNvSpPr/>
          <p:nvPr/>
        </p:nvSpPr>
        <p:spPr>
          <a:xfrm>
            <a:off x="7975600" y="3632200"/>
            <a:ext cx="50800" cy="1270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8255000" y="3883152"/>
            <a:ext cx="2844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Formation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55000" y="4223512"/>
            <a:ext cx="2921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Publicité en ligne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et stratégie avancée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5000" y="54853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AAB70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0" name="Picture 9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