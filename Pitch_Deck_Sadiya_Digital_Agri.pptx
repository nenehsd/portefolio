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Relationship Id="rId15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5918200"/>
            <a:ext cx="121920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FFB800"/>
                </a:solidFill>
                <a:latin typeface="Poppins"/>
              </a:rPr>
              <a:t>CONSTAT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freins qui empêchent les acteurs agroalimentaires de vendre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63800"/>
            <a:ext cx="266700" cy="2667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Faible présence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sur les réseaux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Pages inactives, contenus rares et irréguliers : la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marque n'existe pas là où se trouvent ses clients.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942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942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673600" y="2463800"/>
            <a:ext cx="266700" cy="266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82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82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Manque de stratégie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de communication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736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482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On publie sans objectif, sans ligne éditoriale ni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calendrier — donc sans résultat mesurable.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80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1280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407400" y="2463800"/>
            <a:ext cx="266700" cy="2667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20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Visibilité qui ne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convertit pas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074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820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Des vues, parfois des likes, mais aucun prospect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qualifié ni contrat signé au bout.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5080000"/>
            <a:ext cx="10871200" cy="711200"/>
          </a:xfrm>
          <a:prstGeom prst="roundRect">
            <a:avLst>
              <a:gd name="adj" fmla="val 16071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5239512"/>
            <a:ext cx="170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CONSÉQUENCE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9800" y="5437632"/>
            <a:ext cx="1021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inconnus, pendant que les marques importées occupent tout l'espace digital.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boutique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905000"/>
            <a:ext cx="5207000" cy="43942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8890000" y="0"/>
            <a:ext cx="3302000" cy="1219200"/>
          </a:xfrm>
          <a:custGeom>
            <a:avLst/>
            <a:gdLst/>
            <a:ahLst/>
            <a:cxnLst/>
            <a:rect l="l" t="t" r="r" b="b"/>
            <a:pathLst>
              <a:path w="3302000" h="1219200">
                <a:moveTo>
                  <a:pt x="0" y="0"/>
                </a:moveTo>
                <a:lnTo>
                  <a:pt x="3302000" y="0"/>
                </a:lnTo>
                <a:lnTo>
                  <a:pt x="3302000" y="1219200"/>
                </a:lnTo>
                <a:lnTo>
                  <a:pt x="1143000" y="12192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4775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0400" y="1371600"/>
            <a:ext cx="685800" cy="508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5000" y="1619504"/>
            <a:ext cx="6019800" cy="629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Une agence de community management spécialisée</a:t>
            </a:r>
          </a:p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dans le secteur agro-industriel.</a:t>
            </a:r>
          </a:p>
        </p:txBody>
      </p:sp>
      <p:sp>
        <p:nvSpPr>
          <p:cNvPr id="9" name="Freeform 8"/>
          <p:cNvSpPr/>
          <p:nvPr/>
        </p:nvSpPr>
        <p:spPr>
          <a:xfrm>
            <a:off x="660400" y="2641600"/>
            <a:ext cx="5715000" cy="1879600"/>
          </a:xfrm>
          <a:custGeom>
            <a:avLst/>
            <a:gdLst/>
            <a:ahLst/>
            <a:cxnLst/>
            <a:rect l="l" t="t" r="r" b="b"/>
            <a:pathLst>
              <a:path w="5715000" h="1879600">
                <a:moveTo>
                  <a:pt x="0" y="0"/>
                </a:moveTo>
                <a:lnTo>
                  <a:pt x="5334000" y="0"/>
                </a:lnTo>
                <a:lnTo>
                  <a:pt x="5715000" y="939800"/>
                </a:lnTo>
                <a:lnTo>
                  <a:pt x="5334000" y="1879600"/>
                </a:lnTo>
                <a:lnTo>
                  <a:pt x="0" y="1879600"/>
                </a:lnTo>
                <a:close/>
              </a:path>
            </a:pathLst>
          </a:cu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8860" y="295465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71880" y="302323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7280" y="298767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2919984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Stratégie Social Media</a:t>
            </a:r>
          </a:p>
        </p:txBody>
      </p:sp>
      <p:sp>
        <p:nvSpPr>
          <p:cNvPr id="14" name="Oval 13"/>
          <p:cNvSpPr/>
          <p:nvPr/>
        </p:nvSpPr>
        <p:spPr>
          <a:xfrm>
            <a:off x="1038860" y="338848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71880" y="345706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097280" y="342150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3353816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Création de Contenu</a:t>
            </a:r>
          </a:p>
        </p:txBody>
      </p:sp>
      <p:sp>
        <p:nvSpPr>
          <p:cNvPr id="18" name="Oval 17"/>
          <p:cNvSpPr/>
          <p:nvPr/>
        </p:nvSpPr>
        <p:spPr>
          <a:xfrm>
            <a:off x="1038860" y="382231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071880" y="389089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097280" y="385533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219200" y="3787648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Gestion de Communauté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4807712"/>
            <a:ext cx="589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LA DOUBLE EXPERTISE QUI FAIT LA DIFFÉRENCE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4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Agriculture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Licence en agronomie, terrain connu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68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846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46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Community management certifié Simplon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30" name="Picture 2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32232"/>
            <a:ext cx="76708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813816"/>
            <a:ext cx="817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84680"/>
            <a:ext cx="4368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200656"/>
            <a:ext cx="4114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082138"/>
            <a:ext cx="4114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636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Exploitations agricoles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entreprises de production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852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7884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59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Hôtels, restaurants,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commerces &amp; enseignes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400" y="4216400"/>
            <a:ext cx="28702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90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8100" y="4421632"/>
            <a:ext cx="22225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833112"/>
            <a:ext cx="25146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et entreprises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de transformation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8200" y="4521200"/>
            <a:ext cx="28956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851400" y="469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000" y="474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8900" y="4726432"/>
            <a:ext cx="22479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6000" y="5137912"/>
            <a:ext cx="2540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Structures collectives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à professionnaliser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400" y="42164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737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12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5100" y="44216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2200" y="48331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Grossistes, distributeurs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acteurs de la chaîne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36068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0960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6576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0" y="3276600"/>
            <a:ext cx="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0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38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48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48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98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Cible &amp; persona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400" y="2438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24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24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Objectifs SMART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255000" y="2438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Positionnement &amp; valeur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939800" y="4343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48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748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98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Réseaux &amp; parcours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597400" y="4343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324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24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974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Calendrier éditorial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255000" y="4343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4473448"/>
            <a:ext cx="558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900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900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2550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2296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KPI &amp; ajustement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CIBLE PRINCIPALE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621280"/>
            <a:ext cx="4826000" cy="64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Dirigeants et responsables communication des PME agroalimentaires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sénégalaises : marques locales, coopératives, unités artisanales et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agro-industrielles.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76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1976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516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42612D"/>
                </a:solidFill>
                <a:latin typeface="Poppins"/>
              </a:rPr>
              <a:t>CIBLE SECONDAIRE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2621280"/>
            <a:ext cx="4826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Grandes entreprises et industries agroalimentaires sénégalaises,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disposant de budgets structurés et d'enjeux de marque nationale.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10871200" cy="1879600"/>
          </a:xfrm>
          <a:prstGeom prst="roundRect">
            <a:avLst>
              <a:gd name="adj" fmla="val 743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16000" y="4368800"/>
            <a:ext cx="965200" cy="965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600" y="4587240"/>
            <a:ext cx="10160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sz="30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5200" y="4275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5200" y="4461256"/>
            <a:ext cx="386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5200" y="4883506"/>
            <a:ext cx="5384800" cy="2161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33"/>
              </a:lnSpc>
            </a:pPr>
            <a:r>
              <a:rPr sz="919" b="0" i="0">
                <a:solidFill>
                  <a:srgbClr val="9FB8A2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60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387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Faire connaître ses gammes de jus locaux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8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35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5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6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83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3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6051296"/>
            <a:ext cx="109220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235"/>
              </a:lnSpc>
            </a:pPr>
            <a:r>
              <a:rPr sz="950" b="0" i="1">
                <a:solidFill>
                  <a:srgbClr val="42612D"/>
                </a:solidFill>
                <a:latin typeface="Poppins"/>
              </a:rPr>
              <a:t>« Elle possède de bons produits locaux mais manque de temps et de compétences pour les rendre visibles en ligne.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Faire connaître Sadiya Digital Agri auprès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agroalimentaires via des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spécialisés et pédagogiques.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98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Générer des prospects grâce aux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éducatifs, études de cas et appels à l'action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ciblés.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974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550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Transformer les prospects en clients avec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offres adaptées aux budgets des PME et un suivi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personnalisé.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550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296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5511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56611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9800" y="22941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800" y="2535936"/>
            <a:ext cx="6400800" cy="5598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51800" y="2294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1800" y="2546096"/>
            <a:ext cx="3251200" cy="422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L'agence qui combine expertise agricole et maîtrise</a:t>
            </a:r>
          </a:p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digitale au service de l'agroalimentaire sénégalais.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7409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1841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600" y="47683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" y="53525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3945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4254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112901" y="4325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136184" y="4299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55000" y="422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8" name="Oval 37"/>
          <p:cNvSpPr/>
          <p:nvPr/>
        </p:nvSpPr>
        <p:spPr>
          <a:xfrm>
            <a:off x="8077200" y="4508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8112901" y="4579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136184" y="4553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55000" y="447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2" name="Oval 41"/>
          <p:cNvSpPr/>
          <p:nvPr/>
        </p:nvSpPr>
        <p:spPr>
          <a:xfrm>
            <a:off x="8077200" y="4762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112901" y="4833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136184" y="4807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255000" y="4731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6" name="Oval 45"/>
          <p:cNvSpPr/>
          <p:nvPr/>
        </p:nvSpPr>
        <p:spPr>
          <a:xfrm>
            <a:off x="8077200" y="5016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112901" y="5087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136184" y="5061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55000" y="4985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  <p:sp>
        <p:nvSpPr>
          <p:cNvPr id="50" name="Oval 49"/>
          <p:cNvSpPr/>
          <p:nvPr/>
        </p:nvSpPr>
        <p:spPr>
          <a:xfrm>
            <a:off x="8077200" y="5270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107680" y="5300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8107680" y="5300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255000" y="5239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Jargon inutile</a:t>
            </a:r>
          </a:p>
        </p:txBody>
      </p:sp>
      <p:sp>
        <p:nvSpPr>
          <p:cNvPr id="54" name="Oval 53"/>
          <p:cNvSpPr/>
          <p:nvPr/>
        </p:nvSpPr>
        <p:spPr>
          <a:xfrm>
            <a:off x="8077200" y="5524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107680" y="5554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107680" y="5554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255000" y="549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Promesses irréalistes</a:t>
            </a:r>
          </a:p>
        </p:txBody>
      </p:sp>
      <p:sp>
        <p:nvSpPr>
          <p:cNvPr id="58" name="Oval 57"/>
          <p:cNvSpPr/>
          <p:nvPr/>
        </p:nvSpPr>
        <p:spPr>
          <a:xfrm>
            <a:off x="8077200" y="5778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107680" y="5808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8107680" y="5808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55000" y="574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Ton agressif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Vidéo courte et dynamique pour élargir la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portée et rendre l'agri-digital accessible.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98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94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974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Informer, éduquer, présenter l'offre et fédérer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une communauté d'acteurs locaux.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974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720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70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232506"/>
            <a:ext cx="2895600" cy="5725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Crédibilité, expertise et prospection directe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auprès des dirigeants et responsables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marketing.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550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296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4673600"/>
            <a:ext cx="10871200" cy="635000"/>
          </a:xfrm>
          <a:prstGeom prst="roundRect">
            <a:avLst>
              <a:gd name="adj" fmla="val 1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39800" y="4860544"/>
            <a:ext cx="1193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06600" y="4840732"/>
            <a:ext cx="932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message privé pour convertir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494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50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448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8194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038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136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882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980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3726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8200" y="2206650"/>
            <a:ext cx="1193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2206650"/>
            <a:ext cx="1955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206650"/>
            <a:ext cx="2336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206650"/>
            <a:ext cx="1320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8200" y="26974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1200" y="26991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6991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72200" y="27142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8200" y="32816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1200" y="32833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32833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72200" y="32984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38200" y="38658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1200" y="38675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38675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172200" y="38826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5293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0447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209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4544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06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8641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403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738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2692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29600" y="2622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778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77200" y="3073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229600" y="3003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3159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3454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29600" y="3384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3540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programmation FB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77200" y="3835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229600" y="3765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3921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gestion TikTok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77200" y="4216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229600" y="4146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4302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publication &amp; stats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77200" y="4597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8229600" y="4527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4683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stockage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77200" y="4978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229600" y="4908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0" y="5064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calendrier &amp; suivi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362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00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Production &amp; publication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285584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Début du mois : thèmes et objectifs définis.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099841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071317"/>
            <a:ext cx="2781300" cy="35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Chaque semaine : création, validation,</a:t>
            </a:r>
          </a:p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préparation.</a:t>
            </a:r>
          </a:p>
        </p:txBody>
      </p:sp>
      <p:sp>
        <p:nvSpPr>
          <p:cNvPr id="21" name="Oval 20"/>
          <p:cNvSpPr/>
          <p:nvPr/>
        </p:nvSpPr>
        <p:spPr>
          <a:xfrm>
            <a:off x="944880" y="349892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9500" y="34704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Contenus créés en avance, jamais improvisés.</a:t>
            </a:r>
          </a:p>
        </p:txBody>
      </p:sp>
      <p:sp>
        <p:nvSpPr>
          <p:cNvPr id="23" name="Oval 22"/>
          <p:cNvSpPr/>
          <p:nvPr/>
        </p:nvSpPr>
        <p:spPr>
          <a:xfrm>
            <a:off x="944880" y="374291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9500" y="3714394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Programmation via Meta Suite et TikTok Studio.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597400" y="2362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76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285584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Ton professionnel, chaleureux et respectueux.</a:t>
            </a:r>
          </a:p>
        </p:txBody>
      </p:sp>
      <p:sp>
        <p:nvSpPr>
          <p:cNvPr id="32" name="Oval 31"/>
          <p:cNvSpPr/>
          <p:nvPr/>
        </p:nvSpPr>
        <p:spPr>
          <a:xfrm>
            <a:off x="4602480" y="3099841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1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Répondre avec courtoisie, jamais de conflit.</a:t>
            </a:r>
          </a:p>
        </p:txBody>
      </p:sp>
      <p:sp>
        <p:nvSpPr>
          <p:cNvPr id="34" name="Oval 33"/>
          <p:cNvSpPr/>
          <p:nvPr/>
        </p:nvSpPr>
        <p:spPr>
          <a:xfrm>
            <a:off x="4602480" y="3343834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71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Critiques constructives conservées.</a:t>
            </a:r>
          </a:p>
        </p:txBody>
      </p:sp>
      <p:sp>
        <p:nvSpPr>
          <p:cNvPr id="36" name="Oval 35"/>
          <p:cNvSpPr/>
          <p:nvPr/>
        </p:nvSpPr>
        <p:spPr>
          <a:xfrm>
            <a:off x="4602480" y="358782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371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Réclamations déplacées en message privé.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255000" y="2362200"/>
            <a:ext cx="254000" cy="254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852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43" name="Oval 42"/>
          <p:cNvSpPr/>
          <p:nvPr/>
        </p:nvSpPr>
        <p:spPr>
          <a:xfrm>
            <a:off x="8260080" y="285584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947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Surveillance quotidienne des messages.</a:t>
            </a:r>
          </a:p>
        </p:txBody>
      </p:sp>
      <p:sp>
        <p:nvSpPr>
          <p:cNvPr id="45" name="Oval 44"/>
          <p:cNvSpPr/>
          <p:nvPr/>
        </p:nvSpPr>
        <p:spPr>
          <a:xfrm>
            <a:off x="8260080" y="3099841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7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Délai cible : moins de 24 h ouvrées.</a:t>
            </a:r>
          </a:p>
        </p:txBody>
      </p:sp>
      <p:sp>
        <p:nvSpPr>
          <p:cNvPr id="47" name="Oval 46"/>
          <p:cNvSpPr/>
          <p:nvPr/>
        </p:nvSpPr>
        <p:spPr>
          <a:xfrm>
            <a:off x="8260080" y="3343834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7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Demande commerciale : orientée en privé.</a:t>
            </a:r>
          </a:p>
        </p:txBody>
      </p:sp>
      <p:sp>
        <p:nvSpPr>
          <p:cNvPr id="49" name="Oval 48"/>
          <p:cNvSpPr/>
          <p:nvPr/>
        </p:nvSpPr>
        <p:spPr>
          <a:xfrm>
            <a:off x="8260080" y="358782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947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Sujets sensibles transmis au client.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39800" y="4961128"/>
            <a:ext cx="259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53" name="Oval 52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5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226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498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770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042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1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9800" y="5695696"/>
            <a:ext cx="894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9800" y="22595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25475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000" y="22943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53000" y="26519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9800" y="32501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35381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32849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953000" y="36425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9800" y="42407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45287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42755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953000" y="46331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83600" y="27716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83600" y="32288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3600" y="36860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3600" y="41432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3600" y="46004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39800" y="5593893"/>
            <a:ext cx="64008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Chaque semaine : identifier les contenus performants.   |   Chaque mois : comparer aux objectifs et</a:t>
            </a:r>
          </a:p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Modèle Économique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Comment Sadiya Digital Agri crée, délivre et capture de la valeur.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Proposition de valeur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9480" y="282930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1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Communication digitale spécialisée agro</a:t>
            </a:r>
          </a:p>
        </p:txBody>
      </p:sp>
      <p:sp>
        <p:nvSpPr>
          <p:cNvPr id="18" name="Oval 17"/>
          <p:cNvSpPr/>
          <p:nvPr/>
        </p:nvSpPr>
        <p:spPr>
          <a:xfrm>
            <a:off x="919480" y="305485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41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Double expertise agriculture + digital</a:t>
            </a:r>
          </a:p>
        </p:txBody>
      </p:sp>
      <p:sp>
        <p:nvSpPr>
          <p:cNvPr id="20" name="Oval 19"/>
          <p:cNvSpPr/>
          <p:nvPr/>
        </p:nvSpPr>
        <p:spPr>
          <a:xfrm>
            <a:off x="919480" y="328041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41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Produits locaux rendus visibles et attractifs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80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466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Clients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577080" y="282930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17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PME agroalimentaires sénégalaises</a:t>
            </a:r>
          </a:p>
        </p:txBody>
      </p:sp>
      <p:sp>
        <p:nvSpPr>
          <p:cNvPr id="28" name="Oval 27"/>
          <p:cNvSpPr/>
          <p:nvPr/>
        </p:nvSpPr>
        <p:spPr>
          <a:xfrm>
            <a:off x="4577080" y="305485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17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Coopératives &amp; GIE de producteurs</a:t>
            </a:r>
          </a:p>
        </p:txBody>
      </p:sp>
      <p:sp>
        <p:nvSpPr>
          <p:cNvPr id="30" name="Oval 29"/>
          <p:cNvSpPr/>
          <p:nvPr/>
        </p:nvSpPr>
        <p:spPr>
          <a:xfrm>
            <a:off x="4577080" y="328041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117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Grandes industries (cible secondaire)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042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Canaux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296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234680" y="282930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93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LinkedIn : prospection B2B directe</a:t>
            </a:r>
          </a:p>
        </p:txBody>
      </p:sp>
      <p:sp>
        <p:nvSpPr>
          <p:cNvPr id="38" name="Oval 37"/>
          <p:cNvSpPr/>
          <p:nvPr/>
        </p:nvSpPr>
        <p:spPr>
          <a:xfrm>
            <a:off x="8234680" y="305485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93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Facebook : communauté et offre</a:t>
            </a:r>
          </a:p>
        </p:txBody>
      </p:sp>
      <p:sp>
        <p:nvSpPr>
          <p:cNvPr id="40" name="Oval 39"/>
          <p:cNvSpPr/>
          <p:nvPr/>
        </p:nvSpPr>
        <p:spPr>
          <a:xfrm>
            <a:off x="8234680" y="328041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93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TikTok : portée et notoriété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604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90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Sources de revenus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44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919480" y="481050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41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Abonnements mensuels récurrents</a:t>
            </a:r>
          </a:p>
        </p:txBody>
      </p:sp>
      <p:sp>
        <p:nvSpPr>
          <p:cNvPr id="48" name="Oval 47"/>
          <p:cNvSpPr/>
          <p:nvPr/>
        </p:nvSpPr>
        <p:spPr>
          <a:xfrm>
            <a:off x="919480" y="503605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41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Prestations ponctuelles à la demande</a:t>
            </a:r>
          </a:p>
        </p:txBody>
      </p:sp>
      <p:sp>
        <p:nvSpPr>
          <p:cNvPr id="50" name="Oval 49"/>
          <p:cNvSpPr/>
          <p:nvPr/>
        </p:nvSpPr>
        <p:spPr>
          <a:xfrm>
            <a:off x="919480" y="526161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41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Campagnes publicitaires gérées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180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43180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5466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Ressources clés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4577080" y="481050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117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Compétences agro + community management</a:t>
            </a:r>
          </a:p>
        </p:txBody>
      </p:sp>
      <p:sp>
        <p:nvSpPr>
          <p:cNvPr id="58" name="Oval 57"/>
          <p:cNvSpPr/>
          <p:nvPr/>
        </p:nvSpPr>
        <p:spPr>
          <a:xfrm>
            <a:off x="4577080" y="503605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117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Canva, CapCut, Meta Suite, TikTok Studio</a:t>
            </a:r>
          </a:p>
        </p:txBody>
      </p:sp>
      <p:sp>
        <p:nvSpPr>
          <p:cNvPr id="60" name="Oval 59"/>
          <p:cNvSpPr/>
          <p:nvPr/>
        </p:nvSpPr>
        <p:spPr>
          <a:xfrm>
            <a:off x="4577080" y="526161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117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Identité de marque et site portfolio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9756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79756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042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Structure de coûts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2296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234680" y="481050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93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Outils en version gratuite au démarrage</a:t>
            </a:r>
          </a:p>
        </p:txBody>
      </p:sp>
      <p:sp>
        <p:nvSpPr>
          <p:cNvPr id="68" name="Oval 67"/>
          <p:cNvSpPr/>
          <p:nvPr/>
        </p:nvSpPr>
        <p:spPr>
          <a:xfrm>
            <a:off x="8234680" y="503605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93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Connexion, déplacements terrain</a:t>
            </a:r>
          </a:p>
        </p:txBody>
      </p:sp>
      <p:sp>
        <p:nvSpPr>
          <p:cNvPr id="70" name="Oval 69"/>
          <p:cNvSpPr/>
          <p:nvPr/>
        </p:nvSpPr>
        <p:spPr>
          <a:xfrm>
            <a:off x="8234680" y="526161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693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Budget publicitaire refacturé au client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441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56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3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37260" y="36695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70280" y="3738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95680" y="3702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17600" y="3664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21" name="Oval 20"/>
          <p:cNvSpPr/>
          <p:nvPr/>
        </p:nvSpPr>
        <p:spPr>
          <a:xfrm>
            <a:off x="937260" y="39507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70280" y="4019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95680" y="3983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17600" y="3945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5" name="Oval 24"/>
          <p:cNvSpPr/>
          <p:nvPr/>
        </p:nvSpPr>
        <p:spPr>
          <a:xfrm>
            <a:off x="937260" y="42319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70280" y="4300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95680" y="4265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17600" y="4226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314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529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106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594860" y="3542538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627880" y="3611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653280" y="3575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75200" y="3537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40" name="Oval 39"/>
          <p:cNvSpPr/>
          <p:nvPr/>
        </p:nvSpPr>
        <p:spPr>
          <a:xfrm>
            <a:off x="4594860" y="382376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627880" y="3892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653280" y="3856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75200" y="3818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4" name="Oval 43"/>
          <p:cNvSpPr/>
          <p:nvPr/>
        </p:nvSpPr>
        <p:spPr>
          <a:xfrm>
            <a:off x="4594860" y="4104996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27880" y="4173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53280" y="4138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775200" y="4099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229600" y="2441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2656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323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8252460" y="36695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285480" y="3738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310880" y="3702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432800" y="3664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7" name="Oval 56"/>
          <p:cNvSpPr/>
          <p:nvPr/>
        </p:nvSpPr>
        <p:spPr>
          <a:xfrm>
            <a:off x="8252460" y="39507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8285480" y="4019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310880" y="3983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432800" y="3945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61" name="Oval 60"/>
          <p:cNvSpPr/>
          <p:nvPr/>
        </p:nvSpPr>
        <p:spPr>
          <a:xfrm>
            <a:off x="8252460" y="42319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8285480" y="4300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310880" y="4265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432800" y="4226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39800" y="52161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390896"/>
            <a:ext cx="995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Contenus à la demande, campagnes publicitaires et stratégie ponctuelle — à partir de 25 000 FCFA.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5000" y="5824525"/>
            <a:ext cx="109220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1">
                <a:solidFill>
                  <a:srgbClr val="42612D"/>
                </a:solidFill>
                <a:latin typeface="Poppins"/>
              </a:rPr>
              <a:t>Paiement mensuel d'avance  ·  engagement 3 mois minimum  ·  devis sur mesure au-delà de 16 publications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36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068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68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68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00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932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32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32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911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41462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27200" y="41473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426200" y="41473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7304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27200" y="47315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26200" y="47315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53146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27200" y="53157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26200" y="53157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93200" y="3895344"/>
            <a:ext cx="2336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1743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0200" y="41743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5045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90200" y="45045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48347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90200" y="48347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3200" y="51649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90200" y="51649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093200" y="5595925"/>
            <a:ext cx="1320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2200" y="5595925"/>
            <a:ext cx="1346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18"/>
              </a:lnSpc>
            </a:pPr>
            <a:r>
              <a:rPr sz="86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000" y="6104738"/>
            <a:ext cx="817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1">
                <a:solidFill>
                  <a:srgbClr val="42612D"/>
                </a:solidFill>
                <a:latin typeface="Poppins"/>
              </a:rPr>
              <a:t>Hypothèses prudentes : outils en version gratuite, structure sans salarié, budget publicitaire refacturé au client.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Concurrence &amp; Différenciation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occupé par des généralistes — aucune agence spécialisée agro.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09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LE MARCHÉ AUJOURD'HUI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876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4805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Kolonell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27011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Expert, axé résultats et stratégie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25716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250–600 k FCFA/mois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0734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9000" y="31663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WEDRAOGO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33869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Professionnel, créatif et attractif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8600" y="32574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dès 130 k FCFA/mois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0400" y="37592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890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CM freelance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" y="40727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Généraliste et informel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8600" y="39432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50–150 k FCFA/mois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0400" y="4521200"/>
            <a:ext cx="5334000" cy="1498600"/>
          </a:xfrm>
          <a:prstGeom prst="roundRect">
            <a:avLst>
              <a:gd name="adj" fmla="val 847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732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NOTRE DIFFÉRENCIATION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982464"/>
            <a:ext cx="4775200" cy="453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La seule offre qui combine double expertise agriculture + digital et</a:t>
            </a:r>
          </a:p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spécialisation exclusive sur les acteurs agroalimentaires sénégalais.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800" y="5672531"/>
            <a:ext cx="47752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1">
                <a:solidFill>
                  <a:srgbClr val="9FB8A2"/>
                </a:solidFill>
                <a:latin typeface="Poppins"/>
              </a:rPr>
              <a:t>Tarifs d'entrée compétitifs · structure agile · connaissance du terrain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30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23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FORCES</a:t>
            </a:r>
          </a:p>
        </p:txBody>
      </p:sp>
      <p:sp>
        <p:nvSpPr>
          <p:cNvPr id="32" name="Oval 31"/>
          <p:cNvSpPr/>
          <p:nvPr/>
        </p:nvSpPr>
        <p:spPr>
          <a:xfrm>
            <a:off x="6431280" y="2650363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9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Double expertise agri + digital</a:t>
            </a:r>
          </a:p>
        </p:txBody>
      </p:sp>
      <p:sp>
        <p:nvSpPr>
          <p:cNvPr id="34" name="Oval 33"/>
          <p:cNvSpPr/>
          <p:nvPr/>
        </p:nvSpPr>
        <p:spPr>
          <a:xfrm>
            <a:off x="6431280" y="287235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659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Agilité d'une structure légère</a:t>
            </a:r>
          </a:p>
        </p:txBody>
      </p:sp>
      <p:sp>
        <p:nvSpPr>
          <p:cNvPr id="36" name="Oval 35"/>
          <p:cNvSpPr/>
          <p:nvPr/>
        </p:nvSpPr>
        <p:spPr>
          <a:xfrm>
            <a:off x="6431280" y="309435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9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Tarifs compétitifs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8915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932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C4453F"/>
                </a:solidFill>
                <a:latin typeface="Poppins"/>
              </a:rPr>
              <a:t>FAIBLESSES</a:t>
            </a:r>
          </a:p>
        </p:txBody>
      </p:sp>
      <p:sp>
        <p:nvSpPr>
          <p:cNvPr id="41" name="Oval 40"/>
          <p:cNvSpPr/>
          <p:nvPr/>
        </p:nvSpPr>
        <p:spPr>
          <a:xfrm>
            <a:off x="9123680" y="2650363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583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Notoriété à construire</a:t>
            </a:r>
          </a:p>
        </p:txBody>
      </p:sp>
      <p:sp>
        <p:nvSpPr>
          <p:cNvPr id="43" name="Oval 42"/>
          <p:cNvSpPr/>
          <p:nvPr/>
        </p:nvSpPr>
        <p:spPr>
          <a:xfrm>
            <a:off x="9123680" y="2872359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583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Portfolio grands comptes limité</a:t>
            </a:r>
          </a:p>
        </p:txBody>
      </p:sp>
      <p:sp>
        <p:nvSpPr>
          <p:cNvPr id="45" name="Oval 44"/>
          <p:cNvSpPr/>
          <p:nvPr/>
        </p:nvSpPr>
        <p:spPr>
          <a:xfrm>
            <a:off x="9123680" y="3094355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583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Ressources de production réduites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230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2230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008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OPPORTUNITÉS</a:t>
            </a:r>
          </a:p>
        </p:txBody>
      </p:sp>
      <p:sp>
        <p:nvSpPr>
          <p:cNvPr id="50" name="Oval 49"/>
          <p:cNvSpPr/>
          <p:nvPr/>
        </p:nvSpPr>
        <p:spPr>
          <a:xfrm>
            <a:off x="6431280" y="4631563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659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Dynamique « Consommer local »</a:t>
            </a:r>
          </a:p>
        </p:txBody>
      </p:sp>
      <p:sp>
        <p:nvSpPr>
          <p:cNvPr id="52" name="Oval 51"/>
          <p:cNvSpPr/>
          <p:nvPr/>
        </p:nvSpPr>
        <p:spPr>
          <a:xfrm>
            <a:off x="6431280" y="485355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9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Digitalisation de l'agro</a:t>
            </a:r>
          </a:p>
        </p:txBody>
      </p:sp>
      <p:sp>
        <p:nvSpPr>
          <p:cNvPr id="54" name="Oval 53"/>
          <p:cNvSpPr/>
          <p:nvPr/>
        </p:nvSpPr>
        <p:spPr>
          <a:xfrm>
            <a:off x="6431280" y="507555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659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Niche encore inexploitée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154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89154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0932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42612D"/>
                </a:solidFill>
                <a:latin typeface="Poppins"/>
              </a:rPr>
              <a:t>MENACES</a:t>
            </a:r>
          </a:p>
        </p:txBody>
      </p:sp>
      <p:sp>
        <p:nvSpPr>
          <p:cNvPr id="59" name="Oval 58"/>
          <p:cNvSpPr/>
          <p:nvPr/>
        </p:nvSpPr>
        <p:spPr>
          <a:xfrm>
            <a:off x="9123680" y="4631563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583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Agences établies</a:t>
            </a:r>
          </a:p>
        </p:txBody>
      </p:sp>
      <p:sp>
        <p:nvSpPr>
          <p:cNvPr id="61" name="Oval 60"/>
          <p:cNvSpPr/>
          <p:nvPr/>
        </p:nvSpPr>
        <p:spPr>
          <a:xfrm>
            <a:off x="9123680" y="485355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583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Budgets PME limités</a:t>
            </a:r>
          </a:p>
        </p:txBody>
      </p:sp>
      <p:sp>
        <p:nvSpPr>
          <p:cNvPr id="63" name="Oval 62"/>
          <p:cNvSpPr/>
          <p:nvPr/>
        </p:nvSpPr>
        <p:spPr>
          <a:xfrm>
            <a:off x="9123680" y="507555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583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Contraintes de connectivité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5" name="Picture 14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3742944"/>
            <a:ext cx="2895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1200" y="3819144"/>
            <a:ext cx="2895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1280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2981757"/>
            <a:ext cx="30988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0" y="3540557"/>
            <a:ext cx="30988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0" y="3793744"/>
            <a:ext cx="3098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44541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4" name="Picture 43" descr="bannie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28000" y="4454144"/>
            <a:ext cx="3225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8" name="Picture 47" descr="carte_vis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655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36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nene-hsd.vercel.app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0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36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linked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068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68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/company/sadiyadigitalagri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22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6068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ce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3500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/sadiyadigitalagri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54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500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p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0932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32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Page pub &amp; programmation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186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932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40477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instagr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160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tikt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3876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whatsap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759200" y="4430776"/>
            <a:ext cx="8382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emai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1308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000" y="4910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canv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700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700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capcu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0226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226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752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752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8" name="Picture 67" descr="char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5278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278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2" name="Picture 71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636000" y="43017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36000" y="4441952"/>
            <a:ext cx="2590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4885563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4860138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7" name="Oval 76"/>
          <p:cNvSpPr/>
          <p:nvPr/>
        </p:nvSpPr>
        <p:spPr>
          <a:xfrm>
            <a:off x="8158480" y="510755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3100" y="5082134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9" name="Oval 78"/>
          <p:cNvSpPr/>
          <p:nvPr/>
        </p:nvSpPr>
        <p:spPr>
          <a:xfrm>
            <a:off x="8158480" y="532955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3100" y="5304130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Validation des contenus en ligne</a:t>
            </a:r>
          </a:p>
        </p:txBody>
      </p:sp>
      <p:sp>
        <p:nvSpPr>
          <p:cNvPr id="81" name="Oval 80"/>
          <p:cNvSpPr/>
          <p:nvPr/>
        </p:nvSpPr>
        <p:spPr>
          <a:xfrm>
            <a:off x="8158480" y="5551551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3100" y="5526126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Suivi des KPI et des livrables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362200"/>
            <a:ext cx="431800" cy="431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21000"/>
            <a:ext cx="2921000" cy="476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Acquérir mes premiers clients</a:t>
            </a:r>
          </a:p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agro-industriels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6913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Signer 5 contrats avec des PME agroalimentaires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sénégalaises.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73400" y="2235200"/>
            <a:ext cx="838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048000" y="2271776"/>
            <a:ext cx="889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62200"/>
            <a:ext cx="431800" cy="431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921000"/>
            <a:ext cx="2921000" cy="476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Développer un portefeuille de</a:t>
            </a:r>
          </a:p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clients réguliers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6913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Passer d'une logique de mission ponctuelle à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l'abonnement récurrent.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31000" y="2235200"/>
            <a:ext cx="838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05600" y="2271776"/>
            <a:ext cx="889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255000" y="2362200"/>
            <a:ext cx="431800" cy="431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42612D"/>
                </a:solidFill>
                <a:latin typeface="Alfa Slab One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2921000"/>
            <a:ext cx="2921000" cy="476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Renforcer mon expertise en</a:t>
            </a:r>
          </a:p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publicité en ligne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550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0" y="36913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Maîtriser Meta Ads et l'analytics pour prouver le ROI de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chaque campagne.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88600" y="2235200"/>
            <a:ext cx="838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363200" y="2271776"/>
            <a:ext cx="889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470400"/>
            <a:ext cx="53340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4704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914400" y="46482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9000" y="47043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0" y="4622800"/>
            <a:ext cx="787400" cy="2159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03800" y="46593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625848"/>
            <a:ext cx="3581400" cy="2305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5063338"/>
            <a:ext cx="44196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Filmer du champ à l'assiette : le format qui valorise le mieux le local.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48400" y="4470400"/>
            <a:ext cx="53340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248400" y="44704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502400" y="46482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7000" y="47043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17200" y="4622800"/>
            <a:ext cx="787400" cy="2159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591800" y="46593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59600" y="4625848"/>
            <a:ext cx="3581400" cy="2305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Faire de Sadiya Digital Agri une agence reconnue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9600" y="5063338"/>
            <a:ext cx="44196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Devenir la référence de la communication digitale agroalimentaire au Sénégal.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6388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39800" y="57749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78000" y="5757164"/>
            <a:ext cx="944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Faire des produits agroalimentaires sénégalais une référence digitale — visibles, désirables et vendus en ligne.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 quoi ai-je besoin pour faire grandir Sadiya Digital Agri ?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82800"/>
            <a:ext cx="3403600" cy="1676400"/>
          </a:xfrm>
          <a:prstGeom prst="roundRect">
            <a:avLst>
              <a:gd name="adj" fmla="val 757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320544"/>
            <a:ext cx="2971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51176"/>
            <a:ext cx="2971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27248"/>
            <a:ext cx="2971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429000"/>
            <a:ext cx="28448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489757"/>
            <a:ext cx="29972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9FB8A2"/>
                </a:solidFill>
                <a:latin typeface="Poppins"/>
              </a:rPr>
              <a:t>Soit environ 2 820 € — décaissement sur 12 mois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142744"/>
            <a:ext cx="513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RÉPARTITION DU FINANCEMENT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420112"/>
            <a:ext cx="322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69200" y="24638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569200" y="24638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236200" y="24201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1 020 000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763012"/>
            <a:ext cx="322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Abonnements &amp; outils (12 mois)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69200" y="28067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569200" y="2806700"/>
            <a:ext cx="762000" cy="1143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236200" y="27630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105912"/>
            <a:ext cx="322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Formations professionnelles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69200" y="31496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569200" y="3149600"/>
            <a:ext cx="685800" cy="1143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236200" y="31059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275 000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448812"/>
            <a:ext cx="322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Site vitrine professionnel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9200" y="34925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569200" y="3492500"/>
            <a:ext cx="635000" cy="114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0236200" y="34488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250 000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68800" y="3860800"/>
            <a:ext cx="7162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343400" y="39176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6200" y="39176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1 850 000 FCFA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352544"/>
            <a:ext cx="513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648200"/>
            <a:ext cx="34036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648200"/>
            <a:ext cx="50800" cy="1066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4799584"/>
            <a:ext cx="2844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1137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Mentorat business : structuration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de l'offre, pricing et gestion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18000" y="4648200"/>
            <a:ext cx="34036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4318000" y="4648200"/>
            <a:ext cx="50800" cy="1066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572000" y="4799584"/>
            <a:ext cx="2844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51137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Accès aux réseaux et fédérations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agro-industriels du Sénégal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75600" y="4648200"/>
            <a:ext cx="34036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7975600" y="4648200"/>
            <a:ext cx="50800" cy="1066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229600" y="4799584"/>
            <a:ext cx="2844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51137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Références, recommandations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et premiers clients pilotes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58917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APPEL À L'ACTION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Quoi Servira le Financement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Chaque poste est directement lié à la production de contenu et à l'acquisition client.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82800"/>
            <a:ext cx="5334000" cy="226060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0828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697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8600" y="2253996"/>
            <a:ext cx="1701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1 020 000 FCFA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" y="26416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92200" y="25479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Ordinateur portable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200" y="26912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Montage vidéo, design et reporting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9000" y="25864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450 000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9800" y="29337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2200" y="28400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Smartphone photo/vidéo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200" y="29833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Captation terrain chez les producteurs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9000" y="28785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350 000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9800" y="32258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92200" y="31321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Trépied + stabilisateur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" y="32754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Vidéos stables en extérieur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9000" y="31706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60 000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9800" y="35179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200" y="34242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Disque dur externe 1 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200" y="35675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Archivage des contenus clients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9000" y="34627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60 000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9800" y="38100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92200" y="37163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Kit éclairage LED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200" y="38596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Photo produit et interviews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99000" y="37548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55 000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9800" y="41021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92200" y="40084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Micro-cravate sans fil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200" y="41517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Témoignages et interviews terrain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99000" y="40469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45 000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97600" y="2082800"/>
            <a:ext cx="5334000" cy="226060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6197600" y="20828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51600" y="2269744"/>
            <a:ext cx="4114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F5E3A"/>
                </a:solidFill>
                <a:latin typeface="Poppins"/>
              </a:rPr>
              <a:t>ABONNEMENTS &amp; OUTILS — 12 MOIS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75800" y="2253996"/>
            <a:ext cx="1701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305 000 FCFA</a:t>
            </a:r>
          </a:p>
        </p:txBody>
      </p:sp>
      <p:pic>
        <p:nvPicPr>
          <p:cNvPr id="44" name="Picture 43" descr="p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590800"/>
            <a:ext cx="279400" cy="2794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858000" y="2572918"/>
            <a:ext cx="2844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Meta Business — budget publicitaire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7293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Campagnes de test et acquisition B2B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36200" y="26245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150 000</a:t>
            </a:r>
          </a:p>
        </p:txBody>
      </p:sp>
      <p:pic>
        <p:nvPicPr>
          <p:cNvPr id="48" name="Picture 47" descr="s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3022600"/>
            <a:ext cx="279400" cy="2794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858000" y="3004718"/>
            <a:ext cx="2844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Hébergement + nom de domaine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1611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Mise en ligne du site vitrine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36200" y="30563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60 000</a:t>
            </a:r>
          </a:p>
        </p:txBody>
      </p:sp>
      <p:pic>
        <p:nvPicPr>
          <p:cNvPr id="52" name="Picture 51" descr="canv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3454400"/>
            <a:ext cx="279400" cy="2794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858000" y="3436518"/>
            <a:ext cx="2844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Canva Pro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35929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Marque, gabarits et exports HD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6200" y="34881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55 000</a:t>
            </a:r>
          </a:p>
        </p:txBody>
      </p:sp>
      <p:pic>
        <p:nvPicPr>
          <p:cNvPr id="56" name="Picture 55" descr="capc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3886200"/>
            <a:ext cx="279400" cy="2794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858000" y="3868318"/>
            <a:ext cx="2844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CapCut Pro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0" y="40247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Montage sans filigrane, sous-titres auto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36200" y="39199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40 000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0400" y="4546600"/>
            <a:ext cx="53340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660400" y="4546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14400" y="47335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42612D"/>
                </a:solidFill>
                <a:latin typeface="Poppins"/>
              </a:rPr>
              <a:t>FORMATIONS PROFESSIONNELLES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38600" y="4717796"/>
            <a:ext cx="1701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275 000 FCFA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9800" y="5105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092200" y="5011318"/>
            <a:ext cx="2717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Analytics &amp; data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2200" y="5167782"/>
            <a:ext cx="3225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Mesurer la performance, prouver le ROI client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99000" y="50629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100 000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39800" y="54356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92200" y="5341518"/>
            <a:ext cx="2717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Marketing B2B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2200" y="5497982"/>
            <a:ext cx="3225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Vendre à des dirigeants d'entreprise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99000" y="53931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100 000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39800" y="57658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92200" y="5671718"/>
            <a:ext cx="2717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Acquisition client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2200" y="5828182"/>
            <a:ext cx="3225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Prospection structurée et closing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99000" y="57233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75 000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97600" y="4546600"/>
            <a:ext cx="5334000" cy="1524000"/>
          </a:xfrm>
          <a:prstGeom prst="roundRect">
            <a:avLst>
              <a:gd name="adj" fmla="val 7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7" name="Picture 76" descr="s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4775200"/>
            <a:ext cx="330200" cy="3302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908800" y="4784344"/>
            <a:ext cx="3352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SITE VITRINE PROFESSIONNEL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75800" y="4768596"/>
            <a:ext cx="1701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FFFFFF"/>
                </a:solidFill>
                <a:latin typeface="Poppins"/>
              </a:rPr>
              <a:t>250 000 FCFA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51600" y="5164531"/>
            <a:ext cx="4826000" cy="362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Une vitrine qui présente les offres, les réalisations et les études de cas, avec formulaire de</a:t>
            </a:r>
          </a:p>
          <a:p>
            <a:pPr algn="l">
              <a:lnSpc>
                <a:spcPts val="1260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devis — pour convertir la visibilité en demandes entrantes.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477000" y="5689600"/>
            <a:ext cx="1473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6451600" y="57261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Offres &amp; tarifs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77200" y="5689600"/>
            <a:ext cx="1473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8051800" y="57261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Portfolio clients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77400" y="5689600"/>
            <a:ext cx="1473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9652000" y="57261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Formulaire de devis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60400" y="6197600"/>
            <a:ext cx="5080000" cy="304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35000" y="62671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235"/>
              </a:lnSpc>
            </a:pPr>
            <a:r>
              <a:rPr sz="950" b="1" i="0" spc="60">
                <a:solidFill>
                  <a:srgbClr val="FFFFFF"/>
                </a:solidFill>
                <a:latin typeface="Poppins"/>
              </a:rPr>
              <a:t>TOTAL DEMANDÉ : 1 850 000 FCFA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