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3172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778000" y="1625600"/>
            <a:ext cx="8636000" cy="4648200"/>
          </a:xfrm>
          <a:prstGeom prst="roundRect">
            <a:avLst>
              <a:gd name="adj" fmla="val 4918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203200" y="317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3200" y="330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3200" y="3429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3200" y="3556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3200" y="3683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3200" y="3810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3200" y="3937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3200" y="4064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3200" y="4191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3200" y="4318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200" y="444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3200" y="457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0200" y="317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0200" y="330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0200" y="3429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00" y="3556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0200" y="3683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0200" y="3810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0200" y="3937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0200" y="4064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0200" y="4191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0200" y="4318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30200" y="444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0200" y="457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" y="317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00" y="330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" y="3429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200" y="3556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" y="3683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7200" y="3810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7200" y="3937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200" y="4064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7200" y="4191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7200" y="4318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7200" y="444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7200" y="457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84200" y="317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4200" y="330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4200" y="3429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4200" y="3556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84200" y="3683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4200" y="3810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4200" y="3937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4200" y="4064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84200" y="4191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84200" y="4318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84200" y="444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84200" y="457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1200" y="317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1200" y="330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1200" y="3429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1200" y="3556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11200" y="3683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11200" y="3810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11200" y="3937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11200" y="4064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11200" y="4191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11200" y="4318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11200" y="444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11200" y="457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8200" y="317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8200" y="330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38200" y="3429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38200" y="3556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38200" y="3683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38200" y="3810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38200" y="3937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38200" y="4064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8200" y="4191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38200" y="4318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8200" y="444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38200" y="457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65200" y="317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5200" y="330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65200" y="3429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65200" y="3556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65200" y="3683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65200" y="3810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65200" y="3937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65200" y="4064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65200" y="4191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5200" y="4318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65200" y="4445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65200" y="4572000"/>
            <a:ext cx="48260" cy="4826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176000" y="1625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176000" y="1752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176000" y="1879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176000" y="2006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176000" y="2133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176000" y="2260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176000" y="2387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176000" y="2514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176000" y="2641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176000" y="2768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03000" y="1625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03000" y="1752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03000" y="1879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303000" y="2006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303000" y="2133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303000" y="2260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303000" y="2387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303000" y="2514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303000" y="2641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303000" y="2768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430000" y="1625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430000" y="1752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430000" y="1879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30000" y="2006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430000" y="2133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430000" y="2260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430000" y="2387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430000" y="2514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430000" y="2641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430000" y="2768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557000" y="1625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557000" y="1752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557000" y="1879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557000" y="2006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557000" y="2133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557000" y="2260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557000" y="2387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557000" y="2514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557000" y="2641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557000" y="2768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684000" y="1625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684000" y="1752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684000" y="1879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684000" y="2006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684000" y="2133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684000" y="2260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1684000" y="2387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1684000" y="2514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1684000" y="2641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1684000" y="2768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811000" y="1625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811000" y="1752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811000" y="1879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1811000" y="2006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811000" y="2133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1811000" y="2260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1811000" y="2387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1811000" y="2514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1811000" y="2641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1811000" y="2768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1938000" y="1625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1938000" y="1752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1938000" y="1879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1938000" y="2006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1938000" y="2133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1938000" y="2260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1938000" y="2387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938000" y="2514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938000" y="2641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1938000" y="2768600"/>
            <a:ext cx="48260" cy="4826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0414000" y="5080000"/>
            <a:ext cx="1778000" cy="1193800"/>
          </a:xfrm>
          <a:custGeom>
            <a:avLst/>
            <a:gdLst/>
            <a:ahLst/>
            <a:cxnLst/>
            <a:rect l="l" t="t" r="r" b="b"/>
            <a:pathLst>
              <a:path w="1778000" h="1193800">
                <a:moveTo>
                  <a:pt x="0" y="0"/>
                </a:moveTo>
                <a:lnTo>
                  <a:pt x="1778000" y="0"/>
                </a:lnTo>
                <a:lnTo>
                  <a:pt x="1778000" y="1193800"/>
                </a:lnTo>
                <a:lnTo>
                  <a:pt x="508000" y="1193800"/>
                </a:lnTo>
                <a:close/>
              </a:path>
            </a:pathLst>
          </a:cu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0" name="Picture 159" descr="logo_fabr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330200"/>
            <a:ext cx="1498600" cy="1003300"/>
          </a:xfrm>
          <a:prstGeom prst="rect">
            <a:avLst/>
          </a:prstGeom>
        </p:spPr>
      </p:pic>
      <p:pic>
        <p:nvPicPr>
          <p:cNvPr id="161" name="Picture 160" descr="logo_simpl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0" y="381000"/>
            <a:ext cx="1625600" cy="825500"/>
          </a:xfrm>
          <a:prstGeom prst="rect">
            <a:avLst/>
          </a:prstGeom>
        </p:spPr>
      </p:pic>
      <p:pic>
        <p:nvPicPr>
          <p:cNvPr id="162" name="Picture 161" descr="hero_t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400" y="279400"/>
            <a:ext cx="4775200" cy="237490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2387600" y="2887472"/>
            <a:ext cx="7416800" cy="6261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sz="2900" b="0" i="0" spc="80">
                <a:solidFill>
                  <a:srgbClr val="FFFFFF"/>
                </a:solidFill>
                <a:latin typeface="Alfa Slab One"/>
              </a:rPr>
              <a:t>SADIYA DIGITAL AGRI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2946400" y="3530600"/>
            <a:ext cx="812800" cy="0"/>
          </a:xfrm>
          <a:prstGeom prst="line">
            <a:avLst/>
          </a:prstGeom>
          <a:ln w="20320">
            <a:solidFill>
              <a:srgbClr val="1AA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9067800" y="3530600"/>
            <a:ext cx="812800" cy="0"/>
          </a:xfrm>
          <a:prstGeom prst="line">
            <a:avLst/>
          </a:prstGeom>
          <a:ln w="20320">
            <a:solidFill>
              <a:srgbClr val="1AA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2387600" y="3416300"/>
            <a:ext cx="74168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250" b="1" i="0" spc="140">
                <a:solidFill>
                  <a:srgbClr val="1AAB70"/>
                </a:solidFill>
                <a:latin typeface="Poppins"/>
              </a:rPr>
              <a:t>DESIGN &amp; COMMUNITY MANAGEMENT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895600" y="3763264"/>
            <a:ext cx="6400800" cy="426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>
                <a:solidFill>
                  <a:srgbClr val="9FB8A2"/>
                </a:solidFill>
                <a:latin typeface="Poppins"/>
              </a:rPr>
              <a:t>Votre partenaire en production agricole</a:t>
            </a:r>
          </a:p>
          <a:p>
            <a:pPr algn="ctr">
              <a:lnSpc>
                <a:spcPts val="1470"/>
              </a:lnSpc>
            </a:pPr>
            <a:r>
              <a:rPr sz="1050" b="0" i="0">
                <a:solidFill>
                  <a:srgbClr val="9FB8A2"/>
                </a:solidFill>
                <a:latin typeface="Poppins"/>
              </a:rPr>
              <a:t>et communication digitale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3810000" y="4368800"/>
            <a:ext cx="4572000" cy="0"/>
          </a:xfrm>
          <a:prstGeom prst="line">
            <a:avLst/>
          </a:prstGeom>
          <a:ln w="8890">
            <a:solidFill>
              <a:srgbClr val="1AA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2387600" y="4492752"/>
            <a:ext cx="74168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sz="1400" b="1" i="0" spc="320">
                <a:solidFill>
                  <a:srgbClr val="FFFFFF"/>
                </a:solidFill>
                <a:latin typeface="Poppins"/>
              </a:rPr>
              <a:t>SIMPLON SÉNÉGAL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387600" y="4833518"/>
            <a:ext cx="7416800" cy="189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44"/>
              </a:lnSpc>
            </a:pPr>
            <a:r>
              <a:rPr sz="880" b="1" i="0" spc="240">
                <a:solidFill>
                  <a:srgbClr val="1AAB70"/>
                </a:solidFill>
                <a:latin typeface="Poppins"/>
              </a:rPr>
              <a:t>PROGRAMME DE PRÉ-INCUBATION 2026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387600" y="5087112"/>
            <a:ext cx="7416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1">
                <a:solidFill>
                  <a:srgbClr val="9FB8A2"/>
                </a:solidFill>
                <a:latin typeface="Poppins"/>
              </a:rPr>
              <a:t>Juillet – Septembre 2026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2921000" y="5410200"/>
            <a:ext cx="6350000" cy="4064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2895600" y="5513832"/>
            <a:ext cx="6400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sz="1150" b="1" i="0">
                <a:solidFill>
                  <a:srgbClr val="FFFFFF"/>
                </a:solidFill>
                <a:latin typeface="Poppins"/>
              </a:rPr>
              <a:t>Présentatrice : Nene Halimatou Sahdiya Diallo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895600" y="59009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05"/>
              </a:lnSpc>
            </a:pPr>
            <a:r>
              <a:rPr sz="850" b="0" i="0">
                <a:solidFill>
                  <a:srgbClr val="9FB8A2"/>
                </a:solidFill>
                <a:latin typeface="Poppins"/>
              </a:rPr>
              <a:t>Fondatrice &amp; CEO — Sadiya Digital Agri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POINT DE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Contexte &amp; Problématique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Un secteur qui produit beaucoup, mais qui se vend mal en ligne.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113280"/>
            <a:ext cx="513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1AAB70"/>
                </a:solidFill>
                <a:latin typeface="Poppins"/>
              </a:rPr>
              <a:t>LE CONTEXTE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" y="2438400"/>
            <a:ext cx="3403600" cy="1320800"/>
          </a:xfrm>
          <a:prstGeom prst="roundRect">
            <a:avLst>
              <a:gd name="adj" fmla="val 8653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60400" y="24384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20264"/>
            <a:ext cx="2921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sz="2300" b="0" i="0">
                <a:solidFill>
                  <a:srgbClr val="1AAB70"/>
                </a:solidFill>
                <a:latin typeface="Alfa Slab One"/>
              </a:rPr>
              <a:t>70 %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52648"/>
            <a:ext cx="2971800" cy="447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de la population sénégalaise</a:t>
            </a:r>
          </a:p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vit de l'agriculture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8000" y="2438400"/>
            <a:ext cx="3403600" cy="1320800"/>
          </a:xfrm>
          <a:prstGeom prst="roundRect">
            <a:avLst>
              <a:gd name="adj" fmla="val 8653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318000" y="24384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0" y="2620264"/>
            <a:ext cx="2921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sz="2300" b="0" i="0">
                <a:solidFill>
                  <a:srgbClr val="1F5E3A"/>
                </a:solidFill>
                <a:latin typeface="Alfa Slab One"/>
              </a:rPr>
              <a:t>+ 9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52648"/>
            <a:ext cx="2971800" cy="447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d'utilisateurs actifs</a:t>
            </a:r>
          </a:p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sur les réseaux sociaux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5600" y="2438400"/>
            <a:ext cx="3403600" cy="1320800"/>
          </a:xfrm>
          <a:prstGeom prst="roundRect">
            <a:avLst>
              <a:gd name="adj" fmla="val 8653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975600" y="24384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0" y="2620264"/>
            <a:ext cx="2921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sz="2300" b="0" i="0">
                <a:solidFill>
                  <a:srgbClr val="42612D"/>
                </a:solidFill>
                <a:latin typeface="Alfa Slab One"/>
              </a:rPr>
              <a:t>Consommer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152648"/>
            <a:ext cx="2971800" cy="447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une dynamique nationale</a:t>
            </a:r>
          </a:p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qui porte les produits du terroir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4018280"/>
            <a:ext cx="513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FFB800"/>
                </a:solidFill>
                <a:latin typeface="Poppins"/>
              </a:rPr>
              <a:t>LA PROBLÉMATIQUE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0400" y="4343400"/>
            <a:ext cx="34036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60400" y="4343400"/>
            <a:ext cx="50800" cy="121920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39800" y="4572000"/>
            <a:ext cx="304800" cy="30480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25340"/>
            <a:ext cx="355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0A1A01"/>
                </a:solidFill>
                <a:latin typeface="Poppins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6200" y="4594352"/>
            <a:ext cx="25908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Présence faible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58664"/>
            <a:ext cx="2971800" cy="240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>
                <a:solidFill>
                  <a:srgbClr val="0A1A01"/>
                </a:solidFill>
                <a:latin typeface="Poppins"/>
              </a:rPr>
              <a:t>Des pages inactives, peu de contenu.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8000" y="4343400"/>
            <a:ext cx="34036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4318000" y="4343400"/>
            <a:ext cx="50800" cy="121920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4597400" y="4572000"/>
            <a:ext cx="304800" cy="30480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625340"/>
            <a:ext cx="355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0A1A01"/>
                </a:solidFill>
                <a:latin typeface="Poppin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3800" y="4594352"/>
            <a:ext cx="25908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Pas de stratégie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058664"/>
            <a:ext cx="2971800" cy="240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>
                <a:solidFill>
                  <a:srgbClr val="0A1A01"/>
                </a:solidFill>
                <a:latin typeface="Poppins"/>
              </a:rPr>
              <a:t>On publie sans objectif ni calendrier.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5600" y="4343400"/>
            <a:ext cx="34036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7975600" y="4343400"/>
            <a:ext cx="50800" cy="121920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8255000" y="4572000"/>
            <a:ext cx="304800" cy="304800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625340"/>
            <a:ext cx="355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0A1A01"/>
                </a:solidFill>
                <a:latin typeface="Poppins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61400" y="4594352"/>
            <a:ext cx="25908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Aucune conversion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058664"/>
            <a:ext cx="2971800" cy="240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>
                <a:solidFill>
                  <a:srgbClr val="0A1A01"/>
                </a:solidFill>
                <a:latin typeface="Poppins"/>
              </a:rPr>
              <a:t>De la visibilité, mais pas de clients.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0400" y="5740400"/>
            <a:ext cx="10871200" cy="508000"/>
          </a:xfrm>
          <a:prstGeom prst="roundRect">
            <a:avLst>
              <a:gd name="adj" fmla="val 225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5000" y="5867400"/>
            <a:ext cx="109220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250" b="1" i="0">
                <a:solidFill>
                  <a:srgbClr val="FFFFFF"/>
                </a:solidFill>
                <a:latin typeface="Poppins"/>
              </a:rPr>
              <a:t>Des produits de qualité restent invisibles, pendant que les marques importées occupent le terrain digital.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57404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produits_loca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787400"/>
            <a:ext cx="6045200" cy="5613400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5207000" y="0"/>
            <a:ext cx="3683000" cy="990600"/>
          </a:xfrm>
          <a:custGeom>
            <a:avLst/>
            <a:gdLst/>
            <a:ahLst/>
            <a:cxnLst/>
            <a:rect l="l" t="t" r="r" b="b"/>
            <a:pathLst>
              <a:path w="3683000" h="990600">
                <a:moveTo>
                  <a:pt x="0" y="0"/>
                </a:moveTo>
                <a:lnTo>
                  <a:pt x="3683000" y="0"/>
                </a:lnTo>
                <a:lnTo>
                  <a:pt x="2921000" y="990600"/>
                </a:lnTo>
                <a:lnTo>
                  <a:pt x="762000" y="990600"/>
                </a:lnTo>
                <a:close/>
              </a:path>
            </a:pathLst>
          </a:cu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1219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" y="1346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" y="1473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1600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1727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600" y="1854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8600" y="1981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2108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" y="2235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8600" y="2362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8600" y="2489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5600" y="1219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5600" y="1346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5600" y="1473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5600" y="1600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5600" y="1727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5600" y="1854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5600" y="1981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5600" y="2108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5600" y="2235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5600" y="2362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5600" y="2489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2600" y="1219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2600" y="1346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2600" y="1473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2600" y="1600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2600" y="1727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2600" y="1854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2600" y="1981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2600" y="2108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2600" y="2235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2600" y="2362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82600" y="2489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9600" y="1219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9600" y="1346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9600" y="1473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9600" y="1600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09600" y="1727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9600" y="1854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9600" y="1981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9600" y="2108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09600" y="2235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9600" y="2362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09600" y="2489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6600" y="1219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36600" y="1346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36600" y="1473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36600" y="1600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6600" y="1727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36600" y="1854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6600" y="1981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36600" y="2108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36600" y="2235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6600" y="2362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6600" y="2489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63600" y="1219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3600" y="1346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63600" y="1473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63600" y="1600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3600" y="1727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63600" y="1854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3600" y="1981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3600" y="2108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3600" y="2235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63600" y="2362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63600" y="2489200"/>
            <a:ext cx="50800" cy="50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2000" y="1536192"/>
            <a:ext cx="4876800" cy="94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20"/>
              </a:lnSpc>
            </a:pPr>
            <a:r>
              <a:rPr sz="4400" b="0" i="0">
                <a:solidFill>
                  <a:srgbClr val="1F5E3A"/>
                </a:solidFill>
                <a:latin typeface="Alfa Slab One"/>
              </a:rPr>
              <a:t>DU LOCAL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000" y="2323592"/>
            <a:ext cx="4876800" cy="94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20"/>
              </a:lnSpc>
            </a:pPr>
            <a:r>
              <a:rPr sz="4400" b="0" i="0">
                <a:solidFill>
                  <a:srgbClr val="1AAB70"/>
                </a:solidFill>
                <a:latin typeface="Alfa Slab One"/>
              </a:rPr>
              <a:t>AU DIGITAL,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7400" y="3327400"/>
            <a:ext cx="584200" cy="4445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62000" y="3577336"/>
            <a:ext cx="4419600" cy="874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2"/>
              </a:lnSpc>
            </a:pPr>
            <a:r>
              <a:rPr sz="1450" b="1" i="0">
                <a:solidFill>
                  <a:srgbClr val="0A1A01"/>
                </a:solidFill>
                <a:latin typeface="Poppins"/>
              </a:rPr>
              <a:t>Si nos produits ne sont pas visibles,</a:t>
            </a:r>
          </a:p>
          <a:p>
            <a:pPr algn="l">
              <a:lnSpc>
                <a:spcPts val="2102"/>
              </a:lnSpc>
            </a:pPr>
            <a:r>
              <a:rPr sz="1450" b="1" i="0">
                <a:solidFill>
                  <a:srgbClr val="0A1A01"/>
                </a:solidFill>
                <a:latin typeface="Poppins"/>
              </a:rPr>
              <a:t>comment donner envie de les</a:t>
            </a:r>
          </a:p>
          <a:p>
            <a:pPr algn="l">
              <a:lnSpc>
                <a:spcPts val="2102"/>
              </a:lnSpc>
            </a:pPr>
            <a:r>
              <a:rPr sz="1450" b="1" i="0">
                <a:solidFill>
                  <a:srgbClr val="0A1A01"/>
                </a:solidFill>
                <a:latin typeface="Poppins"/>
              </a:rPr>
              <a:t>consommer ?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2000" y="4960925"/>
            <a:ext cx="4470400" cy="3713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9"/>
              </a:lnSpc>
            </a:pPr>
            <a:r>
              <a:rPr sz="860" b="0" i="0">
                <a:solidFill>
                  <a:srgbClr val="42612D"/>
                </a:solidFill>
                <a:latin typeface="Poppins"/>
              </a:rPr>
              <a:t>Au Sénégal, des centaines de PME agroalimentaires produisent</a:t>
            </a:r>
          </a:p>
          <a:p>
            <a:pPr algn="l">
              <a:lnSpc>
                <a:spcPts val="1289"/>
              </a:lnSpc>
            </a:pPr>
            <a:r>
              <a:rPr sz="860" b="0" i="0">
                <a:solidFill>
                  <a:srgbClr val="42612D"/>
                </a:solidFill>
                <a:latin typeface="Poppins"/>
              </a:rPr>
              <a:t>d'excellents produits locaux… mais restent invisibles en ligne.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654800"/>
            <a:ext cx="12192000" cy="2032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8" name="Picture 77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5918200"/>
            <a:ext cx="12192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reeform 3"/>
          <p:cNvSpPr/>
          <p:nvPr/>
        </p:nvSpPr>
        <p:spPr>
          <a:xfrm>
            <a:off x="8890000" y="0"/>
            <a:ext cx="3302000" cy="1117600"/>
          </a:xfrm>
          <a:custGeom>
            <a:avLst/>
            <a:gdLst/>
            <a:ahLst/>
            <a:cxnLst/>
            <a:rect l="l" t="t" r="r" b="b"/>
            <a:pathLst>
              <a:path w="3302000" h="1117600">
                <a:moveTo>
                  <a:pt x="0" y="0"/>
                </a:moveTo>
                <a:lnTo>
                  <a:pt x="3302000" y="0"/>
                </a:lnTo>
                <a:lnTo>
                  <a:pt x="3302000" y="1117600"/>
                </a:lnTo>
                <a:lnTo>
                  <a:pt x="1244600" y="1117600"/>
                </a:lnTo>
                <a:close/>
              </a:path>
            </a:pathLst>
          </a:cu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74400" y="47244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74400" y="48768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4400" y="50292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74400" y="51816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74400" y="53340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74400" y="54864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74400" y="56388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26800" y="47244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26800" y="48768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26800" y="50292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26800" y="51816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26800" y="53340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26800" y="54864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26800" y="56388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79200" y="47244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79200" y="48768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79200" y="50292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79200" y="51816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79200" y="53340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79200" y="54864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79200" y="56388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1600" y="47244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31600" y="48768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31600" y="50292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531600" y="51816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531600" y="53340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31600" y="54864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531600" y="56388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84000" y="47244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684000" y="48768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84000" y="50292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684000" y="51816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84000" y="53340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684000" y="54864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84000" y="56388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836400" y="47244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36400" y="48768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836400" y="50292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836400" y="51816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836400" y="53340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36400" y="54864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836400" y="5638800"/>
            <a:ext cx="53340" cy="5334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0400" y="5588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4700" y="540512"/>
            <a:ext cx="5130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 spc="190">
                <a:solidFill>
                  <a:srgbClr val="1AAB70"/>
                </a:solidFill>
                <a:latin typeface="Poppins"/>
              </a:rPr>
              <a:t>NOTRE RÉPONSE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706120"/>
            <a:ext cx="6400800" cy="86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sz="4000" b="0" i="0">
                <a:solidFill>
                  <a:srgbClr val="1F5E3A"/>
                </a:solidFill>
                <a:latin typeface="Alfa Slab One"/>
              </a:rPr>
              <a:t>La Solution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0400" y="1676400"/>
            <a:ext cx="4826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660400" y="1676400"/>
            <a:ext cx="4826000" cy="63500"/>
          </a:xfrm>
          <a:prstGeom prst="roundRect">
            <a:avLst>
              <a:gd name="adj" fmla="val 4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057400"/>
            <a:ext cx="3708400" cy="149860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5791200" y="1676400"/>
            <a:ext cx="5740400" cy="1905000"/>
          </a:xfrm>
          <a:prstGeom prst="roundRect">
            <a:avLst>
              <a:gd name="adj" fmla="val 8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121400" y="2021840"/>
            <a:ext cx="5130800" cy="1022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</a:pPr>
            <a:r>
              <a:rPr sz="1750" b="1" i="0">
                <a:solidFill>
                  <a:srgbClr val="FFFFFF"/>
                </a:solidFill>
                <a:latin typeface="Poppins"/>
              </a:rPr>
              <a:t>Une agence de community</a:t>
            </a:r>
          </a:p>
          <a:p>
            <a:pPr algn="l">
              <a:lnSpc>
                <a:spcPts val="2450"/>
              </a:lnSpc>
            </a:pPr>
            <a:r>
              <a:rPr sz="1750" b="1" i="0">
                <a:solidFill>
                  <a:srgbClr val="FFFFFF"/>
                </a:solidFill>
                <a:latin typeface="Poppins"/>
              </a:rPr>
              <a:t>management spécialisée dans</a:t>
            </a:r>
          </a:p>
          <a:p>
            <a:pPr algn="l">
              <a:lnSpc>
                <a:spcPts val="2450"/>
              </a:lnSpc>
            </a:pPr>
            <a:r>
              <a:rPr sz="1750" b="1" i="0">
                <a:solidFill>
                  <a:srgbClr val="FFFFFF"/>
                </a:solidFill>
                <a:latin typeface="Poppins"/>
              </a:rPr>
              <a:t>l'agro-industrie sénégalaise.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46800" y="3098800"/>
            <a:ext cx="762000" cy="4445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660400" y="3886200"/>
            <a:ext cx="3403600" cy="154940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660400" y="38862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939800" y="4140200"/>
            <a:ext cx="279400" cy="2794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11202" y="4283004"/>
            <a:ext cx="46567" cy="49672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57769" y="4230229"/>
            <a:ext cx="90029" cy="102447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320800" y="4136136"/>
            <a:ext cx="2590800" cy="3038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450" b="1" i="0">
                <a:solidFill>
                  <a:srgbClr val="1F5E3A"/>
                </a:solidFill>
                <a:latin typeface="Poppins"/>
              </a:rPr>
              <a:t>Stratégie Social Media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4855464"/>
            <a:ext cx="2971800" cy="240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>
                <a:solidFill>
                  <a:srgbClr val="0A1A01"/>
                </a:solidFill>
                <a:latin typeface="Poppins"/>
              </a:rPr>
              <a:t>Objectifs, réseaux et ligne éditoriale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18000" y="3886200"/>
            <a:ext cx="3403600" cy="154940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4318000" y="38862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4597400" y="4140200"/>
            <a:ext cx="279400" cy="2794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4668802" y="4283004"/>
            <a:ext cx="46567" cy="49672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715369" y="4230229"/>
            <a:ext cx="90029" cy="102447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978400" y="4136136"/>
            <a:ext cx="2590800" cy="3038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450" b="1" i="0">
                <a:solidFill>
                  <a:srgbClr val="1F5E3A"/>
                </a:solidFill>
                <a:latin typeface="Poppins"/>
              </a:rPr>
              <a:t>Création de Contenu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0" y="4855464"/>
            <a:ext cx="2971800" cy="240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>
                <a:solidFill>
                  <a:srgbClr val="0A1A01"/>
                </a:solidFill>
                <a:latin typeface="Poppins"/>
              </a:rPr>
              <a:t>Visuels, carrousels et vidéos courtes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975600" y="3886200"/>
            <a:ext cx="3403600" cy="154940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7975600" y="38862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8255000" y="4140200"/>
            <a:ext cx="279400" cy="2794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8326402" y="4283004"/>
            <a:ext cx="46567" cy="49672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372969" y="4230229"/>
            <a:ext cx="90029" cy="102447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636000" y="4136136"/>
            <a:ext cx="2590800" cy="3038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450" b="1" i="0">
                <a:solidFill>
                  <a:srgbClr val="1F5E3A"/>
                </a:solidFill>
                <a:latin typeface="Poppins"/>
              </a:rPr>
              <a:t>Gestion de Communauté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4855464"/>
            <a:ext cx="2971800" cy="240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>
                <a:solidFill>
                  <a:srgbClr val="0A1A01"/>
                </a:solidFill>
                <a:latin typeface="Poppins"/>
              </a:rPr>
              <a:t>Animation, modération et relation client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60400" y="5689600"/>
            <a:ext cx="10871200" cy="533400"/>
          </a:xfrm>
          <a:prstGeom prst="roundRect">
            <a:avLst>
              <a:gd name="adj" fmla="val 21428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35000" y="5828284"/>
            <a:ext cx="10922000" cy="280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9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La double expertise agriculture + digital, unique sur ce marché.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80" name="Picture 7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168400"/>
            <a:ext cx="12192000" cy="5689600"/>
          </a:xfrm>
          <a:prstGeom prst="rect">
            <a:avLst/>
          </a:prstGeom>
          <a:solidFill>
            <a:srgbClr val="E4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5000" y="302768"/>
            <a:ext cx="7670800" cy="561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 i="0">
                <a:solidFill>
                  <a:srgbClr val="0A1A01"/>
                </a:solidFill>
                <a:latin typeface="Alfa Slab One"/>
              </a:rPr>
              <a:t>NOTRE MARCHÉ CIBLE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35200" y="786384"/>
            <a:ext cx="8178800" cy="280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90"/>
              </a:lnSpc>
            </a:pPr>
            <a:r>
              <a:rPr sz="1300" b="0" i="0">
                <a:solidFill>
                  <a:srgbClr val="42612D"/>
                </a:solidFill>
                <a:latin typeface="Poppins"/>
              </a:rPr>
              <a:t>Un marché 100 % B2B au cœur de l'agroalimentaire sénégalais</a:t>
            </a:r>
          </a:p>
        </p:txBody>
      </p:sp>
      <p:pic>
        <p:nvPicPr>
          <p:cNvPr id="7" name="Picture 6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330200"/>
            <a:ext cx="939800" cy="381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937000" y="1676400"/>
            <a:ext cx="4318000" cy="1930400"/>
          </a:xfrm>
          <a:prstGeom prst="roundRect">
            <a:avLst>
              <a:gd name="adj" fmla="val 8552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911600" y="1858264"/>
            <a:ext cx="4368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1050" b="1" i="0" spc="130">
                <a:solidFill>
                  <a:srgbClr val="FFFFFF"/>
                </a:solidFill>
                <a:latin typeface="Poppins"/>
              </a:rPr>
              <a:t>SADIYA DIGITAL AGRI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8600" y="2172208"/>
            <a:ext cx="4114800" cy="6813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sz="1850" b="0" i="0">
                <a:solidFill>
                  <a:srgbClr val="FFFFFF"/>
                </a:solidFill>
                <a:latin typeface="Alfa Slab One"/>
              </a:rPr>
              <a:t>Digitaliser la visibilité</a:t>
            </a:r>
          </a:p>
          <a:p>
            <a:pPr algn="ctr">
              <a:lnSpc>
                <a:spcPts val="2312"/>
              </a:lnSpc>
            </a:pPr>
            <a:r>
              <a:rPr sz="1850" b="0" i="0">
                <a:solidFill>
                  <a:srgbClr val="FFFFFF"/>
                </a:solidFill>
                <a:latin typeface="Alfa Slab One"/>
              </a:rPr>
              <a:t>et la commercialisation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8600" y="3105912"/>
            <a:ext cx="4114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>
                <a:solidFill>
                  <a:srgbClr val="9FB8A2"/>
                </a:solidFill>
                <a:latin typeface="Poppins"/>
              </a:rPr>
              <a:t>des acteurs agroalimentaires sénégalais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1981200"/>
            <a:ext cx="2946400" cy="1219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1430">
            <a:solidFill>
              <a:srgbClr val="1AA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63600" y="2159000"/>
            <a:ext cx="254000" cy="2540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2201799"/>
            <a:ext cx="304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05"/>
              </a:lnSpc>
            </a:pPr>
            <a:r>
              <a:rPr sz="85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2171700"/>
            <a:ext cx="22987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250" b="1" i="0">
                <a:solidFill>
                  <a:srgbClr val="1F5E3A"/>
                </a:solidFill>
                <a:latin typeface="Poppins"/>
              </a:rPr>
              <a:t>PRODUCTEURS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595880"/>
            <a:ext cx="25908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Exploitations agricoles</a:t>
            </a:r>
          </a:p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&amp; entreprises de production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85200" y="1981200"/>
            <a:ext cx="2946400" cy="1219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1430">
            <a:solidFill>
              <a:srgbClr val="1AA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788400" y="2159000"/>
            <a:ext cx="254000" cy="2540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3000" y="2201799"/>
            <a:ext cx="304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05"/>
              </a:lnSpc>
            </a:pPr>
            <a:r>
              <a:rPr sz="850" b="1" i="0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5900" y="2171700"/>
            <a:ext cx="22987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250" b="1" i="0">
                <a:solidFill>
                  <a:srgbClr val="1F5E3A"/>
                </a:solidFill>
                <a:latin typeface="Poppins"/>
              </a:rPr>
              <a:t>ACHETEURS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0" y="2595880"/>
            <a:ext cx="25908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Hôtels, restaurants,</a:t>
            </a:r>
          </a:p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commerces &amp; enseignes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7400" y="4216400"/>
            <a:ext cx="2870200" cy="1219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1430">
            <a:solidFill>
              <a:srgbClr val="1AA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90600" y="4394200"/>
            <a:ext cx="254000" cy="2540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200" y="4436999"/>
            <a:ext cx="304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05"/>
              </a:lnSpc>
            </a:pPr>
            <a:r>
              <a:rPr sz="850" b="1" i="0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8100" y="4406900"/>
            <a:ext cx="22225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250" b="1" i="0">
                <a:solidFill>
                  <a:srgbClr val="1F5E3A"/>
                </a:solidFill>
                <a:latin typeface="Poppins"/>
              </a:rPr>
              <a:t>TRANSFORMATEURS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831080"/>
            <a:ext cx="25146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PME et entreprises</a:t>
            </a:r>
          </a:p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de transformation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48200" y="4521200"/>
            <a:ext cx="2895600" cy="1219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1430">
            <a:solidFill>
              <a:srgbClr val="1AA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851400" y="4699000"/>
            <a:ext cx="254000" cy="2540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6000" y="4741799"/>
            <a:ext cx="304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05"/>
              </a:lnSpc>
            </a:pPr>
            <a:r>
              <a:rPr sz="85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8900" y="4711700"/>
            <a:ext cx="22479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250" b="1" i="0">
                <a:solidFill>
                  <a:srgbClr val="1F5E3A"/>
                </a:solidFill>
                <a:latin typeface="Poppins"/>
              </a:rPr>
              <a:t>GIE &amp; COOPÉRATIVES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6000" y="5135880"/>
            <a:ext cx="254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Structures collectives</a:t>
            </a:r>
          </a:p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à professionnaliser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34400" y="4216400"/>
            <a:ext cx="2946400" cy="1219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1430">
            <a:solidFill>
              <a:srgbClr val="1AA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737600" y="4394200"/>
            <a:ext cx="254000" cy="2540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12200" y="4436999"/>
            <a:ext cx="304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05"/>
              </a:lnSpc>
            </a:pPr>
            <a:r>
              <a:rPr sz="850" b="1" i="0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5100" y="4406900"/>
            <a:ext cx="22987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250" b="1" i="0">
                <a:solidFill>
                  <a:srgbClr val="1F5E3A"/>
                </a:solidFill>
                <a:latin typeface="Poppins"/>
              </a:rPr>
              <a:t>DISTRIBUTEURS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2200" y="4831080"/>
            <a:ext cx="25908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Grossistes, distributeurs</a:t>
            </a:r>
          </a:p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&amp; acteurs de la chaîne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3606800" y="2540000"/>
            <a:ext cx="2489200" cy="736600"/>
          </a:xfrm>
          <a:prstGeom prst="line">
            <a:avLst/>
          </a:prstGeom>
          <a:ln w="7620">
            <a:solidFill>
              <a:srgbClr val="1AAB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096000" y="2540000"/>
            <a:ext cx="2489200" cy="736600"/>
          </a:xfrm>
          <a:prstGeom prst="line">
            <a:avLst/>
          </a:prstGeom>
          <a:ln w="7620">
            <a:solidFill>
              <a:srgbClr val="1AAB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3657600" y="3276600"/>
            <a:ext cx="2438400" cy="1244600"/>
          </a:xfrm>
          <a:prstGeom prst="line">
            <a:avLst/>
          </a:prstGeom>
          <a:ln w="7620">
            <a:solidFill>
              <a:srgbClr val="1AAB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096000" y="3276600"/>
            <a:ext cx="0" cy="1244600"/>
          </a:xfrm>
          <a:prstGeom prst="line">
            <a:avLst/>
          </a:prstGeom>
          <a:ln w="7620">
            <a:solidFill>
              <a:srgbClr val="1AAB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096000" y="3276600"/>
            <a:ext cx="2438400" cy="1244600"/>
          </a:xfrm>
          <a:prstGeom prst="line">
            <a:avLst/>
          </a:prstGeom>
          <a:ln w="7620">
            <a:solidFill>
              <a:srgbClr val="1AAB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NOTRE 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La stratégie TOMSTER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Six étapes pour transformer une présence digitale en opportunités commerciales.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84400"/>
            <a:ext cx="3403600" cy="16256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2184400"/>
            <a:ext cx="50800" cy="16256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39800" y="2514600"/>
            <a:ext cx="558800" cy="558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45156"/>
            <a:ext cx="6096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sz="1700" b="0" i="0">
                <a:solidFill>
                  <a:srgbClr val="1AAB70"/>
                </a:solidFill>
                <a:latin typeface="Alfa Slab One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5600" y="2530856"/>
            <a:ext cx="23368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1" i="0">
                <a:solidFill>
                  <a:srgbClr val="1F5E3A"/>
                </a:solidFill>
                <a:latin typeface="Poppins"/>
              </a:rP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5600" y="2873248"/>
            <a:ext cx="24130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À qui je m'adresse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8000" y="2184400"/>
            <a:ext cx="3403600" cy="16256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318000" y="2184400"/>
            <a:ext cx="50800" cy="16256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597400" y="2514600"/>
            <a:ext cx="558800" cy="558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645156"/>
            <a:ext cx="6096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sz="1700" b="0" i="0">
                <a:solidFill>
                  <a:srgbClr val="1F5E3A"/>
                </a:solidFill>
                <a:latin typeface="Alfa Slab One"/>
              </a:rPr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3200" y="2530856"/>
            <a:ext cx="23368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1" i="0">
                <a:solidFill>
                  <a:srgbClr val="1F5E3A"/>
                </a:solidFill>
                <a:latin typeface="Poppins"/>
              </a:rP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200" y="2873248"/>
            <a:ext cx="24130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Ce que je veux accomplir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5600" y="2184400"/>
            <a:ext cx="3403600" cy="16256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975600" y="2184400"/>
            <a:ext cx="50800" cy="16256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255000" y="2514600"/>
            <a:ext cx="558800" cy="5588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645156"/>
            <a:ext cx="6096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sz="1700" b="0" i="0">
                <a:solidFill>
                  <a:srgbClr val="42612D"/>
                </a:solidFill>
                <a:latin typeface="Alfa Slab One"/>
              </a:rP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0800" y="2530856"/>
            <a:ext cx="23368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1" i="0">
                <a:solidFill>
                  <a:srgbClr val="1F5E3A"/>
                </a:solidFill>
                <a:latin typeface="Poppins"/>
              </a:rPr>
              <a:t>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0800" y="2873248"/>
            <a:ext cx="24130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Ce que je dis, et comment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400" y="4089400"/>
            <a:ext cx="3403600" cy="16256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660400" y="4089400"/>
            <a:ext cx="50800" cy="16256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39800" y="4419600"/>
            <a:ext cx="558800" cy="558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550156"/>
            <a:ext cx="6096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sz="1700" b="0" i="0">
                <a:solidFill>
                  <a:srgbClr val="1AAB70"/>
                </a:solidFill>
                <a:latin typeface="Alfa Slab One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5600" y="4435856"/>
            <a:ext cx="23368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1" i="0">
                <a:solidFill>
                  <a:srgbClr val="1F5E3A"/>
                </a:solidFill>
                <a:latin typeface="Poppins"/>
              </a:rPr>
              <a:t>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5600" y="4778248"/>
            <a:ext cx="24130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Mon approche globale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18000" y="4089400"/>
            <a:ext cx="3403600" cy="16256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4318000" y="4089400"/>
            <a:ext cx="50800" cy="16256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4597400" y="4419600"/>
            <a:ext cx="558800" cy="558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550156"/>
            <a:ext cx="6096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sz="1700" b="0" i="0">
                <a:solidFill>
                  <a:srgbClr val="1F5E3A"/>
                </a:solidFill>
                <a:latin typeface="Alfa Slab One"/>
              </a:rPr>
              <a:t>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3200" y="4435856"/>
            <a:ext cx="23368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1" i="0">
                <a:solidFill>
                  <a:srgbClr val="1F5E3A"/>
                </a:solidFill>
                <a:latin typeface="Poppins"/>
              </a:rPr>
              <a:t>Tactics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83200" y="4778248"/>
            <a:ext cx="24130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Mes actions concrètes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75600" y="4089400"/>
            <a:ext cx="3403600" cy="16256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7975600" y="4089400"/>
            <a:ext cx="50800" cy="16256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255000" y="4419600"/>
            <a:ext cx="558800" cy="5588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4560316"/>
            <a:ext cx="6096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0" i="0">
                <a:solidFill>
                  <a:srgbClr val="42612D"/>
                </a:solidFill>
                <a:latin typeface="Alfa Slab One"/>
              </a:rPr>
              <a:t>E+R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40800" y="4435856"/>
            <a:ext cx="23368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1" i="0">
                <a:solidFill>
                  <a:srgbClr val="1F5E3A"/>
                </a:solidFill>
                <a:latin typeface="Poppins"/>
              </a:rPr>
              <a:t>Execution &amp; Results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0800" y="4778248"/>
            <a:ext cx="24130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Je produis, je mesure, j'ajuste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T ·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À qui nous adressons-nous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Un marché B2B concentré, identifiable et joignable directement en ligne.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33600"/>
            <a:ext cx="53340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2133600"/>
            <a:ext cx="53340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341880"/>
            <a:ext cx="386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40">
                <a:solidFill>
                  <a:srgbClr val="1AAB70"/>
                </a:solidFill>
                <a:latin typeface="Poppins"/>
              </a:rPr>
              <a:t>CIBLE PRINCIPALE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42616"/>
            <a:ext cx="4826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>
                <a:solidFill>
                  <a:srgbClr val="0A1A01"/>
                </a:solidFill>
                <a:latin typeface="Poppins"/>
              </a:rPr>
              <a:t>Dirigeants des PME agroalimentaires sénégalaises : marques</a:t>
            </a:r>
          </a:p>
          <a:p>
            <a:pPr algn="l">
              <a:lnSpc>
                <a:spcPts val="1860"/>
              </a:lnSpc>
            </a:pPr>
            <a:r>
              <a:rPr sz="1200" b="0" i="0">
                <a:solidFill>
                  <a:srgbClr val="0A1A01"/>
                </a:solidFill>
                <a:latin typeface="Poppins"/>
              </a:rPr>
              <a:t>locales, coopératives et unités artisanales.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7600" y="2133600"/>
            <a:ext cx="53340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197600" y="2133600"/>
            <a:ext cx="5334000" cy="508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51600" y="2341880"/>
            <a:ext cx="386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40">
                <a:solidFill>
                  <a:srgbClr val="42612D"/>
                </a:solidFill>
                <a:latin typeface="Poppins"/>
              </a:rPr>
              <a:t>CIBLE SECONDAIRE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600" y="2642616"/>
            <a:ext cx="4826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>
                <a:solidFill>
                  <a:srgbClr val="0A1A01"/>
                </a:solidFill>
                <a:latin typeface="Poppins"/>
              </a:rPr>
              <a:t>Grandes entreprises et industries agroalimentaires, avec des</a:t>
            </a:r>
          </a:p>
          <a:p>
            <a:pPr algn="l">
              <a:lnSpc>
                <a:spcPts val="1860"/>
              </a:lnSpc>
            </a:pPr>
            <a:r>
              <a:rPr sz="1200" b="0" i="0">
                <a:solidFill>
                  <a:srgbClr val="0A1A01"/>
                </a:solidFill>
                <a:latin typeface="Poppins"/>
              </a:rPr>
              <a:t>budgets structurés et des enjeux de marque nationale.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0400" y="4038600"/>
            <a:ext cx="10871200" cy="1879600"/>
          </a:xfrm>
          <a:prstGeom prst="roundRect">
            <a:avLst>
              <a:gd name="adj" fmla="val 7432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16000" y="4368800"/>
            <a:ext cx="965200" cy="965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600" y="4587240"/>
            <a:ext cx="1016000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000" b="0" i="0">
                <a:solidFill>
                  <a:srgbClr val="1AAB70"/>
                </a:solidFill>
                <a:latin typeface="Alfa Slab One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5200" y="4275328"/>
            <a:ext cx="386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60">
                <a:solidFill>
                  <a:srgbClr val="1AAB70"/>
                </a:solidFill>
                <a:latin typeface="Poppins"/>
              </a:rPr>
              <a:t>PERSONA PRINCIPAL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5200" y="4431792"/>
            <a:ext cx="3860800" cy="4102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 i="0">
                <a:solidFill>
                  <a:srgbClr val="FFFFFF"/>
                </a:solidFill>
                <a:latin typeface="Alfa Slab One"/>
              </a:rPr>
              <a:t>Aminata, 36 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5200" y="4880864"/>
            <a:ext cx="5638800" cy="2466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>
                <a:solidFill>
                  <a:srgbClr val="9FB8A2"/>
                </a:solidFill>
                <a:latin typeface="Poppins"/>
              </a:rPr>
              <a:t>Directrice d'une PME de transformation de fruits et légumes à Dakar.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60600" y="5257800"/>
            <a:ext cx="28702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387600" y="5343144"/>
            <a:ext cx="25908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0"/>
              </a:lnSpc>
            </a:pPr>
            <a:r>
              <a:rPr sz="800" b="1" i="0" spc="120">
                <a:solidFill>
                  <a:srgbClr val="1AAB70"/>
                </a:solidFill>
                <a:latin typeface="Poppins"/>
              </a:rPr>
              <a:t>BESOIN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87600" y="5530393"/>
            <a:ext cx="2743200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8"/>
              </a:lnSpc>
            </a:pPr>
            <a:r>
              <a:rPr sz="960" b="0" i="0">
                <a:solidFill>
                  <a:srgbClr val="FFFFFF"/>
                </a:solidFill>
                <a:latin typeface="Poppins"/>
              </a:rPr>
              <a:t>Faire connaître ses gammes de jus locaux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8600" y="5257800"/>
            <a:ext cx="28702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35600" y="5343144"/>
            <a:ext cx="25908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0"/>
              </a:lnSpc>
            </a:pPr>
            <a:r>
              <a:rPr sz="800" b="1" i="0" spc="120">
                <a:solidFill>
                  <a:srgbClr val="1AAB70"/>
                </a:solidFill>
                <a:latin typeface="Poppins"/>
              </a:rPr>
              <a:t>FREIN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5600" y="5530393"/>
            <a:ext cx="2743200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8"/>
              </a:lnSpc>
            </a:pPr>
            <a:r>
              <a:rPr sz="960" b="0" i="0">
                <a:solidFill>
                  <a:srgbClr val="FFFFFF"/>
                </a:solidFill>
                <a:latin typeface="Poppins"/>
              </a:rPr>
              <a:t>Manque de temps et d'expertise interne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56600" y="5257800"/>
            <a:ext cx="28702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83600" y="5343144"/>
            <a:ext cx="25908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0"/>
              </a:lnSpc>
            </a:pPr>
            <a:r>
              <a:rPr sz="800" b="1" i="0" spc="120">
                <a:solidFill>
                  <a:srgbClr val="1AAB70"/>
                </a:solidFill>
                <a:latin typeface="Poppins"/>
              </a:rPr>
              <a:t>RÉSEAUX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3600" y="5530393"/>
            <a:ext cx="2743200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8"/>
              </a:lnSpc>
            </a:pPr>
            <a:r>
              <a:rPr sz="960" b="0" i="0">
                <a:solidFill>
                  <a:srgbClr val="FFFFFF"/>
                </a:solidFill>
                <a:latin typeface="Poppins"/>
              </a:rPr>
              <a:t>LinkedIn · Facebook · TikTok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6048248"/>
            <a:ext cx="109220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0" i="1">
                <a:solidFill>
                  <a:srgbClr val="42612D"/>
                </a:solidFill>
                <a:latin typeface="Poppins"/>
              </a:rPr>
              <a:t>« De bons produits locaux, mais ni le temps ni les compétences pour les rendre visibles.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O ·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Qu'est-ce que je veux accomplir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Trois objectifs SMART, mesurables et échelonnés sur les 6 premiers mois.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08200"/>
            <a:ext cx="3403600" cy="269240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2108200"/>
            <a:ext cx="3403600" cy="63500"/>
          </a:xfrm>
          <a:prstGeom prst="roundRect">
            <a:avLst>
              <a:gd name="adj" fmla="val 4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440432"/>
            <a:ext cx="2844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 spc="150">
                <a:solidFill>
                  <a:srgbClr val="1AAB70"/>
                </a:solidFill>
                <a:latin typeface="Poppins"/>
              </a:rPr>
              <a:t>NOTORIÉTÉ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67000"/>
            <a:ext cx="2844800" cy="1079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sz="5000" b="0" i="0">
                <a:solidFill>
                  <a:srgbClr val="1F5E3A"/>
                </a:solidFill>
                <a:latin typeface="Alfa Slab One"/>
              </a:rPr>
              <a:t>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82416"/>
            <a:ext cx="2844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42612D"/>
                </a:solidFill>
                <a:latin typeface="Poppins"/>
              </a:rPr>
              <a:t>abonnés qualifiés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9800" y="40132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9800" y="4241800"/>
            <a:ext cx="1219200" cy="330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310380"/>
            <a:ext cx="1270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3 mois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8000" y="2108200"/>
            <a:ext cx="3403600" cy="269240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4318000" y="2108200"/>
            <a:ext cx="3403600" cy="63500"/>
          </a:xfrm>
          <a:prstGeom prst="roundRect">
            <a:avLst>
              <a:gd name="adj" fmla="val 4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0" y="2440432"/>
            <a:ext cx="2844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 spc="150">
                <a:solidFill>
                  <a:srgbClr val="1F5E3A"/>
                </a:solidFill>
                <a:latin typeface="Poppins"/>
              </a:rPr>
              <a:t>PROSPECTION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67000"/>
            <a:ext cx="2844800" cy="1079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sz="5000" b="0" i="0">
                <a:solidFill>
                  <a:srgbClr val="1F5E3A"/>
                </a:solidFill>
                <a:latin typeface="Alfa Slab One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582416"/>
            <a:ext cx="2844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42612D"/>
                </a:solidFill>
                <a:latin typeface="Poppins"/>
              </a:rPr>
              <a:t>demandes qualifiées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97400" y="40132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97400" y="4241800"/>
            <a:ext cx="1219200" cy="3302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0" y="4310380"/>
            <a:ext cx="1270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6 mois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5600" y="2108200"/>
            <a:ext cx="3403600" cy="269240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975600" y="2108200"/>
            <a:ext cx="3403600" cy="63500"/>
          </a:xfrm>
          <a:prstGeom prst="roundRect">
            <a:avLst>
              <a:gd name="adj" fmla="val 4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0" y="2440432"/>
            <a:ext cx="2844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 spc="150">
                <a:solidFill>
                  <a:srgbClr val="42612D"/>
                </a:solidFill>
                <a:latin typeface="Poppins"/>
              </a:rPr>
              <a:t>CONVERSION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667000"/>
            <a:ext cx="2844800" cy="1079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sz="5000" b="0" i="0">
                <a:solidFill>
                  <a:srgbClr val="1F5E3A"/>
                </a:solidFill>
                <a:latin typeface="Alfa Slab One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582416"/>
            <a:ext cx="2844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42612D"/>
                </a:solidFill>
                <a:latin typeface="Poppins"/>
              </a:rPr>
              <a:t>contrats signés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55000" y="40132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255000" y="4241800"/>
            <a:ext cx="1219200" cy="3302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29600" y="4310380"/>
            <a:ext cx="1270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6 mois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0400" y="5232400"/>
            <a:ext cx="10871200" cy="660400"/>
          </a:xfrm>
          <a:prstGeom prst="roundRect">
            <a:avLst>
              <a:gd name="adj" fmla="val 17307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5000" y="5401056"/>
            <a:ext cx="109220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sz="1700" b="1" i="0" spc="80">
                <a:solidFill>
                  <a:srgbClr val="1AAB70"/>
                </a:solidFill>
                <a:latin typeface="Poppins"/>
              </a:rPr>
              <a:t>Visibilité  ›  Engagement  ›  Prospects  ›  Clients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M ·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Qu'est-ce que je veux dire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Un positionnement clair, une proposition de valeur unique, un ton reconnaissable.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08200"/>
            <a:ext cx="6934200" cy="1371600"/>
          </a:xfrm>
          <a:prstGeom prst="roundRect">
            <a:avLst>
              <a:gd name="adj" fmla="val 9259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9800" y="2291080"/>
            <a:ext cx="386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1AAB70"/>
                </a:solidFill>
                <a:latin typeface="Poppins"/>
              </a:rPr>
              <a:t>PROPOSITION DE VALEUR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800" y="2558288"/>
            <a:ext cx="6400800" cy="617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12"/>
              </a:lnSpc>
            </a:pPr>
            <a:r>
              <a:rPr sz="1600" b="0" i="0">
                <a:solidFill>
                  <a:srgbClr val="FFFFFF"/>
                </a:solidFill>
                <a:latin typeface="Alfa Slab One"/>
              </a:rPr>
              <a:t>« Rendre les produits locaux sénégalais aussi visibles</a:t>
            </a:r>
          </a:p>
          <a:p>
            <a:pPr algn="l">
              <a:lnSpc>
                <a:spcPts val="2112"/>
              </a:lnSpc>
            </a:pPr>
            <a:r>
              <a:rPr sz="1600" b="0" i="0">
                <a:solidFill>
                  <a:srgbClr val="FFFFFF"/>
                </a:solidFill>
                <a:latin typeface="Alfa Slab One"/>
              </a:rPr>
              <a:t>en ligne qu'ils le sont dans les rayons.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7800" y="2108200"/>
            <a:ext cx="37338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797800" y="2108200"/>
            <a:ext cx="50800" cy="137160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51800" y="2291080"/>
            <a:ext cx="3225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42612D"/>
                </a:solidFill>
                <a:latin typeface="Poppins"/>
              </a:rPr>
              <a:t>POSITIONNEMENT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1800" y="2568448"/>
            <a:ext cx="3251200" cy="7054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5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L'agence qui combine expertise agricole et</a:t>
            </a:r>
          </a:p>
          <a:p>
            <a:pPr algn="l">
              <a:lnSpc>
                <a:spcPts val="1705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maîtrise digitale au service de</a:t>
            </a:r>
          </a:p>
          <a:p>
            <a:pPr algn="l">
              <a:lnSpc>
                <a:spcPts val="1705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l'agroalimentaire.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3738880"/>
            <a:ext cx="513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1AAB70"/>
                </a:solidFill>
                <a:latin typeface="Poppins"/>
              </a:rPr>
              <a:t>NOS MESSAGES CLÉS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0400" y="4038600"/>
            <a:ext cx="6934200" cy="4826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38200" y="4191000"/>
            <a:ext cx="177800" cy="177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4212844"/>
            <a:ext cx="2286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sz="800" b="1" i="0">
                <a:solidFill>
                  <a:srgbClr val="1F5E3A"/>
                </a:solidFill>
                <a:latin typeface="Poppin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7600" y="4168648"/>
            <a:ext cx="63500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Sadiya Digital Agri comprend à la fois l'agriculture et le digital.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400" y="4622800"/>
            <a:ext cx="6934200" cy="4826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8200" y="4775200"/>
            <a:ext cx="177800" cy="177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4797044"/>
            <a:ext cx="2286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sz="800" b="1" i="0">
                <a:solidFill>
                  <a:srgbClr val="1F5E3A"/>
                </a:solidFill>
                <a:latin typeface="Poppin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7600" y="4752848"/>
            <a:ext cx="63500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Les produits cultivés et transformés au Sénégal méritent d'être visibles en ligne.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0400" y="5207000"/>
            <a:ext cx="6934200" cy="4826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38200" y="5359400"/>
            <a:ext cx="177800" cy="177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5381244"/>
            <a:ext cx="2286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sz="800" b="1" i="0">
                <a:solidFill>
                  <a:srgbClr val="1F5E3A"/>
                </a:solidFill>
                <a:latin typeface="Poppin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600" y="5337048"/>
            <a:ext cx="63500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Nous transformons votre présence sociale en visibilité, communauté et opportunités.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7800" y="3759200"/>
            <a:ext cx="3733800" cy="2311400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51800" y="3967480"/>
            <a:ext cx="3225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42612D"/>
                </a:solidFill>
                <a:latin typeface="Poppins"/>
              </a:rPr>
              <a:t>TON DE VOIX</a:t>
            </a:r>
          </a:p>
        </p:txBody>
      </p:sp>
      <p:sp>
        <p:nvSpPr>
          <p:cNvPr id="34" name="Oval 33"/>
          <p:cNvSpPr/>
          <p:nvPr/>
        </p:nvSpPr>
        <p:spPr>
          <a:xfrm>
            <a:off x="8077200" y="4343400"/>
            <a:ext cx="254000" cy="2540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142111" y="4473222"/>
            <a:ext cx="42333" cy="45156"/>
          </a:xfrm>
          <a:prstGeom prst="line">
            <a:avLst/>
          </a:prstGeom>
          <a:ln w="23988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184444" y="4425244"/>
            <a:ext cx="81845" cy="93134"/>
          </a:xfrm>
          <a:prstGeom prst="line">
            <a:avLst/>
          </a:prstGeom>
          <a:ln w="23988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432800" y="4355084"/>
            <a:ext cx="2971800" cy="280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90"/>
              </a:lnSpc>
            </a:pPr>
            <a:r>
              <a:rPr sz="1300" b="1" i="0">
                <a:solidFill>
                  <a:srgbClr val="0A1A01"/>
                </a:solidFill>
                <a:latin typeface="Poppins"/>
              </a:rPr>
              <a:t>Professionnel</a:t>
            </a:r>
          </a:p>
        </p:txBody>
      </p:sp>
      <p:sp>
        <p:nvSpPr>
          <p:cNvPr id="38" name="Oval 37"/>
          <p:cNvSpPr/>
          <p:nvPr/>
        </p:nvSpPr>
        <p:spPr>
          <a:xfrm>
            <a:off x="8077200" y="4775200"/>
            <a:ext cx="254000" cy="2540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142111" y="4905022"/>
            <a:ext cx="42333" cy="45156"/>
          </a:xfrm>
          <a:prstGeom prst="line">
            <a:avLst/>
          </a:prstGeom>
          <a:ln w="23988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84444" y="4857044"/>
            <a:ext cx="81845" cy="93134"/>
          </a:xfrm>
          <a:prstGeom prst="line">
            <a:avLst/>
          </a:prstGeom>
          <a:ln w="23988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32800" y="4786884"/>
            <a:ext cx="2971800" cy="280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90"/>
              </a:lnSpc>
            </a:pPr>
            <a:r>
              <a:rPr sz="1300" b="1" i="0">
                <a:solidFill>
                  <a:srgbClr val="0A1A01"/>
                </a:solidFill>
                <a:latin typeface="Poppins"/>
              </a:rPr>
              <a:t>Chaleureux</a:t>
            </a:r>
          </a:p>
        </p:txBody>
      </p:sp>
      <p:sp>
        <p:nvSpPr>
          <p:cNvPr id="42" name="Oval 41"/>
          <p:cNvSpPr/>
          <p:nvPr/>
        </p:nvSpPr>
        <p:spPr>
          <a:xfrm>
            <a:off x="8077200" y="5207000"/>
            <a:ext cx="254000" cy="2540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8142111" y="5336822"/>
            <a:ext cx="42333" cy="45156"/>
          </a:xfrm>
          <a:prstGeom prst="line">
            <a:avLst/>
          </a:prstGeom>
          <a:ln w="23988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184444" y="5288844"/>
            <a:ext cx="81845" cy="93134"/>
          </a:xfrm>
          <a:prstGeom prst="line">
            <a:avLst/>
          </a:prstGeom>
          <a:ln w="23988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432800" y="5218684"/>
            <a:ext cx="2971800" cy="280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90"/>
              </a:lnSpc>
            </a:pPr>
            <a:r>
              <a:rPr sz="1300" b="1" i="0">
                <a:solidFill>
                  <a:srgbClr val="0A1A01"/>
                </a:solidFill>
                <a:latin typeface="Poppins"/>
              </a:rPr>
              <a:t>Pédagogique</a:t>
            </a:r>
          </a:p>
        </p:txBody>
      </p:sp>
      <p:sp>
        <p:nvSpPr>
          <p:cNvPr id="46" name="Oval 45"/>
          <p:cNvSpPr/>
          <p:nvPr/>
        </p:nvSpPr>
        <p:spPr>
          <a:xfrm>
            <a:off x="8077200" y="5638800"/>
            <a:ext cx="254000" cy="2540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8142111" y="5768622"/>
            <a:ext cx="42333" cy="45156"/>
          </a:xfrm>
          <a:prstGeom prst="line">
            <a:avLst/>
          </a:prstGeom>
          <a:ln w="23988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184444" y="5720644"/>
            <a:ext cx="81845" cy="93134"/>
          </a:xfrm>
          <a:prstGeom prst="line">
            <a:avLst/>
          </a:prstGeom>
          <a:ln w="23988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432800" y="5650484"/>
            <a:ext cx="2971800" cy="280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90"/>
              </a:lnSpc>
            </a:pPr>
            <a:r>
              <a:rPr sz="1300" b="1" i="0">
                <a:solidFill>
                  <a:srgbClr val="0A1A01"/>
                </a:solidFill>
                <a:latin typeface="Poppins"/>
              </a:rPr>
              <a:t>Dynamique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S ·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Quelle approche globale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Trois réseaux, trois rôles complémentaires dans un parcours unique.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59000"/>
            <a:ext cx="3403600" cy="193040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2159000"/>
            <a:ext cx="3403600" cy="63500"/>
          </a:xfrm>
          <a:prstGeom prst="roundRect">
            <a:avLst>
              <a:gd name="adj" fmla="val 4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442464"/>
            <a:ext cx="2844800" cy="4965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 i="0">
                <a:solidFill>
                  <a:srgbClr val="1F5E3A"/>
                </a:solidFill>
                <a:latin typeface="Alfa Slab One"/>
              </a:rPr>
              <a:t>TikTok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49448"/>
            <a:ext cx="2844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 spc="110">
                <a:solidFill>
                  <a:srgbClr val="1AAB70"/>
                </a:solidFill>
                <a:latin typeface="Poppins"/>
              </a:rPr>
              <a:t>Réseau de visibilité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9800" y="33020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9800" y="3530600"/>
            <a:ext cx="1168400" cy="330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597148"/>
            <a:ext cx="12192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1" i="0">
                <a:solidFill>
                  <a:srgbClr val="FFFFFF"/>
                </a:solidFill>
                <a:latin typeface="Poppins"/>
              </a:rPr>
              <a:t>Attirer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9400" y="2774696"/>
            <a:ext cx="254000" cy="474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60"/>
              </a:lnSpc>
            </a:pPr>
            <a:r>
              <a:rPr sz="2200" b="1" i="0">
                <a:solidFill>
                  <a:srgbClr val="9FB8A2"/>
                </a:solidFill>
                <a:latin typeface="Poppins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8000" y="2159000"/>
            <a:ext cx="3403600" cy="193040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4318000" y="2159000"/>
            <a:ext cx="3403600" cy="63500"/>
          </a:xfrm>
          <a:prstGeom prst="roundRect">
            <a:avLst>
              <a:gd name="adj" fmla="val 4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0" y="2442464"/>
            <a:ext cx="2844800" cy="4965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 i="0">
                <a:solidFill>
                  <a:srgbClr val="1F5E3A"/>
                </a:solidFill>
                <a:latin typeface="Alfa Slab One"/>
              </a:rPr>
              <a:t>Facebook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49448"/>
            <a:ext cx="2844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 spc="110">
                <a:solidFill>
                  <a:srgbClr val="1F5E3A"/>
                </a:solidFill>
                <a:latin typeface="Poppins"/>
              </a:rPr>
              <a:t>Réseau principal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97400" y="33020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97400" y="3530600"/>
            <a:ext cx="1168400" cy="3302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0" y="3597148"/>
            <a:ext cx="12192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1" i="0">
                <a:solidFill>
                  <a:srgbClr val="FFFFFF"/>
                </a:solidFill>
                <a:latin typeface="Poppins"/>
              </a:rPr>
              <a:t>Engager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7000" y="2774696"/>
            <a:ext cx="254000" cy="474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60"/>
              </a:lnSpc>
            </a:pPr>
            <a:r>
              <a:rPr sz="2200" b="1" i="0">
                <a:solidFill>
                  <a:srgbClr val="9FB8A2"/>
                </a:solidFill>
                <a:latin typeface="Poppin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5600" y="2159000"/>
            <a:ext cx="3403600" cy="193040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975600" y="2159000"/>
            <a:ext cx="3403600" cy="63500"/>
          </a:xfrm>
          <a:prstGeom prst="roundRect">
            <a:avLst>
              <a:gd name="adj" fmla="val 4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0" y="2442464"/>
            <a:ext cx="2844800" cy="4965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 i="0">
                <a:solidFill>
                  <a:srgbClr val="1F5E3A"/>
                </a:solidFill>
                <a:latin typeface="Alfa Slab One"/>
              </a:rPr>
              <a:t>LinkedIn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949448"/>
            <a:ext cx="2844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 spc="110">
                <a:solidFill>
                  <a:srgbClr val="42612D"/>
                </a:solidFill>
                <a:latin typeface="Poppins"/>
              </a:rPr>
              <a:t>Réseau B2B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55000" y="33020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255000" y="3530600"/>
            <a:ext cx="1168400" cy="3302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600" y="3597148"/>
            <a:ext cx="12192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1" i="0">
                <a:solidFill>
                  <a:srgbClr val="FFFFFF"/>
                </a:solidFill>
                <a:latin typeface="Poppins"/>
              </a:rPr>
              <a:t>Convertir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0400" y="4419600"/>
            <a:ext cx="10871200" cy="685800"/>
          </a:xfrm>
          <a:prstGeom prst="roundRect">
            <a:avLst>
              <a:gd name="adj" fmla="val 16666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9800" y="4642612"/>
            <a:ext cx="1193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 spc="140">
                <a:solidFill>
                  <a:srgbClr val="1AAB70"/>
                </a:solidFill>
                <a:latin typeface="Poppins"/>
              </a:rPr>
              <a:t>PARCOURS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59000" y="4608068"/>
            <a:ext cx="9194800" cy="2914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sz="1350" b="1" i="0">
                <a:solidFill>
                  <a:srgbClr val="FFFFFF"/>
                </a:solidFill>
                <a:latin typeface="Poppins"/>
              </a:rPr>
              <a:t>TikTok attire  ›  Facebook fédère  ›  LinkedIn crédibilise  ›  convertir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5313680"/>
            <a:ext cx="386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50">
                <a:solidFill>
                  <a:srgbClr val="42612D"/>
                </a:solidFill>
                <a:latin typeface="Poppins"/>
              </a:rPr>
              <a:t>5 PILIERS ÉDITORIAUX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0400" y="56134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5000" y="5705348"/>
            <a:ext cx="2082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Éducation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44800" y="56134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2819400" y="5705348"/>
            <a:ext cx="2082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Valorisation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56134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003800" y="5705348"/>
            <a:ext cx="2082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Expertise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13600" y="56134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88200" y="5705348"/>
            <a:ext cx="2082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Offres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98000" y="56134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372600" y="5705348"/>
            <a:ext cx="2082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Communauté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T · TACTICS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Quelles actions concrètes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Un calendrier éditorial réaliste : 3 jours de publication par semaine.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33600"/>
            <a:ext cx="6934200" cy="330200"/>
          </a:xfrm>
          <a:prstGeom prst="roundRect">
            <a:avLst>
              <a:gd name="adj" fmla="val 1923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8200" y="2191512"/>
            <a:ext cx="1193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 spc="120">
                <a:solidFill>
                  <a:srgbClr val="1AAB70"/>
                </a:solidFill>
                <a:latin typeface="Poppins"/>
              </a:rPr>
              <a:t>JOUR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1200" y="2191512"/>
            <a:ext cx="1955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 spc="120">
                <a:solidFill>
                  <a:srgbClr val="1AAB70"/>
                </a:solidFill>
                <a:latin typeface="Poppins"/>
              </a:rPr>
              <a:t>RÉSEAUX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191512"/>
            <a:ext cx="2336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 spc="120">
                <a:solidFill>
                  <a:srgbClr val="1AAB70"/>
                </a:solidFill>
                <a:latin typeface="Poppins"/>
              </a:rPr>
              <a:t>CONTENU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91512"/>
            <a:ext cx="1320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 spc="120">
                <a:solidFill>
                  <a:srgbClr val="1AAB70"/>
                </a:solidFill>
                <a:latin typeface="Poppins"/>
              </a:rPr>
              <a:t>OBJECTIF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400" y="2540000"/>
            <a:ext cx="6934200" cy="508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60400" y="2540000"/>
            <a:ext cx="50800" cy="5080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8200" y="2681732"/>
            <a:ext cx="1193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1F5E3A"/>
                </a:solidFill>
                <a:latin typeface="Poppins"/>
              </a:rPr>
              <a:t>MARDI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1200" y="2683764"/>
            <a:ext cx="1955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A1A01"/>
                </a:solidFill>
                <a:latin typeface="Poppins"/>
              </a:rPr>
              <a:t>LinkedIn + Facebook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683764"/>
            <a:ext cx="2336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A1A01"/>
                </a:solidFill>
                <a:latin typeface="Poppins"/>
              </a:rPr>
              <a:t>Post + visuel expert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7600" y="2667000"/>
            <a:ext cx="1066800" cy="2540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72200" y="2699512"/>
            <a:ext cx="11176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FFFFFF"/>
                </a:solidFill>
                <a:latin typeface="Poppins"/>
              </a:rPr>
              <a:t>Crédibilité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400" y="3124200"/>
            <a:ext cx="6934200" cy="508000"/>
          </a:xfrm>
          <a:prstGeom prst="roundRect">
            <a:avLst>
              <a:gd name="adj" fmla="val 12500"/>
            </a:avLst>
          </a:prstGeom>
          <a:solidFill>
            <a:srgbClr val="F4F7F5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60400" y="3124200"/>
            <a:ext cx="50800" cy="5080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8200" y="3265932"/>
            <a:ext cx="1193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1F5E3A"/>
                </a:solidFill>
                <a:latin typeface="Poppins"/>
              </a:rPr>
              <a:t>VENDREDI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1200" y="3267964"/>
            <a:ext cx="1955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A1A01"/>
                </a:solidFill>
                <a:latin typeface="Poppins"/>
              </a:rPr>
              <a:t>Facebook + TikTok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3267964"/>
            <a:ext cx="2336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A1A01"/>
                </a:solidFill>
                <a:latin typeface="Poppins"/>
              </a:rPr>
              <a:t>Carrousel + vidéo courte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7600" y="3251200"/>
            <a:ext cx="1066800" cy="2540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172200" y="3283712"/>
            <a:ext cx="11176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FFFFFF"/>
                </a:solidFill>
                <a:latin typeface="Poppins"/>
              </a:rPr>
              <a:t>Engagement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0400" y="3708400"/>
            <a:ext cx="6934200" cy="508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60400" y="3708400"/>
            <a:ext cx="50800" cy="5080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8200" y="3850132"/>
            <a:ext cx="1193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1F5E3A"/>
                </a:solidFill>
                <a:latin typeface="Poppins"/>
              </a:rPr>
              <a:t>DIMANCHE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1200" y="3852164"/>
            <a:ext cx="1955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A1A01"/>
                </a:solidFill>
                <a:latin typeface="Poppins"/>
              </a:rPr>
              <a:t>LinkedIn + TikTok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3852164"/>
            <a:ext cx="2336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A1A01"/>
                </a:solidFill>
                <a:latin typeface="Poppins"/>
              </a:rPr>
              <a:t>Storytelling / étude de cas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7600" y="3835400"/>
            <a:ext cx="1066800" cy="2540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172200" y="3867912"/>
            <a:ext cx="11176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FFFFFF"/>
                </a:solidFill>
                <a:latin typeface="Poppins"/>
              </a:rPr>
              <a:t>Prospection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4526280"/>
            <a:ext cx="513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50">
                <a:solidFill>
                  <a:srgbClr val="42612D"/>
                </a:solidFill>
                <a:latin typeface="Poppins"/>
              </a:rPr>
              <a:t>ANIMATION DE LA COMMUNAUTÉ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0400" y="4800600"/>
            <a:ext cx="1270000" cy="6604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5000" y="4863592"/>
            <a:ext cx="1320800" cy="4102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70"/>
              </a:lnSpc>
            </a:pPr>
            <a:r>
              <a:rPr sz="1900" b="0" i="0">
                <a:solidFill>
                  <a:srgbClr val="1AAB70"/>
                </a:solidFill>
                <a:latin typeface="Alfa Slab One"/>
              </a:rPr>
              <a:t>2-3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240325"/>
            <a:ext cx="1219200" cy="1856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18"/>
              </a:lnSpc>
            </a:pPr>
            <a:r>
              <a:rPr sz="860" b="0" i="0">
                <a:solidFill>
                  <a:srgbClr val="42612D"/>
                </a:solidFill>
                <a:latin typeface="Poppins"/>
              </a:rPr>
              <a:t>stories / sem.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70100" y="4800600"/>
            <a:ext cx="1270000" cy="6604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044700" y="4863592"/>
            <a:ext cx="1320800" cy="4102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70"/>
              </a:lnSpc>
            </a:pPr>
            <a:r>
              <a:rPr sz="1900" b="0" i="0">
                <a:solidFill>
                  <a:srgbClr val="1AAB70"/>
                </a:solidFill>
                <a:latin typeface="Alfa Slab One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95500" y="5240325"/>
            <a:ext cx="1219200" cy="1856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18"/>
              </a:lnSpc>
            </a:pPr>
            <a:r>
              <a:rPr sz="860" b="0" i="0">
                <a:solidFill>
                  <a:srgbClr val="42612D"/>
                </a:solidFill>
                <a:latin typeface="Poppins"/>
              </a:rPr>
              <a:t>sondage / sem.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9800" y="4800600"/>
            <a:ext cx="1270000" cy="6604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454400" y="4863592"/>
            <a:ext cx="1320800" cy="4102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70"/>
              </a:lnSpc>
            </a:pPr>
            <a:r>
              <a:rPr sz="1900" b="0" i="0">
                <a:solidFill>
                  <a:srgbClr val="1AAB70"/>
                </a:solidFill>
                <a:latin typeface="Alfa Slab One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5200" y="5240325"/>
            <a:ext cx="1219200" cy="1856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18"/>
              </a:lnSpc>
            </a:pPr>
            <a:r>
              <a:rPr sz="860" b="0" i="0">
                <a:solidFill>
                  <a:srgbClr val="42612D"/>
                </a:solidFill>
                <a:latin typeface="Poppins"/>
              </a:rPr>
              <a:t>Q&amp;R / mois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89500" y="4800600"/>
            <a:ext cx="1270000" cy="6604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864100" y="4863592"/>
            <a:ext cx="1320800" cy="4102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70"/>
              </a:lnSpc>
            </a:pPr>
            <a:r>
              <a:rPr sz="1900" b="0" i="0">
                <a:solidFill>
                  <a:srgbClr val="1AAB70"/>
                </a:solidFill>
                <a:latin typeface="Alfa Slab One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4900" y="5240325"/>
            <a:ext cx="1219200" cy="1856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18"/>
              </a:lnSpc>
            </a:pPr>
            <a:r>
              <a:rPr sz="860" b="0" i="0">
                <a:solidFill>
                  <a:srgbClr val="42612D"/>
                </a:solidFill>
                <a:latin typeface="Poppins"/>
              </a:rPr>
              <a:t>live / mois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99200" y="4800600"/>
            <a:ext cx="1270000" cy="6604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73800" y="4863592"/>
            <a:ext cx="1320800" cy="4102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70"/>
              </a:lnSpc>
            </a:pPr>
            <a:r>
              <a:rPr sz="1900" b="0" i="0">
                <a:solidFill>
                  <a:srgbClr val="1AAB70"/>
                </a:solidFill>
                <a:latin typeface="Alfa Slab One"/>
              </a:rPr>
              <a:t>1-2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4600" y="5240325"/>
            <a:ext cx="1219200" cy="1856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18"/>
              </a:lnSpc>
            </a:pPr>
            <a:r>
              <a:rPr sz="860" b="0" i="0">
                <a:solidFill>
                  <a:srgbClr val="42612D"/>
                </a:solidFill>
                <a:latin typeface="Poppins"/>
              </a:rPr>
              <a:t>défis TikTok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97800" y="2133600"/>
            <a:ext cx="3733800" cy="332740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7797800" y="2133600"/>
            <a:ext cx="37338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051800" y="2367280"/>
            <a:ext cx="3225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50">
                <a:solidFill>
                  <a:srgbClr val="1F5E3A"/>
                </a:solidFill>
                <a:latin typeface="Poppins"/>
              </a:rPr>
              <a:t>MOYENS MOBILISÉS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77200" y="2781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280400" y="2693416"/>
            <a:ext cx="3098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A1A01"/>
                </a:solidFill>
                <a:latin typeface="Poppins"/>
              </a:rPr>
              <a:t>Canva Free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77200" y="3162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280400" y="3074416"/>
            <a:ext cx="3098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A1A01"/>
                </a:solidFill>
                <a:latin typeface="Poppins"/>
              </a:rPr>
              <a:t>CapCut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77200" y="3543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80400" y="3455416"/>
            <a:ext cx="3098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A1A01"/>
                </a:solidFill>
                <a:latin typeface="Poppins"/>
              </a:rPr>
              <a:t>Meta Business Suite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77200" y="3924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280400" y="3836416"/>
            <a:ext cx="3098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A1A01"/>
                </a:solidFill>
                <a:latin typeface="Poppins"/>
              </a:rPr>
              <a:t>TikTok Studio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77200" y="4305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8280400" y="4217416"/>
            <a:ext cx="3098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A1A01"/>
                </a:solidFill>
                <a:latin typeface="Poppins"/>
              </a:rPr>
              <a:t>LinkedIn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77200" y="4686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280400" y="4598416"/>
            <a:ext cx="3098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A1A01"/>
                </a:solidFill>
                <a:latin typeface="Poppins"/>
              </a:rPr>
              <a:t>Google Drive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77200" y="5067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8280400" y="4979416"/>
            <a:ext cx="3098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A1A01"/>
                </a:solidFill>
                <a:latin typeface="Poppins"/>
              </a:rPr>
              <a:t>Google Sheets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E ·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Comment je produis et j'anime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Une production organisée, une modération cadrée, une relation client rapide.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08200"/>
            <a:ext cx="3403600" cy="241300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21082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39800" y="2387600"/>
            <a:ext cx="304800" cy="304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40940"/>
            <a:ext cx="355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409952"/>
            <a:ext cx="27178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Production</a:t>
            </a:r>
          </a:p>
        </p:txBody>
      </p:sp>
      <p:sp>
        <p:nvSpPr>
          <p:cNvPr id="17" name="Oval 16"/>
          <p:cNvSpPr/>
          <p:nvPr/>
        </p:nvSpPr>
        <p:spPr>
          <a:xfrm>
            <a:off x="944880" y="3047365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9500" y="3000248"/>
            <a:ext cx="28321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Thèmes définis en début de mois</a:t>
            </a:r>
          </a:p>
        </p:txBody>
      </p:sp>
      <p:sp>
        <p:nvSpPr>
          <p:cNvPr id="19" name="Oval 18"/>
          <p:cNvSpPr/>
          <p:nvPr/>
        </p:nvSpPr>
        <p:spPr>
          <a:xfrm>
            <a:off x="944880" y="3382645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9500" y="3335528"/>
            <a:ext cx="28321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Contenus créés en avance</a:t>
            </a:r>
          </a:p>
        </p:txBody>
      </p:sp>
      <p:sp>
        <p:nvSpPr>
          <p:cNvPr id="21" name="Oval 20"/>
          <p:cNvSpPr/>
          <p:nvPr/>
        </p:nvSpPr>
        <p:spPr>
          <a:xfrm>
            <a:off x="944880" y="3717925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9500" y="3670808"/>
            <a:ext cx="28321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Programmation Meta Suite &amp; TikTok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8000" y="2108200"/>
            <a:ext cx="3403600" cy="241300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318000" y="21082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597400" y="2387600"/>
            <a:ext cx="304800" cy="304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440940"/>
            <a:ext cx="355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3800" y="2409952"/>
            <a:ext cx="27178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Modération</a:t>
            </a:r>
          </a:p>
        </p:txBody>
      </p:sp>
      <p:sp>
        <p:nvSpPr>
          <p:cNvPr id="28" name="Oval 27"/>
          <p:cNvSpPr/>
          <p:nvPr/>
        </p:nvSpPr>
        <p:spPr>
          <a:xfrm>
            <a:off x="4602480" y="3047365"/>
            <a:ext cx="76200" cy="762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7100" y="3000248"/>
            <a:ext cx="28321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Ton professionnel et respectueux</a:t>
            </a:r>
          </a:p>
        </p:txBody>
      </p:sp>
      <p:sp>
        <p:nvSpPr>
          <p:cNvPr id="30" name="Oval 29"/>
          <p:cNvSpPr/>
          <p:nvPr/>
        </p:nvSpPr>
        <p:spPr>
          <a:xfrm>
            <a:off x="4602480" y="3382645"/>
            <a:ext cx="76200" cy="762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7100" y="3335528"/>
            <a:ext cx="28321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Critiques constructives conservées</a:t>
            </a:r>
          </a:p>
        </p:txBody>
      </p:sp>
      <p:sp>
        <p:nvSpPr>
          <p:cNvPr id="32" name="Oval 31"/>
          <p:cNvSpPr/>
          <p:nvPr/>
        </p:nvSpPr>
        <p:spPr>
          <a:xfrm>
            <a:off x="4602480" y="3717925"/>
            <a:ext cx="76200" cy="762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7100" y="3670808"/>
            <a:ext cx="28321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Réclamations traitées en privé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5600" y="2108200"/>
            <a:ext cx="3403600" cy="241300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7975600" y="21082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255000" y="2387600"/>
            <a:ext cx="304800" cy="3048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2440940"/>
            <a:ext cx="355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1400" y="2409952"/>
            <a:ext cx="27178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Relation client</a:t>
            </a:r>
          </a:p>
        </p:txBody>
      </p:sp>
      <p:sp>
        <p:nvSpPr>
          <p:cNvPr id="39" name="Oval 38"/>
          <p:cNvSpPr/>
          <p:nvPr/>
        </p:nvSpPr>
        <p:spPr>
          <a:xfrm>
            <a:off x="8260080" y="3047365"/>
            <a:ext cx="76200" cy="762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94700" y="3000248"/>
            <a:ext cx="28321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Surveillance quotidienne</a:t>
            </a:r>
          </a:p>
        </p:txBody>
      </p:sp>
      <p:sp>
        <p:nvSpPr>
          <p:cNvPr id="41" name="Oval 40"/>
          <p:cNvSpPr/>
          <p:nvPr/>
        </p:nvSpPr>
        <p:spPr>
          <a:xfrm>
            <a:off x="8260080" y="3382645"/>
            <a:ext cx="76200" cy="762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94700" y="3335528"/>
            <a:ext cx="28321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Réponse sous 24 h ouvrées</a:t>
            </a:r>
          </a:p>
        </p:txBody>
      </p:sp>
      <p:sp>
        <p:nvSpPr>
          <p:cNvPr id="43" name="Oval 42"/>
          <p:cNvSpPr/>
          <p:nvPr/>
        </p:nvSpPr>
        <p:spPr>
          <a:xfrm>
            <a:off x="8260080" y="3717925"/>
            <a:ext cx="76200" cy="762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700" y="3670808"/>
            <a:ext cx="28321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Demandes commerciales en privé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0400" y="4749800"/>
            <a:ext cx="10871200" cy="1320800"/>
          </a:xfrm>
          <a:prstGeom prst="roundRect">
            <a:avLst>
              <a:gd name="adj" fmla="val 9615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39800" y="4958080"/>
            <a:ext cx="259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60">
                <a:solidFill>
                  <a:srgbClr val="1AAB70"/>
                </a:solidFill>
                <a:latin typeface="Poppins"/>
              </a:rPr>
              <a:t>PLAN BAD BUZZ</a:t>
            </a:r>
          </a:p>
        </p:txBody>
      </p:sp>
      <p:sp>
        <p:nvSpPr>
          <p:cNvPr id="47" name="Oval 46"/>
          <p:cNvSpPr/>
          <p:nvPr/>
        </p:nvSpPr>
        <p:spPr>
          <a:xfrm>
            <a:off x="965200" y="5232400"/>
            <a:ext cx="279400" cy="2794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9800" y="5290312"/>
            <a:ext cx="3302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1AAB70"/>
                </a:solidFill>
                <a:latin typeface="Poppins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0800" y="5274564"/>
            <a:ext cx="13970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FFFFFF"/>
                </a:solidFill>
                <a:latin typeface="Poppins"/>
              </a:rPr>
              <a:t>Identifier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336800" y="5372100"/>
            <a:ext cx="254000" cy="0"/>
          </a:xfrm>
          <a:prstGeom prst="line">
            <a:avLst/>
          </a:prstGeom>
          <a:ln w="10160">
            <a:solidFill>
              <a:srgbClr val="1AA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2692400" y="5232400"/>
            <a:ext cx="279400" cy="2794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67000" y="5290312"/>
            <a:ext cx="3302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1AAB70"/>
                </a:solidFill>
                <a:latin typeface="Poppins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8000" y="5274564"/>
            <a:ext cx="13970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FFFFFF"/>
                </a:solidFill>
                <a:latin typeface="Poppins"/>
              </a:rPr>
              <a:t>Vérifier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064000" y="5372100"/>
            <a:ext cx="254000" cy="0"/>
          </a:xfrm>
          <a:prstGeom prst="line">
            <a:avLst/>
          </a:prstGeom>
          <a:ln w="10160">
            <a:solidFill>
              <a:srgbClr val="1AA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4419600" y="5232400"/>
            <a:ext cx="279400" cy="2794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94200" y="5290312"/>
            <a:ext cx="3302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1AAB70"/>
                </a:solidFill>
                <a:latin typeface="Poppins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75200" y="5274564"/>
            <a:ext cx="13970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FFFFFF"/>
                </a:solidFill>
                <a:latin typeface="Poppins"/>
              </a:rPr>
              <a:t>Répondre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791200" y="5372100"/>
            <a:ext cx="254000" cy="0"/>
          </a:xfrm>
          <a:prstGeom prst="line">
            <a:avLst/>
          </a:prstGeom>
          <a:ln w="10160">
            <a:solidFill>
              <a:srgbClr val="1AA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6146800" y="5232400"/>
            <a:ext cx="279400" cy="2794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1400" y="5290312"/>
            <a:ext cx="3302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1AAB70"/>
                </a:solidFill>
                <a:latin typeface="Poppins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2400" y="5274564"/>
            <a:ext cx="13970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FFFFFF"/>
                </a:solidFill>
                <a:latin typeface="Poppins"/>
              </a:rPr>
              <a:t>Traiter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518400" y="5372100"/>
            <a:ext cx="254000" cy="0"/>
          </a:xfrm>
          <a:prstGeom prst="line">
            <a:avLst/>
          </a:prstGeom>
          <a:ln w="10160">
            <a:solidFill>
              <a:srgbClr val="1AA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7874000" y="5232400"/>
            <a:ext cx="279400" cy="2794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48600" y="5290312"/>
            <a:ext cx="3302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1AAB70"/>
                </a:solidFill>
                <a:latin typeface="Poppins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5274564"/>
            <a:ext cx="13970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FFFFFF"/>
                </a:solidFill>
                <a:latin typeface="Poppins"/>
              </a:rPr>
              <a:t>Suivre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245600" y="5372100"/>
            <a:ext cx="254000" cy="0"/>
          </a:xfrm>
          <a:prstGeom prst="line">
            <a:avLst/>
          </a:prstGeom>
          <a:ln w="10160">
            <a:solidFill>
              <a:srgbClr val="1AA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9601200" y="5232400"/>
            <a:ext cx="279400" cy="2794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75800" y="5290312"/>
            <a:ext cx="3302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1AAB70"/>
                </a:solidFill>
                <a:latin typeface="Poppins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56800" y="5274564"/>
            <a:ext cx="13970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FFFFFF"/>
                </a:solidFill>
                <a:latin typeface="Poppins"/>
              </a:rPr>
              <a:t>Tirer les leçons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9800" y="5692648"/>
            <a:ext cx="8940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0" i="1">
                <a:solidFill>
                  <a:srgbClr val="9FB8A2"/>
                </a:solidFill>
                <a:latin typeface="Poppins"/>
              </a:rPr>
              <a:t>Règle d'or : ne jamais répondre sous le coup de l'émotion.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R ·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Est-ce que ça marche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Des KPI clairs par objectif, un bilan hebdomadaire et mensuel.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33600"/>
            <a:ext cx="69342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2133600"/>
            <a:ext cx="63500" cy="838200"/>
          </a:xfrm>
          <a:prstGeom prst="roundRect">
            <a:avLst>
              <a:gd name="adj" fmla="val 4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9800" y="2243836"/>
            <a:ext cx="2082800" cy="3130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sz="1450" b="1" i="0">
                <a:solidFill>
                  <a:srgbClr val="1F5E3A"/>
                </a:solidFill>
                <a:latin typeface="Poppins"/>
              </a:rPr>
              <a:t>Notoriété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2557780"/>
            <a:ext cx="3987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Abonnés · portée · impressions · vues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0" y="2279599"/>
            <a:ext cx="2590800" cy="2148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40" b="0" i="0">
                <a:solidFill>
                  <a:srgbClr val="42612D"/>
                </a:solidFill>
                <a:latin typeface="Poppins"/>
              </a:rPr>
              <a:t>Statistiques Facebook, LinkedIn, TikTok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8400" y="2616200"/>
            <a:ext cx="1219200" cy="2286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953000" y="2637231"/>
            <a:ext cx="1270000" cy="1813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840" b="1" i="0">
                <a:solidFill>
                  <a:srgbClr val="FFFFFF"/>
                </a:solidFill>
                <a:latin typeface="Poppins"/>
              </a:rPr>
              <a:t>Mensuel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0400" y="3124200"/>
            <a:ext cx="69342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60400" y="3124200"/>
            <a:ext cx="63500" cy="838200"/>
          </a:xfrm>
          <a:prstGeom prst="roundRect">
            <a:avLst>
              <a:gd name="adj" fmla="val 4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9800" y="3234436"/>
            <a:ext cx="2082800" cy="3130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sz="1450" b="1" i="0">
                <a:solidFill>
                  <a:srgbClr val="1F5E3A"/>
                </a:solidFill>
                <a:latin typeface="Poppins"/>
              </a:rPr>
              <a:t>Prospects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800" y="3548380"/>
            <a:ext cx="3987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Messages · demandes · clics · leads qualifiés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3000" y="3270199"/>
            <a:ext cx="2590800" cy="2148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40" b="0" i="0">
                <a:solidFill>
                  <a:srgbClr val="42612D"/>
                </a:solidFill>
                <a:latin typeface="Poppins"/>
              </a:rPr>
              <a:t>Statistiques + tableau de suivi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78400" y="3606800"/>
            <a:ext cx="1219200" cy="2286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953000" y="3627831"/>
            <a:ext cx="1270000" cy="1813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840" b="1" i="0">
                <a:solidFill>
                  <a:srgbClr val="FFFFFF"/>
                </a:solidFill>
                <a:latin typeface="Poppins"/>
              </a:rPr>
              <a:t>Hebdo + mensuel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0400" y="4114800"/>
            <a:ext cx="69342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60400" y="4114800"/>
            <a:ext cx="63500" cy="838200"/>
          </a:xfrm>
          <a:prstGeom prst="roundRect">
            <a:avLst>
              <a:gd name="adj" fmla="val 4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9800" y="4225036"/>
            <a:ext cx="2082800" cy="3130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sz="1450" b="1" i="0">
                <a:solidFill>
                  <a:srgbClr val="1F5E3A"/>
                </a:solidFill>
                <a:latin typeface="Poppins"/>
              </a:rPr>
              <a:t>Conversion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800" y="4538980"/>
            <a:ext cx="3987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0A1A01"/>
                </a:solidFill>
                <a:latin typeface="Poppins"/>
              </a:rPr>
              <a:t>Prospects convertis · contrats · taux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3000" y="4260799"/>
            <a:ext cx="2590800" cy="2148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40" b="0" i="0">
                <a:solidFill>
                  <a:srgbClr val="42612D"/>
                </a:solidFill>
                <a:latin typeface="Poppins"/>
              </a:rPr>
              <a:t>Tableau de suivi commercial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78400" y="4597400"/>
            <a:ext cx="1219200" cy="2286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953000" y="4618431"/>
            <a:ext cx="1270000" cy="1813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840" b="1" i="0">
                <a:solidFill>
                  <a:srgbClr val="FFFFFF"/>
                </a:solidFill>
                <a:latin typeface="Poppins"/>
              </a:rPr>
              <a:t>Mensuel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97800" y="2133600"/>
            <a:ext cx="3733800" cy="2971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7797800" y="2133600"/>
            <a:ext cx="3733800" cy="5080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051800" y="2367280"/>
            <a:ext cx="3225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40">
                <a:solidFill>
                  <a:srgbClr val="1F5E3A"/>
                </a:solidFill>
                <a:latin typeface="Poppins"/>
              </a:rPr>
              <a:t>BOUCLE D'AMÉLIORATION</a:t>
            </a:r>
          </a:p>
        </p:txBody>
      </p:sp>
      <p:sp>
        <p:nvSpPr>
          <p:cNvPr id="36" name="Oval 35"/>
          <p:cNvSpPr/>
          <p:nvPr/>
        </p:nvSpPr>
        <p:spPr>
          <a:xfrm>
            <a:off x="8077200" y="2717800"/>
            <a:ext cx="304800" cy="304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51800" y="2788412"/>
            <a:ext cx="3556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9000" y="2755900"/>
            <a:ext cx="25908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250" b="1" i="0">
                <a:solidFill>
                  <a:srgbClr val="0A1A01"/>
                </a:solidFill>
                <a:latin typeface="Poppins"/>
              </a:rPr>
              <a:t>Publier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600" y="3048000"/>
            <a:ext cx="0" cy="101600"/>
          </a:xfrm>
          <a:prstGeom prst="line">
            <a:avLst/>
          </a:prstGeom>
          <a:ln w="15240">
            <a:solidFill>
              <a:srgbClr val="9FB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077200" y="3175000"/>
            <a:ext cx="304800" cy="304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51800" y="3245612"/>
            <a:ext cx="3556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9000" y="3213100"/>
            <a:ext cx="25908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250" b="1" i="0">
                <a:solidFill>
                  <a:srgbClr val="0A1A01"/>
                </a:solidFill>
                <a:latin typeface="Poppins"/>
              </a:rPr>
              <a:t>Mesurer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29600" y="3505200"/>
            <a:ext cx="0" cy="101600"/>
          </a:xfrm>
          <a:prstGeom prst="line">
            <a:avLst/>
          </a:prstGeom>
          <a:ln w="15240">
            <a:solidFill>
              <a:srgbClr val="9FB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8077200" y="3632200"/>
            <a:ext cx="304800" cy="304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51800" y="3702812"/>
            <a:ext cx="3556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9000" y="3670300"/>
            <a:ext cx="25908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250" b="1" i="0">
                <a:solidFill>
                  <a:srgbClr val="0A1A01"/>
                </a:solidFill>
                <a:latin typeface="Poppins"/>
              </a:rPr>
              <a:t>Analyser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29600" y="3962400"/>
            <a:ext cx="0" cy="101600"/>
          </a:xfrm>
          <a:prstGeom prst="line">
            <a:avLst/>
          </a:prstGeom>
          <a:ln w="15240">
            <a:solidFill>
              <a:srgbClr val="9FB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8077200" y="4089400"/>
            <a:ext cx="304800" cy="304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1800" y="4160012"/>
            <a:ext cx="3556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9000" y="4127500"/>
            <a:ext cx="25908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250" b="1" i="0">
                <a:solidFill>
                  <a:srgbClr val="0A1A01"/>
                </a:solidFill>
                <a:latin typeface="Poppins"/>
              </a:rPr>
              <a:t>Ajuster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29600" y="4419600"/>
            <a:ext cx="0" cy="101600"/>
          </a:xfrm>
          <a:prstGeom prst="line">
            <a:avLst/>
          </a:prstGeom>
          <a:ln w="15240">
            <a:solidFill>
              <a:srgbClr val="9FB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077200" y="4546600"/>
            <a:ext cx="304800" cy="304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51800" y="4617212"/>
            <a:ext cx="3556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9000" y="4584700"/>
            <a:ext cx="25908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250" b="1" i="0">
                <a:solidFill>
                  <a:srgbClr val="0A1A01"/>
                </a:solidFill>
                <a:latin typeface="Poppins"/>
              </a:rPr>
              <a:t>Améliorer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0400" y="5334000"/>
            <a:ext cx="6934200" cy="736600"/>
          </a:xfrm>
          <a:prstGeom prst="roundRect">
            <a:avLst>
              <a:gd name="adj" fmla="val 15517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39800" y="5513832"/>
            <a:ext cx="6400800" cy="4819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0" i="0">
                <a:solidFill>
                  <a:srgbClr val="FFFFFF"/>
                </a:solidFill>
                <a:latin typeface="Poppins"/>
              </a:rPr>
              <a:t>Chaque semaine : identifier les contenus performants.</a:t>
            </a:r>
          </a:p>
          <a:p>
            <a:pPr algn="l">
              <a:lnSpc>
                <a:spcPts val="1667"/>
              </a:lnSpc>
            </a:pPr>
            <a:r>
              <a:rPr sz="1150" b="0" i="0">
                <a:solidFill>
                  <a:srgbClr val="FFFFFF"/>
                </a:solidFill>
                <a:latin typeface="Poppins"/>
              </a:rPr>
              <a:t>Chaque mois : comparer aux objectifs et ajuster.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Modèle Économique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Comment Sadiya Digital Agri crée, délivre et capture de la valeur.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33600"/>
            <a:ext cx="3403600" cy="177800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21336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9000" y="2333752"/>
            <a:ext cx="30226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Proposition de valeur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2692400"/>
            <a:ext cx="28956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9480" y="2891536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100" y="2849067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Communication digitale spécialisée agro</a:t>
            </a:r>
          </a:p>
        </p:txBody>
      </p:sp>
      <p:sp>
        <p:nvSpPr>
          <p:cNvPr id="18" name="Oval 17"/>
          <p:cNvSpPr/>
          <p:nvPr/>
        </p:nvSpPr>
        <p:spPr>
          <a:xfrm>
            <a:off x="919480" y="3178048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4100" y="3135579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Double expertise agriculture + digital</a:t>
            </a:r>
          </a:p>
        </p:txBody>
      </p:sp>
      <p:sp>
        <p:nvSpPr>
          <p:cNvPr id="20" name="Oval 19"/>
          <p:cNvSpPr/>
          <p:nvPr/>
        </p:nvSpPr>
        <p:spPr>
          <a:xfrm>
            <a:off x="919480" y="3464560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4100" y="3422091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Produits locaux rendus visibles et attractifs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8000" y="2133600"/>
            <a:ext cx="3403600" cy="177800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318000" y="21336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46600" y="2333752"/>
            <a:ext cx="30226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Clients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0" y="2692400"/>
            <a:ext cx="28956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577080" y="2891536"/>
            <a:ext cx="76200" cy="762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1700" y="2849067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PME agroalimentaires sénégalaises</a:t>
            </a:r>
          </a:p>
        </p:txBody>
      </p:sp>
      <p:sp>
        <p:nvSpPr>
          <p:cNvPr id="28" name="Oval 27"/>
          <p:cNvSpPr/>
          <p:nvPr/>
        </p:nvSpPr>
        <p:spPr>
          <a:xfrm>
            <a:off x="4577080" y="3178048"/>
            <a:ext cx="76200" cy="762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1700" y="3135579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Coopératives &amp; GIE de producteurs</a:t>
            </a:r>
          </a:p>
        </p:txBody>
      </p:sp>
      <p:sp>
        <p:nvSpPr>
          <p:cNvPr id="30" name="Oval 29"/>
          <p:cNvSpPr/>
          <p:nvPr/>
        </p:nvSpPr>
        <p:spPr>
          <a:xfrm>
            <a:off x="4577080" y="3464560"/>
            <a:ext cx="76200" cy="762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1700" y="3422091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Grandes industries (cible secondaire)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5600" y="2133600"/>
            <a:ext cx="3403600" cy="177800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7975600" y="21336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04200" y="2333752"/>
            <a:ext cx="30226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Canaux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29600" y="2692400"/>
            <a:ext cx="28956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234680" y="2891536"/>
            <a:ext cx="76200" cy="762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9300" y="2849067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LinkedIn : prospection B2B directe</a:t>
            </a:r>
          </a:p>
        </p:txBody>
      </p:sp>
      <p:sp>
        <p:nvSpPr>
          <p:cNvPr id="38" name="Oval 37"/>
          <p:cNvSpPr/>
          <p:nvPr/>
        </p:nvSpPr>
        <p:spPr>
          <a:xfrm>
            <a:off x="8234680" y="3178048"/>
            <a:ext cx="76200" cy="762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9300" y="3135579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Facebook : communauté et offre</a:t>
            </a:r>
          </a:p>
        </p:txBody>
      </p:sp>
      <p:sp>
        <p:nvSpPr>
          <p:cNvPr id="40" name="Oval 39"/>
          <p:cNvSpPr/>
          <p:nvPr/>
        </p:nvSpPr>
        <p:spPr>
          <a:xfrm>
            <a:off x="8234680" y="3464560"/>
            <a:ext cx="76200" cy="762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9300" y="3422091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TikTok : portée et notoriété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0400" y="4114800"/>
            <a:ext cx="3403600" cy="177800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660400" y="41148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89000" y="4314952"/>
            <a:ext cx="30226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Sources de revenus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14400" y="4673600"/>
            <a:ext cx="28956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919480" y="4872736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4100" y="4830267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Abonnements mensuels récurrents</a:t>
            </a:r>
          </a:p>
        </p:txBody>
      </p:sp>
      <p:sp>
        <p:nvSpPr>
          <p:cNvPr id="48" name="Oval 47"/>
          <p:cNvSpPr/>
          <p:nvPr/>
        </p:nvSpPr>
        <p:spPr>
          <a:xfrm>
            <a:off x="919480" y="5159248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4100" y="5116779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Prestations ponctuelles à la demande</a:t>
            </a:r>
          </a:p>
        </p:txBody>
      </p:sp>
      <p:sp>
        <p:nvSpPr>
          <p:cNvPr id="50" name="Oval 49"/>
          <p:cNvSpPr/>
          <p:nvPr/>
        </p:nvSpPr>
        <p:spPr>
          <a:xfrm>
            <a:off x="919480" y="5445760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4100" y="5403291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Campagnes publicitaires gérées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18000" y="4114800"/>
            <a:ext cx="3403600" cy="177800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4318000" y="41148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546600" y="4314952"/>
            <a:ext cx="30226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Ressources clés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2000" y="4673600"/>
            <a:ext cx="28956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577080" y="4872736"/>
            <a:ext cx="76200" cy="762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1700" y="4830267"/>
            <a:ext cx="2882900" cy="422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Compétences agro + community</a:t>
            </a:r>
          </a:p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4577080" y="5344160"/>
            <a:ext cx="76200" cy="762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11700" y="5301691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Canva, CapCut, Meta Suite, TikTok Studio</a:t>
            </a:r>
          </a:p>
        </p:txBody>
      </p:sp>
      <p:sp>
        <p:nvSpPr>
          <p:cNvPr id="60" name="Oval 59"/>
          <p:cNvSpPr/>
          <p:nvPr/>
        </p:nvSpPr>
        <p:spPr>
          <a:xfrm>
            <a:off x="4577080" y="5630672"/>
            <a:ext cx="76200" cy="762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1700" y="5588203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Identité de marque et site portfolio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975600" y="4114800"/>
            <a:ext cx="3403600" cy="1778000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7975600" y="41148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204200" y="4314952"/>
            <a:ext cx="3022600" cy="302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Structure de coûts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229600" y="4673600"/>
            <a:ext cx="28956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234680" y="4872736"/>
            <a:ext cx="76200" cy="762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69300" y="4830267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Outils en version gratuite au démarrage</a:t>
            </a:r>
          </a:p>
        </p:txBody>
      </p:sp>
      <p:sp>
        <p:nvSpPr>
          <p:cNvPr id="68" name="Oval 67"/>
          <p:cNvSpPr/>
          <p:nvPr/>
        </p:nvSpPr>
        <p:spPr>
          <a:xfrm>
            <a:off x="8234680" y="5159248"/>
            <a:ext cx="76200" cy="762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69300" y="5116779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Connexion, déplacements terrain</a:t>
            </a:r>
          </a:p>
        </p:txBody>
      </p:sp>
      <p:sp>
        <p:nvSpPr>
          <p:cNvPr id="70" name="Oval 69"/>
          <p:cNvSpPr/>
          <p:nvPr/>
        </p:nvSpPr>
        <p:spPr>
          <a:xfrm>
            <a:off x="8234680" y="5445760"/>
            <a:ext cx="76200" cy="762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69300" y="5403291"/>
            <a:ext cx="28829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Budget publicitaire refacturé au client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Nos Offres d'Abonnement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Trois formules mensuelles, plus des prestations à la demande.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84400"/>
            <a:ext cx="3403600" cy="2641600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439416"/>
            <a:ext cx="2844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spc="180">
                <a:solidFill>
                  <a:srgbClr val="9FB8A2"/>
                </a:solidFill>
                <a:latin typeface="Poppins"/>
              </a:rPr>
              <a:t>ESSENTIEL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76144"/>
            <a:ext cx="2844800" cy="712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300" b="0" i="0">
                <a:solidFill>
                  <a:srgbClr val="1F5E3A"/>
                </a:solidFill>
                <a:latin typeface="Alfa Slab One"/>
              </a:rPr>
              <a:t>75 000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7080"/>
            <a:ext cx="2844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FCFA / mois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9800" y="35052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37260" y="3730625"/>
            <a:ext cx="132080" cy="13208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70280" y="3799205"/>
            <a:ext cx="25400" cy="2794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95680" y="3763645"/>
            <a:ext cx="43180" cy="6350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17600" y="3711448"/>
            <a:ext cx="2768600" cy="2402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2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8 publications / mois</a:t>
            </a:r>
          </a:p>
        </p:txBody>
      </p:sp>
      <p:sp>
        <p:nvSpPr>
          <p:cNvPr id="21" name="Oval 20"/>
          <p:cNvSpPr/>
          <p:nvPr/>
        </p:nvSpPr>
        <p:spPr>
          <a:xfrm>
            <a:off x="937260" y="4067429"/>
            <a:ext cx="132080" cy="13208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70280" y="4136009"/>
            <a:ext cx="25400" cy="2794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5680" y="4100449"/>
            <a:ext cx="43180" cy="6350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17600" y="4048252"/>
            <a:ext cx="2768600" cy="2402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2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Visuels personnalisés</a:t>
            </a:r>
          </a:p>
        </p:txBody>
      </p:sp>
      <p:sp>
        <p:nvSpPr>
          <p:cNvPr id="25" name="Oval 24"/>
          <p:cNvSpPr/>
          <p:nvPr/>
        </p:nvSpPr>
        <p:spPr>
          <a:xfrm>
            <a:off x="937260" y="4404233"/>
            <a:ext cx="132080" cy="13208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70280" y="4472813"/>
            <a:ext cx="25400" cy="2794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95680" y="4437253"/>
            <a:ext cx="43180" cy="6350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17600" y="4385056"/>
            <a:ext cx="2768600" cy="2402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2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Gestion de communauté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8000" y="2057400"/>
            <a:ext cx="3403600" cy="2895600"/>
          </a:xfrm>
          <a:prstGeom prst="roundRect">
            <a:avLst>
              <a:gd name="adj" fmla="val 3947"/>
            </a:avLst>
          </a:prstGeom>
          <a:solidFill>
            <a:srgbClr val="1F5E3A"/>
          </a:solidFill>
          <a:ln w="20320">
            <a:solidFill>
              <a:srgbClr val="1AA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435600" y="1917700"/>
            <a:ext cx="1168400" cy="2794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10200" y="1966163"/>
            <a:ext cx="1219200" cy="1597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62"/>
              </a:lnSpc>
            </a:pPr>
            <a:r>
              <a:rPr sz="740" b="1" i="0" spc="80">
                <a:solidFill>
                  <a:srgbClr val="FFFFFF"/>
                </a:solidFill>
                <a:latin typeface="Poppins"/>
              </a:rPr>
              <a:t>RECOMMANDÉ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312416"/>
            <a:ext cx="2844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spc="180">
                <a:solidFill>
                  <a:srgbClr val="1AAB70"/>
                </a:solidFill>
                <a:latin typeface="Poppins"/>
              </a:rPr>
              <a:t>PRO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549144"/>
            <a:ext cx="2844800" cy="712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300" b="0" i="0">
                <a:solidFill>
                  <a:srgbClr val="FFFFFF"/>
                </a:solidFill>
                <a:latin typeface="Alfa Slab One"/>
              </a:rPr>
              <a:t>150 000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180080"/>
            <a:ext cx="2844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9FB8A2"/>
                </a:solidFill>
                <a:latin typeface="Poppins"/>
              </a:rPr>
              <a:t>FCFA / mois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97400" y="3378200"/>
            <a:ext cx="2844800" cy="0"/>
          </a:xfrm>
          <a:prstGeom prst="line">
            <a:avLst/>
          </a:prstGeom>
          <a:ln w="12700">
            <a:solidFill>
              <a:srgbClr val="1AA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594860" y="3603625"/>
            <a:ext cx="132080" cy="13208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627880" y="3672205"/>
            <a:ext cx="25400" cy="2794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653280" y="3636645"/>
            <a:ext cx="43180" cy="6350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775200" y="3584448"/>
            <a:ext cx="2768600" cy="2402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2"/>
              </a:lnSpc>
            </a:pPr>
            <a:r>
              <a:rPr sz="1100" b="0" i="0">
                <a:solidFill>
                  <a:srgbClr val="FFFFFF"/>
                </a:solidFill>
                <a:latin typeface="Poppins"/>
              </a:rPr>
              <a:t>12 publications + 4 vidéos</a:t>
            </a:r>
          </a:p>
        </p:txBody>
      </p:sp>
      <p:sp>
        <p:nvSpPr>
          <p:cNvPr id="40" name="Oval 39"/>
          <p:cNvSpPr/>
          <p:nvPr/>
        </p:nvSpPr>
        <p:spPr>
          <a:xfrm>
            <a:off x="4594860" y="3940429"/>
            <a:ext cx="132080" cy="13208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4627880" y="4009009"/>
            <a:ext cx="25400" cy="2794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653280" y="3973449"/>
            <a:ext cx="43180" cy="6350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75200" y="3921252"/>
            <a:ext cx="2768600" cy="2402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2"/>
              </a:lnSpc>
            </a:pPr>
            <a:r>
              <a:rPr sz="1100" b="0" i="0">
                <a:solidFill>
                  <a:srgbClr val="FFFFFF"/>
                </a:solidFill>
                <a:latin typeface="Poppins"/>
              </a:rPr>
              <a:t>Animation de communauté</a:t>
            </a:r>
          </a:p>
        </p:txBody>
      </p:sp>
      <p:sp>
        <p:nvSpPr>
          <p:cNvPr id="44" name="Oval 43"/>
          <p:cNvSpPr/>
          <p:nvPr/>
        </p:nvSpPr>
        <p:spPr>
          <a:xfrm>
            <a:off x="4594860" y="4277233"/>
            <a:ext cx="132080" cy="13208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627880" y="4345813"/>
            <a:ext cx="25400" cy="2794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53280" y="4310253"/>
            <a:ext cx="43180" cy="6350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775200" y="4258056"/>
            <a:ext cx="2768600" cy="2402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2"/>
              </a:lnSpc>
            </a:pPr>
            <a:r>
              <a:rPr sz="1100" b="0" i="0">
                <a:solidFill>
                  <a:srgbClr val="FFFFFF"/>
                </a:solidFill>
                <a:latin typeface="Poppins"/>
              </a:rPr>
              <a:t>Stratégie éditoriale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75600" y="2184400"/>
            <a:ext cx="3403600" cy="2641600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229600" y="2439416"/>
            <a:ext cx="284480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spc="180">
                <a:solidFill>
                  <a:srgbClr val="1F5E3A"/>
                </a:solidFill>
                <a:latin typeface="Poppins"/>
              </a:rPr>
              <a:t>PREMIUM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676144"/>
            <a:ext cx="2844800" cy="712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300" b="0" i="0">
                <a:solidFill>
                  <a:srgbClr val="1F5E3A"/>
                </a:solidFill>
                <a:latin typeface="Alfa Slab One"/>
              </a:rPr>
              <a:t>250 000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3307080"/>
            <a:ext cx="2844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FCFA / mois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55000" y="35052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252460" y="3730625"/>
            <a:ext cx="132080" cy="13208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8285480" y="3799205"/>
            <a:ext cx="25400" cy="2794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310880" y="3763645"/>
            <a:ext cx="43180" cy="6350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32800" y="3711448"/>
            <a:ext cx="2768600" cy="2402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2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16 publications + 8 vidéos</a:t>
            </a:r>
          </a:p>
        </p:txBody>
      </p:sp>
      <p:sp>
        <p:nvSpPr>
          <p:cNvPr id="57" name="Oval 56"/>
          <p:cNvSpPr/>
          <p:nvPr/>
        </p:nvSpPr>
        <p:spPr>
          <a:xfrm>
            <a:off x="8252460" y="4067429"/>
            <a:ext cx="132080" cy="13208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8285480" y="4136009"/>
            <a:ext cx="25400" cy="2794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310880" y="4100449"/>
            <a:ext cx="43180" cy="6350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432800" y="4048252"/>
            <a:ext cx="2768600" cy="2402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2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Stratégie + publicité</a:t>
            </a:r>
          </a:p>
        </p:txBody>
      </p:sp>
      <p:sp>
        <p:nvSpPr>
          <p:cNvPr id="61" name="Oval 60"/>
          <p:cNvSpPr/>
          <p:nvPr/>
        </p:nvSpPr>
        <p:spPr>
          <a:xfrm>
            <a:off x="8252460" y="4404233"/>
            <a:ext cx="132080" cy="13208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8285480" y="4472813"/>
            <a:ext cx="25400" cy="2794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310880" y="4437253"/>
            <a:ext cx="43180" cy="6350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432800" y="4385056"/>
            <a:ext cx="2768600" cy="2402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2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Reporting mensuel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0400" y="5130800"/>
            <a:ext cx="10871200" cy="558800"/>
          </a:xfrm>
          <a:prstGeom prst="roundRect">
            <a:avLst>
              <a:gd name="adj" fmla="val 20454"/>
            </a:avLst>
          </a:prstGeom>
          <a:solidFill>
            <a:srgbClr val="F4F7F5"/>
          </a:solidFill>
          <a:ln w="12700">
            <a:solidFill>
              <a:srgbClr val="1AA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660400" y="5130800"/>
            <a:ext cx="63500" cy="55880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39800" y="5201412"/>
            <a:ext cx="3860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 spc="150">
                <a:solidFill>
                  <a:srgbClr val="1AAB70"/>
                </a:solidFill>
                <a:latin typeface="Poppins"/>
              </a:rPr>
              <a:t>REVENUS COMPLÉMENTAIRES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9800" y="5400548"/>
            <a:ext cx="9956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A1A01"/>
                </a:solidFill>
                <a:latin typeface="Poppins"/>
              </a:rPr>
              <a:t>Contenus à la demande, publicité et stratégie ponctuelle — dès 25 000 FCFA.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5000" y="5847080"/>
            <a:ext cx="10922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0" i="1">
                <a:solidFill>
                  <a:srgbClr val="42612D"/>
                </a:solidFill>
                <a:latin typeface="Poppins"/>
              </a:rPr>
              <a:t>Paiement mensuel d'avance  ·  engagement 3 mois minimum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Rentabilité &amp; Projections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Un point mort atteignable dès le troisième client régulier.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08200"/>
            <a:ext cx="2489200" cy="1320800"/>
          </a:xfrm>
          <a:prstGeom prst="roundRect">
            <a:avLst>
              <a:gd name="adj" fmla="val 8653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2108200"/>
            <a:ext cx="2489200" cy="508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3600" y="2332736"/>
            <a:ext cx="2133600" cy="5829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85 000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" y="2850896"/>
            <a:ext cx="2082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>
                <a:solidFill>
                  <a:srgbClr val="42612D"/>
                </a:solidFill>
                <a:latin typeface="Poppins"/>
              </a:rPr>
              <a:t>FCFA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" y="3080106"/>
            <a:ext cx="2184400" cy="204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2"/>
              </a:lnSpc>
            </a:pPr>
            <a:r>
              <a:rPr sz="919" b="0" i="0">
                <a:solidFill>
                  <a:srgbClr val="42612D"/>
                </a:solidFill>
                <a:latin typeface="Poppins"/>
              </a:rPr>
              <a:t>Charges mensuelles estimées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3600" y="2108200"/>
            <a:ext cx="2489200" cy="1320800"/>
          </a:xfrm>
          <a:prstGeom prst="roundRect">
            <a:avLst>
              <a:gd name="adj" fmla="val 8653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403600" y="2108200"/>
            <a:ext cx="24892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06800" y="2332736"/>
            <a:ext cx="2133600" cy="5829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6800" y="2850896"/>
            <a:ext cx="2082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>
                <a:solidFill>
                  <a:srgbClr val="1AAB70"/>
                </a:solidFill>
                <a:latin typeface="Poppins"/>
              </a:rPr>
              <a:t>clients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6800" y="3080106"/>
            <a:ext cx="2184400" cy="204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2"/>
              </a:lnSpc>
            </a:pPr>
            <a:r>
              <a:rPr sz="919" b="0" i="0">
                <a:solidFill>
                  <a:srgbClr val="42612D"/>
                </a:solidFill>
                <a:latin typeface="Poppins"/>
              </a:rPr>
              <a:t>Seuil de rentabilité (offre Pro)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2108200"/>
            <a:ext cx="2489200" cy="1320800"/>
          </a:xfrm>
          <a:prstGeom prst="roundRect">
            <a:avLst>
              <a:gd name="adj" fmla="val 8653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146800" y="2108200"/>
            <a:ext cx="2489200" cy="508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50000" y="2332736"/>
            <a:ext cx="2133600" cy="5829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450 000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0" y="2850896"/>
            <a:ext cx="2082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>
                <a:solidFill>
                  <a:srgbClr val="1F5E3A"/>
                </a:solidFill>
                <a:latin typeface="Poppins"/>
              </a:rPr>
              <a:t>FCFA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0" y="3080106"/>
            <a:ext cx="2184400" cy="204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2"/>
              </a:lnSpc>
            </a:pPr>
            <a:r>
              <a:rPr sz="919" b="0" i="0">
                <a:solidFill>
                  <a:srgbClr val="42612D"/>
                </a:solidFill>
                <a:latin typeface="Poppins"/>
              </a:rPr>
              <a:t>Revenu mensuel visé à 6 mois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90000" y="2108200"/>
            <a:ext cx="2489200" cy="1320800"/>
          </a:xfrm>
          <a:prstGeom prst="roundRect">
            <a:avLst>
              <a:gd name="adj" fmla="val 8653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8890000" y="2108200"/>
            <a:ext cx="24892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93200" y="2332736"/>
            <a:ext cx="2133600" cy="5829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5,4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3200" y="2850896"/>
            <a:ext cx="2082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>
                <a:solidFill>
                  <a:srgbClr val="1AAB70"/>
                </a:solidFill>
                <a:latin typeface="Poppins"/>
              </a:rPr>
              <a:t>FCFA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3200" y="3080106"/>
            <a:ext cx="2184400" cy="204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2"/>
              </a:lnSpc>
            </a:pPr>
            <a:r>
              <a:rPr sz="919" b="0" i="0">
                <a:solidFill>
                  <a:srgbClr val="42612D"/>
                </a:solidFill>
                <a:latin typeface="Poppins"/>
              </a:rPr>
              <a:t>Chiffre d'affaires annualisé cible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88080"/>
            <a:ext cx="513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50">
                <a:solidFill>
                  <a:srgbClr val="42612D"/>
                </a:solidFill>
                <a:latin typeface="Poppins"/>
              </a:rPr>
              <a:t>SCÉNARIO DE MONTÉE EN CHARGE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4130548"/>
            <a:ext cx="11176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A1A01"/>
                </a:solidFill>
                <a:latin typeface="Poppins"/>
              </a:rPr>
              <a:t>Mois 1–3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8000" y="4131564"/>
            <a:ext cx="939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42612D"/>
                </a:solidFill>
                <a:latin typeface="Poppins"/>
              </a:rPr>
              <a:t>2 clients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41600" y="4114800"/>
            <a:ext cx="3708400" cy="279400"/>
          </a:xfrm>
          <a:prstGeom prst="roundRect">
            <a:avLst>
              <a:gd name="adj" fmla="val 50000"/>
            </a:avLst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2641600" y="4114800"/>
            <a:ext cx="1038352" cy="279400"/>
          </a:xfrm>
          <a:prstGeom prst="roundRect">
            <a:avLst>
              <a:gd name="adj" fmla="val 50000"/>
            </a:avLst>
          </a:prstGeom>
          <a:solidFill>
            <a:srgbClr val="9FB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26200" y="4131564"/>
            <a:ext cx="22860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1F5E3A"/>
                </a:solidFill>
                <a:latin typeface="Poppins"/>
              </a:rPr>
              <a:t>150 000 FCFA/mois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4714748"/>
            <a:ext cx="11176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A1A01"/>
                </a:solidFill>
                <a:latin typeface="Poppins"/>
              </a:rPr>
              <a:t>Mois 4–6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78000" y="4715764"/>
            <a:ext cx="939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42612D"/>
                </a:solidFill>
                <a:latin typeface="Poppins"/>
              </a:rPr>
              <a:t>3 clients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41600" y="4699000"/>
            <a:ext cx="3708400" cy="279400"/>
          </a:xfrm>
          <a:prstGeom prst="roundRect">
            <a:avLst>
              <a:gd name="adj" fmla="val 50000"/>
            </a:avLst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2641600" y="4699000"/>
            <a:ext cx="2299208" cy="2794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26200" y="4715764"/>
            <a:ext cx="22860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1F5E3A"/>
                </a:solidFill>
                <a:latin typeface="Poppins"/>
              </a:rPr>
              <a:t>450 000 FCFA/mois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5298948"/>
            <a:ext cx="11176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A1A01"/>
                </a:solidFill>
                <a:latin typeface="Poppins"/>
              </a:rPr>
              <a:t>Mois 7–12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8000" y="5299964"/>
            <a:ext cx="939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42612D"/>
                </a:solidFill>
                <a:latin typeface="Poppins"/>
              </a:rPr>
              <a:t>5 clients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41600" y="5283200"/>
            <a:ext cx="3708400" cy="279400"/>
          </a:xfrm>
          <a:prstGeom prst="roundRect">
            <a:avLst>
              <a:gd name="adj" fmla="val 50000"/>
            </a:avLst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2641600" y="5283200"/>
            <a:ext cx="3708400" cy="2794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26200" y="5299964"/>
            <a:ext cx="22860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1F5E3A"/>
                </a:solidFill>
                <a:latin typeface="Poppins"/>
              </a:rPr>
              <a:t>750 000 FCFA/mois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90000" y="3708400"/>
            <a:ext cx="2641600" cy="2184400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8890000" y="3708400"/>
            <a:ext cx="2641600" cy="5080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93200" y="3893312"/>
            <a:ext cx="2336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 spc="130">
                <a:solidFill>
                  <a:srgbClr val="1F5E3A"/>
                </a:solidFill>
                <a:latin typeface="Poppins"/>
              </a:rPr>
              <a:t>CHARGES PRINCIPALES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3200" y="4171899"/>
            <a:ext cx="1727200" cy="2029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2"/>
              </a:lnSpc>
            </a:pPr>
            <a:r>
              <a:rPr sz="940" b="0" i="0">
                <a:solidFill>
                  <a:srgbClr val="0A1A01"/>
                </a:solidFill>
                <a:latin typeface="Poppins"/>
              </a:rPr>
              <a:t>Connexion internet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4800" y="4171899"/>
            <a:ext cx="863600" cy="2029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22"/>
              </a:lnSpc>
            </a:pPr>
            <a:r>
              <a:rPr sz="940" b="1" i="0">
                <a:solidFill>
                  <a:srgbClr val="42612D"/>
                </a:solidFill>
                <a:latin typeface="Poppins"/>
              </a:rPr>
              <a:t>25 000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3200" y="4502099"/>
            <a:ext cx="1727200" cy="2029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2"/>
              </a:lnSpc>
            </a:pPr>
            <a:r>
              <a:rPr sz="940" b="0" i="0">
                <a:solidFill>
                  <a:srgbClr val="0A1A01"/>
                </a:solidFill>
                <a:latin typeface="Poppins"/>
              </a:rPr>
              <a:t>Déplacements terrain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64800" y="4502099"/>
            <a:ext cx="863600" cy="2029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22"/>
              </a:lnSpc>
            </a:pPr>
            <a:r>
              <a:rPr sz="940" b="1" i="0">
                <a:solidFill>
                  <a:srgbClr val="42612D"/>
                </a:solidFill>
                <a:latin typeface="Poppins"/>
              </a:rPr>
              <a:t>20 000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93200" y="4832299"/>
            <a:ext cx="1727200" cy="2029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2"/>
              </a:lnSpc>
            </a:pPr>
            <a:r>
              <a:rPr sz="940" b="0" i="0">
                <a:solidFill>
                  <a:srgbClr val="0A1A01"/>
                </a:solidFill>
                <a:latin typeface="Poppins"/>
              </a:rPr>
              <a:t>Outils &amp; abonnements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64800" y="4832299"/>
            <a:ext cx="863600" cy="2029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22"/>
              </a:lnSpc>
            </a:pPr>
            <a:r>
              <a:rPr sz="940" b="1" i="0">
                <a:solidFill>
                  <a:srgbClr val="42612D"/>
                </a:solidFill>
                <a:latin typeface="Poppins"/>
              </a:rPr>
              <a:t>20 000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3200" y="5162499"/>
            <a:ext cx="1727200" cy="2029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2"/>
              </a:lnSpc>
            </a:pPr>
            <a:r>
              <a:rPr sz="940" b="0" i="0">
                <a:solidFill>
                  <a:srgbClr val="0A1A01"/>
                </a:solidFill>
                <a:latin typeface="Poppins"/>
              </a:rPr>
              <a:t>Divers &amp; imprévus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4800" y="5162499"/>
            <a:ext cx="863600" cy="2029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22"/>
              </a:lnSpc>
            </a:pPr>
            <a:r>
              <a:rPr sz="940" b="1" i="0">
                <a:solidFill>
                  <a:srgbClr val="42612D"/>
                </a:solidFill>
                <a:latin typeface="Poppins"/>
              </a:rPr>
              <a:t>20 000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118600" y="5511800"/>
            <a:ext cx="21844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093200" y="5593080"/>
            <a:ext cx="132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>
                <a:solidFill>
                  <a:srgbClr val="1F5E3A"/>
                </a:solidFill>
                <a:latin typeface="Poppins"/>
              </a:rPr>
              <a:t>Total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56800" y="5593080"/>
            <a:ext cx="1371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1" i="0">
                <a:solidFill>
                  <a:srgbClr val="1AAB70"/>
                </a:solidFill>
                <a:latin typeface="Poppins"/>
              </a:rPr>
              <a:t>85 000 FCFA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000" y="6102299"/>
            <a:ext cx="8178800" cy="2029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2"/>
              </a:lnSpc>
            </a:pPr>
            <a:r>
              <a:rPr sz="940" b="0" i="1">
                <a:solidFill>
                  <a:srgbClr val="42612D"/>
                </a:solidFill>
                <a:latin typeface="Poppins"/>
              </a:rPr>
              <a:t>Hypothèses prudentes : outils gratuits, structure sans salarié.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BENCHMARKING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Ce Que J'ai de Plus Qu'Eux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Comparaison sur les cinq critères qui comptent pour une PME agroalimentaire.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2800" y="2082800"/>
            <a:ext cx="2184400" cy="660400"/>
          </a:xfrm>
          <a:prstGeom prst="roundRect">
            <a:avLst>
              <a:gd name="adj" fmla="val 15384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49800" y="2211832"/>
            <a:ext cx="1930400" cy="2409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7"/>
              </a:lnSpc>
            </a:pPr>
            <a:r>
              <a:rPr sz="1150" b="1" i="0">
                <a:solidFill>
                  <a:srgbClr val="FFFFFF"/>
                </a:solidFill>
                <a:latin typeface="Poppins"/>
              </a:rPr>
              <a:t>Sadiya Digital Agri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10400" y="2082800"/>
            <a:ext cx="2184400" cy="6604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7400" y="2211832"/>
            <a:ext cx="1930400" cy="2409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7"/>
              </a:lnSpc>
            </a:pPr>
            <a:r>
              <a:rPr sz="1150" b="1" i="0">
                <a:solidFill>
                  <a:srgbClr val="42612D"/>
                </a:solidFill>
                <a:latin typeface="Poppins"/>
              </a:rPr>
              <a:t>Agences établies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98000" y="2082800"/>
            <a:ext cx="2184400" cy="6604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25000" y="2211832"/>
            <a:ext cx="1930400" cy="2409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7"/>
              </a:lnSpc>
            </a:pPr>
            <a:r>
              <a:rPr sz="1150" b="1" i="0">
                <a:solidFill>
                  <a:srgbClr val="42612D"/>
                </a:solidFill>
                <a:latin typeface="Poppins"/>
              </a:rPr>
              <a:t>CM freelance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400" y="2870200"/>
            <a:ext cx="38100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3600" y="2999232"/>
            <a:ext cx="3479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A1A01"/>
                </a:solidFill>
                <a:latin typeface="Poppins"/>
              </a:rPr>
              <a:t>Expertise agricole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22800" y="28702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E9F5EE"/>
          </a:solidFill>
          <a:ln w="17780">
            <a:solidFill>
              <a:srgbClr val="1AA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575300" y="2971800"/>
            <a:ext cx="279400" cy="2794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646702" y="3114604"/>
            <a:ext cx="46567" cy="49672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693269" y="3061829"/>
            <a:ext cx="90029" cy="102447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010400" y="28702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962900" y="2971800"/>
            <a:ext cx="279400" cy="279400"/>
          </a:xfrm>
          <a:prstGeom prst="ellipse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046720" y="30556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046720" y="30556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98000" y="28702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350500" y="2971800"/>
            <a:ext cx="279400" cy="279400"/>
          </a:xfrm>
          <a:prstGeom prst="ellipse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0434320" y="30556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0434320" y="30556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60400" y="3429000"/>
            <a:ext cx="38100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3600" y="3558032"/>
            <a:ext cx="3479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A1A01"/>
                </a:solidFill>
                <a:latin typeface="Poppins"/>
              </a:rPr>
              <a:t>Spécialisation agro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22800" y="34290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E9F5EE"/>
          </a:solidFill>
          <a:ln w="17780">
            <a:solidFill>
              <a:srgbClr val="1AA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5575300" y="3530600"/>
            <a:ext cx="279400" cy="2794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646702" y="3673404"/>
            <a:ext cx="46567" cy="49672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693269" y="3620629"/>
            <a:ext cx="90029" cy="102447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010400" y="34290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962900" y="3530600"/>
            <a:ext cx="279400" cy="279400"/>
          </a:xfrm>
          <a:prstGeom prst="ellipse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046720" y="36144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046720" y="36144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398000" y="34290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350500" y="3530600"/>
            <a:ext cx="279400" cy="279400"/>
          </a:xfrm>
          <a:prstGeom prst="ellipse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0434320" y="36144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10434320" y="36144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60400" y="3987800"/>
            <a:ext cx="38100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63600" y="4116832"/>
            <a:ext cx="3479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A1A01"/>
                </a:solidFill>
                <a:latin typeface="Poppins"/>
              </a:rPr>
              <a:t>Tarifs adaptés aux PME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22800" y="39878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E9F5EE"/>
          </a:solidFill>
          <a:ln w="17780">
            <a:solidFill>
              <a:srgbClr val="1AA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75300" y="4089400"/>
            <a:ext cx="279400" cy="2794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5646702" y="4232204"/>
            <a:ext cx="46567" cy="49672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693269" y="4179429"/>
            <a:ext cx="90029" cy="102447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010400" y="39878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7962900" y="4089400"/>
            <a:ext cx="279400" cy="279400"/>
          </a:xfrm>
          <a:prstGeom prst="ellipse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8046720" y="41732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8046720" y="41732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398000" y="39878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10350500" y="4089400"/>
            <a:ext cx="279400" cy="279400"/>
          </a:xfrm>
          <a:prstGeom prst="ellipse">
            <a:avLst/>
          </a:prstGeom>
          <a:solidFill>
            <a:srgbClr val="9FB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420350" y="4216400"/>
            <a:ext cx="139700" cy="330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660400" y="4546600"/>
            <a:ext cx="38100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63600" y="4675632"/>
            <a:ext cx="3479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A1A01"/>
                </a:solidFill>
                <a:latin typeface="Poppins"/>
              </a:rPr>
              <a:t>Stratégie structurée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622800" y="45466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E9F5EE"/>
          </a:solidFill>
          <a:ln w="17780">
            <a:solidFill>
              <a:srgbClr val="1AA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575300" y="4648200"/>
            <a:ext cx="279400" cy="2794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5646702" y="4791004"/>
            <a:ext cx="46567" cy="49672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693269" y="4738229"/>
            <a:ext cx="90029" cy="102447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010400" y="45466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7962900" y="4648200"/>
            <a:ext cx="279400" cy="2794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8034302" y="4791004"/>
            <a:ext cx="46567" cy="49672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080869" y="4738229"/>
            <a:ext cx="90029" cy="102447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9398000" y="45466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10350500" y="4648200"/>
            <a:ext cx="279400" cy="279400"/>
          </a:xfrm>
          <a:prstGeom prst="ellipse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0434320" y="47320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0434320" y="47320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660400" y="5105400"/>
            <a:ext cx="38100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63600" y="5234432"/>
            <a:ext cx="3479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A1A01"/>
                </a:solidFill>
                <a:latin typeface="Poppins"/>
              </a:rPr>
              <a:t>Reporting et mesure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622800" y="51054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E9F5EE"/>
          </a:solidFill>
          <a:ln w="17780">
            <a:solidFill>
              <a:srgbClr val="1AA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5575300" y="5207000"/>
            <a:ext cx="279400" cy="2794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5646702" y="5349804"/>
            <a:ext cx="46567" cy="49672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693269" y="5297029"/>
            <a:ext cx="90029" cy="102447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010400" y="51054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7962900" y="5207000"/>
            <a:ext cx="279400" cy="2794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8034302" y="5349804"/>
            <a:ext cx="46567" cy="49672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080869" y="5297029"/>
            <a:ext cx="90029" cy="102447"/>
          </a:xfrm>
          <a:prstGeom prst="line">
            <a:avLst/>
          </a:prstGeom>
          <a:ln w="2638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9398000" y="5105400"/>
            <a:ext cx="21844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10350500" y="5207000"/>
            <a:ext cx="279400" cy="279400"/>
          </a:xfrm>
          <a:prstGeom prst="ellipse">
            <a:avLst/>
          </a:prstGeom>
          <a:solidFill>
            <a:srgbClr val="D8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0434320" y="52908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0434320" y="5290820"/>
            <a:ext cx="111760" cy="111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660400" y="5740400"/>
            <a:ext cx="10871200" cy="508000"/>
          </a:xfrm>
          <a:prstGeom prst="roundRect">
            <a:avLst>
              <a:gd name="adj" fmla="val 225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635000" y="5867400"/>
            <a:ext cx="109220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250" b="1" i="0">
                <a:solidFill>
                  <a:srgbClr val="FFFFFF"/>
                </a:solidFill>
                <a:latin typeface="Poppins"/>
              </a:rPr>
              <a:t>Seule offre du marché à combiner expertise agronomique et maîtrise digitale.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Ce que j'ai déjà réalisé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Une marque complète, construite de A à Z : logo, charte, bannière et carte de visite.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33600"/>
            <a:ext cx="3403600" cy="193040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21336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317496"/>
            <a:ext cx="2590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 spc="150">
                <a:solidFill>
                  <a:srgbClr val="1AAB70"/>
                </a:solidFill>
                <a:latin typeface="Poppins"/>
              </a:rPr>
              <a:t>LOGO</a:t>
            </a:r>
          </a:p>
        </p:txBody>
      </p:sp>
      <p:pic>
        <p:nvPicPr>
          <p:cNvPr id="15" name="Picture 14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2641600"/>
            <a:ext cx="2489200" cy="1003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3740099"/>
            <a:ext cx="2895600" cy="2029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2"/>
              </a:lnSpc>
            </a:pPr>
            <a:r>
              <a:rPr sz="940" b="0" i="0">
                <a:solidFill>
                  <a:srgbClr val="42612D"/>
                </a:solidFill>
                <a:latin typeface="Poppins"/>
              </a:rPr>
              <a:t>Version horizontale couleur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7200" y="2133600"/>
            <a:ext cx="3403600" cy="193040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267200" y="21336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21200" y="2317496"/>
            <a:ext cx="2590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 spc="150">
                <a:solidFill>
                  <a:srgbClr val="1F5E3A"/>
                </a:solidFill>
                <a:latin typeface="Poppins"/>
              </a:rPr>
              <a:t>PALETTE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6600" y="2590800"/>
            <a:ext cx="787400" cy="406400"/>
          </a:xfrm>
          <a:prstGeom prst="roundRect">
            <a:avLst>
              <a:gd name="adj" fmla="val 1875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21200" y="3010002"/>
            <a:ext cx="838200" cy="133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06"/>
              </a:lnSpc>
            </a:pPr>
            <a:r>
              <a:rPr sz="620" b="0" i="0">
                <a:solidFill>
                  <a:srgbClr val="42612D"/>
                </a:solidFill>
                <a:latin typeface="Poppins"/>
              </a:rPr>
              <a:t>#1F5E3A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7200" y="2590800"/>
            <a:ext cx="787400" cy="406400"/>
          </a:xfrm>
          <a:prstGeom prst="roundRect">
            <a:avLst>
              <a:gd name="adj" fmla="val 1875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511800" y="3010002"/>
            <a:ext cx="838200" cy="133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06"/>
              </a:lnSpc>
            </a:pPr>
            <a:r>
              <a:rPr sz="620" b="0" i="0">
                <a:solidFill>
                  <a:srgbClr val="42612D"/>
                </a:solidFill>
                <a:latin typeface="Poppins"/>
              </a:rPr>
              <a:t>#1AAB70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27800" y="2590800"/>
            <a:ext cx="787400" cy="406400"/>
          </a:xfrm>
          <a:prstGeom prst="roundRect">
            <a:avLst>
              <a:gd name="adj" fmla="val 1875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02400" y="3010002"/>
            <a:ext cx="838200" cy="133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06"/>
              </a:lnSpc>
            </a:pPr>
            <a:r>
              <a:rPr sz="620" b="0" i="0">
                <a:solidFill>
                  <a:srgbClr val="42612D"/>
                </a:solidFill>
                <a:latin typeface="Poppins"/>
              </a:rPr>
              <a:t>#42612D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46600" y="3200400"/>
            <a:ext cx="787400" cy="406400"/>
          </a:xfrm>
          <a:prstGeom prst="roundRect">
            <a:avLst>
              <a:gd name="adj" fmla="val 18750"/>
            </a:avLst>
          </a:prstGeom>
          <a:solidFill>
            <a:srgbClr val="9FB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21200" y="3619602"/>
            <a:ext cx="838200" cy="133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06"/>
              </a:lnSpc>
            </a:pPr>
            <a:r>
              <a:rPr sz="620" b="0" i="0">
                <a:solidFill>
                  <a:srgbClr val="42612D"/>
                </a:solidFill>
                <a:latin typeface="Poppins"/>
              </a:rPr>
              <a:t>#9FB8A2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7200" y="3200400"/>
            <a:ext cx="787400" cy="406400"/>
          </a:xfrm>
          <a:prstGeom prst="roundRect">
            <a:avLst>
              <a:gd name="adj" fmla="val 18750"/>
            </a:avLst>
          </a:prstGeom>
          <a:solidFill>
            <a:srgbClr val="0A1A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511800" y="3619602"/>
            <a:ext cx="838200" cy="133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06"/>
              </a:lnSpc>
            </a:pPr>
            <a:r>
              <a:rPr sz="620" b="0" i="0">
                <a:solidFill>
                  <a:srgbClr val="42612D"/>
                </a:solidFill>
                <a:latin typeface="Poppins"/>
              </a:rPr>
              <a:t>#0A1A01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27800" y="3200400"/>
            <a:ext cx="787400" cy="406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02400" y="3619602"/>
            <a:ext cx="838200" cy="133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06"/>
              </a:lnSpc>
            </a:pPr>
            <a:r>
              <a:rPr sz="620" b="0" i="0">
                <a:solidFill>
                  <a:srgbClr val="42612D"/>
                </a:solidFill>
                <a:latin typeface="Poppins"/>
              </a:rPr>
              <a:t>#FFFFFF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1200" y="3816299"/>
            <a:ext cx="2895600" cy="2029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2"/>
              </a:lnSpc>
            </a:pPr>
            <a:r>
              <a:rPr sz="940" b="0" i="0">
                <a:solidFill>
                  <a:srgbClr val="42612D"/>
                </a:solidFill>
                <a:latin typeface="Poppins"/>
              </a:rPr>
              <a:t>6 couleurs officielles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74000" y="2133600"/>
            <a:ext cx="3657600" cy="193040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7874000" y="2133600"/>
            <a:ext cx="3657600" cy="508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128000" y="2317496"/>
            <a:ext cx="2590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 spc="150">
                <a:solidFill>
                  <a:srgbClr val="42612D"/>
                </a:solidFill>
                <a:latin typeface="Poppins"/>
              </a:rPr>
              <a:t>TYPOGRAPHIE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8000" y="2546096"/>
            <a:ext cx="3098800" cy="474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 i="0">
                <a:solidFill>
                  <a:srgbClr val="1F5E3A"/>
                </a:solidFill>
                <a:latin typeface="Alfa Slab One"/>
              </a:rPr>
              <a:t>Sadiya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8000" y="3004312"/>
            <a:ext cx="3098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42612D"/>
                </a:solidFill>
                <a:latin typeface="Poppins"/>
              </a:rPr>
              <a:t>Alfa Slab One — titres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8000" y="3165856"/>
            <a:ext cx="30988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1" i="0">
                <a:solidFill>
                  <a:srgbClr val="1AAB70"/>
                </a:solidFill>
                <a:latin typeface="Poppins"/>
              </a:rPr>
              <a:t>Digital Agri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8000" y="3563112"/>
            <a:ext cx="3098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42612D"/>
                </a:solidFill>
                <a:latin typeface="Poppins"/>
              </a:rPr>
              <a:t>Poppins — sous-titres et textes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8000" y="3816299"/>
            <a:ext cx="3098800" cy="2029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2"/>
              </a:lnSpc>
            </a:pPr>
            <a:r>
              <a:rPr sz="940" b="0" i="0">
                <a:solidFill>
                  <a:srgbClr val="42612D"/>
                </a:solidFill>
                <a:latin typeface="Poppins"/>
              </a:rPr>
              <a:t>Hiérarchie à 3 niveaux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0400" y="4267200"/>
            <a:ext cx="7010400" cy="165100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660400" y="4267200"/>
            <a:ext cx="70104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14400" y="4451096"/>
            <a:ext cx="3860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 spc="150">
                <a:solidFill>
                  <a:srgbClr val="1AAB70"/>
                </a:solidFill>
                <a:latin typeface="Poppins"/>
              </a:rPr>
              <a:t>BANNIÈRE RÉSEAUX SOCIAUX</a:t>
            </a:r>
          </a:p>
        </p:txBody>
      </p:sp>
      <p:pic>
        <p:nvPicPr>
          <p:cNvPr id="44" name="Picture 43" descr="bannie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" y="4724400"/>
            <a:ext cx="6451600" cy="104140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7874000" y="4267200"/>
            <a:ext cx="3657600" cy="165100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7874000" y="4267200"/>
            <a:ext cx="3657600" cy="508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128000" y="4451096"/>
            <a:ext cx="3225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 spc="150">
                <a:solidFill>
                  <a:srgbClr val="1F5E3A"/>
                </a:solidFill>
                <a:latin typeface="Poppins"/>
              </a:rPr>
              <a:t>CARTE DE VISITE</a:t>
            </a:r>
          </a:p>
        </p:txBody>
      </p:sp>
      <p:pic>
        <p:nvPicPr>
          <p:cNvPr id="48" name="Picture 47" descr="carte_vis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4749800"/>
            <a:ext cx="30988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Présence Digitale &amp; Outils Maîtrisés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Des canaux actifs, un site portfolio en ligne et une gestion de projet outillée.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62480"/>
            <a:ext cx="513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50">
                <a:solidFill>
                  <a:srgbClr val="1AAB70"/>
                </a:solidFill>
                <a:latin typeface="Poppins"/>
              </a:rPr>
              <a:t>CANAUX EN LIGNE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" y="2362200"/>
            <a:ext cx="2489200" cy="14986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60400" y="2362200"/>
            <a:ext cx="24892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2590800"/>
            <a:ext cx="431800" cy="431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3600" y="3151632"/>
            <a:ext cx="21844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1F5E3A"/>
                </a:solidFill>
                <a:latin typeface="Poppins"/>
              </a:rPr>
              <a:t>Site portfolio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9000" y="3479800"/>
            <a:ext cx="863600" cy="2413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3600" y="3513531"/>
            <a:ext cx="914400" cy="1813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840" b="1" i="0">
                <a:solidFill>
                  <a:srgbClr val="FFFFFF"/>
                </a:solidFill>
                <a:latin typeface="Poppins"/>
              </a:rPr>
              <a:t>En ligne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3600" y="2362200"/>
            <a:ext cx="2489200" cy="14986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403600" y="2362200"/>
            <a:ext cx="24892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linked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25908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06800" y="3151632"/>
            <a:ext cx="21844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1F5E3A"/>
                </a:solidFill>
                <a:latin typeface="Poppins"/>
              </a:rPr>
              <a:t>Page pro LinkedIn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32200" y="3479800"/>
            <a:ext cx="863600" cy="2413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606800" y="3513531"/>
            <a:ext cx="914400" cy="1813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840" b="1" i="0">
                <a:solidFill>
                  <a:srgbClr val="FFFFFF"/>
                </a:solidFill>
                <a:latin typeface="Poppins"/>
              </a:rPr>
              <a:t>Active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6800" y="2362200"/>
            <a:ext cx="2489200" cy="14986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146800" y="2362200"/>
            <a:ext cx="24892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face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400" y="25908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50000" y="3151632"/>
            <a:ext cx="21844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1F5E3A"/>
                </a:solidFill>
                <a:latin typeface="Poppins"/>
              </a:rPr>
              <a:t>Page Facebook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5400" y="3479800"/>
            <a:ext cx="863600" cy="2413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50000" y="3513531"/>
            <a:ext cx="914400" cy="1813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840" b="1" i="0">
                <a:solidFill>
                  <a:srgbClr val="FFFFFF"/>
                </a:solidFill>
                <a:latin typeface="Poppins"/>
              </a:rPr>
              <a:t>Active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90000" y="2362200"/>
            <a:ext cx="2489200" cy="14986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890000" y="2362200"/>
            <a:ext cx="24892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p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8600" y="2590800"/>
            <a:ext cx="431800" cy="431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093200" y="3151632"/>
            <a:ext cx="21844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1F5E3A"/>
                </a:solidFill>
                <a:latin typeface="Poppins"/>
              </a:rPr>
              <a:t>Meta Business Suite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18600" y="3479800"/>
            <a:ext cx="863600" cy="2413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93200" y="3513531"/>
            <a:ext cx="914400" cy="1813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92"/>
              </a:lnSpc>
            </a:pPr>
            <a:r>
              <a:rPr sz="840" b="1" i="0">
                <a:solidFill>
                  <a:srgbClr val="FFFFFF"/>
                </a:solidFill>
                <a:latin typeface="Poppins"/>
              </a:rPr>
              <a:t>Configurée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4044696"/>
            <a:ext cx="3860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 spc="140">
                <a:solidFill>
                  <a:srgbClr val="42612D"/>
                </a:solidFill>
                <a:latin typeface="Poppins"/>
              </a:rPr>
              <a:t>AUSSI PRÉSENTE SUR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0400" y="4318000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nstagr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700" y="4406900"/>
            <a:ext cx="203200" cy="2032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16000" y="4416044"/>
            <a:ext cx="8636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0"/>
              </a:lnSpc>
            </a:pPr>
            <a:r>
              <a:rPr sz="800" b="1" i="0">
                <a:solidFill>
                  <a:srgbClr val="1F5E3A"/>
                </a:solidFill>
                <a:latin typeface="Poppins"/>
              </a:rPr>
              <a:t>Instagram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32000" y="4318000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tikt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6300" y="4406900"/>
            <a:ext cx="203200" cy="2032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387600" y="4416044"/>
            <a:ext cx="8636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0"/>
              </a:lnSpc>
            </a:pPr>
            <a:r>
              <a:rPr sz="800" b="1" i="0">
                <a:solidFill>
                  <a:srgbClr val="1F5E3A"/>
                </a:solidFill>
                <a:latin typeface="Poppins"/>
              </a:rPr>
              <a:t>TikTok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3600" y="4318000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whatsap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7900" y="4406900"/>
            <a:ext cx="203200" cy="2032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759200" y="4416044"/>
            <a:ext cx="8636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0"/>
              </a:lnSpc>
            </a:pPr>
            <a:r>
              <a:rPr sz="800" b="1" i="0">
                <a:solidFill>
                  <a:srgbClr val="1F5E3A"/>
                </a:solidFill>
                <a:latin typeface="Poppins"/>
              </a:rPr>
              <a:t>WhatsApp</a:t>
            </a:r>
          </a:p>
          <a:p>
            <a:pPr algn="l">
              <a:lnSpc>
                <a:spcPts val="1040"/>
              </a:lnSpc>
            </a:pPr>
            <a:r>
              <a:rPr sz="800" b="1" i="0">
                <a:solidFill>
                  <a:srgbClr val="1F5E3A"/>
                </a:solidFill>
                <a:latin typeface="Poppins"/>
              </a:rPr>
              <a:t>Business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75200" y="4318000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emai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9500" y="4406900"/>
            <a:ext cx="203200" cy="2032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130800" y="4416044"/>
            <a:ext cx="8636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0"/>
              </a:lnSpc>
            </a:pPr>
            <a:r>
              <a:rPr sz="800" b="1" i="0">
                <a:solidFill>
                  <a:srgbClr val="1F5E3A"/>
                </a:solidFill>
                <a:latin typeface="Poppins"/>
              </a:rPr>
              <a:t>Email pro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000" y="4907280"/>
            <a:ext cx="3860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1" i="0" spc="150">
                <a:solidFill>
                  <a:srgbClr val="1AAB70"/>
                </a:solidFill>
                <a:latin typeface="Poppins"/>
              </a:rPr>
              <a:t>OUTILS MAÎTRISÉS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0400" y="5207000"/>
            <a:ext cx="1600200" cy="787400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canv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800" y="5384800"/>
            <a:ext cx="381000" cy="3810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270000" y="5387848"/>
            <a:ext cx="9906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Canva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70000" y="5597957"/>
            <a:ext cx="1016000" cy="1640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87"/>
              </a:lnSpc>
            </a:pPr>
            <a:r>
              <a:rPr sz="760" b="0" i="0">
                <a:solidFill>
                  <a:srgbClr val="42612D"/>
                </a:solidFill>
                <a:latin typeface="Poppins"/>
              </a:rPr>
              <a:t>Visuels &amp; carrousels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13000" y="5207000"/>
            <a:ext cx="1600200" cy="787400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capcu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65400" y="5384800"/>
            <a:ext cx="381000" cy="381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022600" y="5387848"/>
            <a:ext cx="9906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CapCut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22600" y="5597957"/>
            <a:ext cx="1016000" cy="1640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87"/>
              </a:lnSpc>
            </a:pPr>
            <a:r>
              <a:rPr sz="760" b="0" i="0">
                <a:solidFill>
                  <a:srgbClr val="42612D"/>
                </a:solidFill>
                <a:latin typeface="Poppins"/>
              </a:rPr>
              <a:t>Montage vidéo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65600" y="5207000"/>
            <a:ext cx="1600200" cy="787400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0" name="Picture 59" descr="trell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8000" y="5384800"/>
            <a:ext cx="381000" cy="3810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4775200" y="5387848"/>
            <a:ext cx="9906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Trello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75200" y="5597957"/>
            <a:ext cx="1016000" cy="1640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87"/>
              </a:lnSpc>
            </a:pPr>
            <a:r>
              <a:rPr sz="760" b="0" i="0">
                <a:solidFill>
                  <a:srgbClr val="42612D"/>
                </a:solidFill>
                <a:latin typeface="Poppins"/>
              </a:rPr>
              <a:t>Suivi de projet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18200" y="5207000"/>
            <a:ext cx="1600200" cy="787400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4" name="Picture 63" descr="char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70600" y="5384800"/>
            <a:ext cx="381000" cy="3810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527800" y="5387848"/>
            <a:ext cx="9906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Charte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27800" y="5597957"/>
            <a:ext cx="1016000" cy="1640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87"/>
              </a:lnSpc>
            </a:pPr>
            <a:r>
              <a:rPr sz="760" b="0" i="0">
                <a:solidFill>
                  <a:srgbClr val="42612D"/>
                </a:solidFill>
                <a:latin typeface="Poppins"/>
              </a:rPr>
              <a:t>Identité visuelle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74000" y="4064000"/>
            <a:ext cx="3657600" cy="1930400"/>
          </a:xfrm>
          <a:prstGeom prst="roundRect">
            <a:avLst>
              <a:gd name="adj" fmla="val 6578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8" name="Picture 67" descr="trell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3400" y="4292600"/>
            <a:ext cx="381000" cy="3810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636000" y="4299712"/>
            <a:ext cx="2590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 spc="140">
                <a:solidFill>
                  <a:srgbClr val="1AAB70"/>
                </a:solidFill>
                <a:latin typeface="Poppins"/>
              </a:rPr>
              <a:t>SUIVI DE PROJET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36000" y="4437888"/>
            <a:ext cx="2590800" cy="345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 i="0">
                <a:solidFill>
                  <a:srgbClr val="FFFFFF"/>
                </a:solidFill>
                <a:latin typeface="Alfa Slab One"/>
              </a:rPr>
              <a:t>Trello</a:t>
            </a:r>
          </a:p>
        </p:txBody>
      </p:sp>
      <p:sp>
        <p:nvSpPr>
          <p:cNvPr id="71" name="Oval 70"/>
          <p:cNvSpPr/>
          <p:nvPr/>
        </p:nvSpPr>
        <p:spPr>
          <a:xfrm>
            <a:off x="8158480" y="4923536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93100" y="4881067"/>
            <a:ext cx="30607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FFFFFF"/>
                </a:solidFill>
                <a:latin typeface="Poppins"/>
              </a:rPr>
              <a:t>Un tableau par client</a:t>
            </a:r>
          </a:p>
        </p:txBody>
      </p:sp>
      <p:sp>
        <p:nvSpPr>
          <p:cNvPr id="73" name="Oval 72"/>
          <p:cNvSpPr/>
          <p:nvPr/>
        </p:nvSpPr>
        <p:spPr>
          <a:xfrm>
            <a:off x="8158480" y="5222748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93100" y="5180279"/>
            <a:ext cx="30607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FFFFFF"/>
                </a:solidFill>
                <a:latin typeface="Poppins"/>
              </a:rPr>
              <a:t>Calendrier éditorial partagé</a:t>
            </a:r>
          </a:p>
        </p:txBody>
      </p:sp>
      <p:sp>
        <p:nvSpPr>
          <p:cNvPr id="75" name="Oval 74"/>
          <p:cNvSpPr/>
          <p:nvPr/>
        </p:nvSpPr>
        <p:spPr>
          <a:xfrm>
            <a:off x="8158480" y="5521960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93100" y="5479491"/>
            <a:ext cx="30607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FFFFFF"/>
                </a:solidFill>
                <a:latin typeface="Poppins"/>
              </a:rPr>
              <a:t>Validation des contenus</a:t>
            </a:r>
          </a:p>
        </p:txBody>
      </p:sp>
      <p:sp>
        <p:nvSpPr>
          <p:cNvPr id="77" name="Oval 76"/>
          <p:cNvSpPr/>
          <p:nvPr/>
        </p:nvSpPr>
        <p:spPr>
          <a:xfrm>
            <a:off x="8158480" y="5821172"/>
            <a:ext cx="76200" cy="76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93100" y="5778703"/>
            <a:ext cx="30607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5"/>
              </a:lnSpc>
            </a:pPr>
            <a:r>
              <a:rPr sz="1040" b="0" i="0">
                <a:solidFill>
                  <a:srgbClr val="FFFFFF"/>
                </a:solidFill>
                <a:latin typeface="Poppins"/>
              </a:rPr>
              <a:t>Suivi des KPI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Ambitions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Où je veux emmener Sadiya Digital Agri dans les 12 prochains mois.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08200"/>
            <a:ext cx="3403600" cy="2184400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21082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39800" y="2362200"/>
            <a:ext cx="431800" cy="431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46020"/>
            <a:ext cx="4826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500" b="0" i="0">
                <a:solidFill>
                  <a:srgbClr val="1AAB70"/>
                </a:solidFill>
                <a:latin typeface="Alfa Slab On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92552"/>
            <a:ext cx="29464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Acquérir mes premiers clients</a:t>
            </a:r>
          </a:p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agro-industriels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9800" y="35814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3713480"/>
            <a:ext cx="29718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Signer 5 contrats avec des PME</a:t>
            </a:r>
          </a:p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agroalimentaires sénégalaises.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22600" y="2235200"/>
            <a:ext cx="889000" cy="2413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997200" y="2257044"/>
            <a:ext cx="9398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sz="800" b="1" i="0">
                <a:solidFill>
                  <a:srgbClr val="FFFFFF"/>
                </a:solidFill>
                <a:latin typeface="Poppins"/>
              </a:rPr>
              <a:t>0–6 mois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8000" y="2108200"/>
            <a:ext cx="3403600" cy="2184400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4318000" y="21082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97400" y="2362200"/>
            <a:ext cx="431800" cy="4318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446020"/>
            <a:ext cx="4826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500" b="0" i="0">
                <a:solidFill>
                  <a:srgbClr val="1F5E3A"/>
                </a:solidFill>
                <a:latin typeface="Alfa Slab One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892552"/>
            <a:ext cx="29464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Développer un portefeuille de</a:t>
            </a:r>
          </a:p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clients réguliers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97400" y="35814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0" y="3713480"/>
            <a:ext cx="29718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Passer d'une logique de mission ponctuelle à</a:t>
            </a:r>
          </a:p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l'abonnement récurrent.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80200" y="2235200"/>
            <a:ext cx="889000" cy="2413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654800" y="2257044"/>
            <a:ext cx="9398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sz="800" b="1" i="0">
                <a:solidFill>
                  <a:srgbClr val="FFFFFF"/>
                </a:solidFill>
                <a:latin typeface="Poppins"/>
              </a:rPr>
              <a:t>6–9 mois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5600" y="2108200"/>
            <a:ext cx="3403600" cy="2184400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975600" y="21082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255000" y="2362200"/>
            <a:ext cx="431800" cy="431800"/>
          </a:xfrm>
          <a:prstGeom prst="ellipse">
            <a:avLst/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446020"/>
            <a:ext cx="4826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500" b="0" i="0">
                <a:solidFill>
                  <a:srgbClr val="42612D"/>
                </a:solidFill>
                <a:latin typeface="Alfa Slab One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892552"/>
            <a:ext cx="29464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Renforcer mon expertise en</a:t>
            </a:r>
          </a:p>
          <a:p>
            <a:pPr algn="l">
              <a:lnSpc>
                <a:spcPts val="1820"/>
              </a:lnSpc>
            </a:pPr>
            <a:r>
              <a:rPr sz="1400" b="1" i="0">
                <a:solidFill>
                  <a:srgbClr val="1F5E3A"/>
                </a:solidFill>
                <a:latin typeface="Poppins"/>
              </a:rPr>
              <a:t>publicité en ligne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55000" y="35814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0" y="3713480"/>
            <a:ext cx="29718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Maîtriser Meta Ads et l'analytics pour prouver</a:t>
            </a:r>
          </a:p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le ROI de chaque campagne.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7800" y="2235200"/>
            <a:ext cx="889000" cy="2413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312400" y="2257044"/>
            <a:ext cx="9398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sz="800" b="1" i="0">
                <a:solidFill>
                  <a:srgbClr val="FFFFFF"/>
                </a:solidFill>
                <a:latin typeface="Poppins"/>
              </a:rPr>
              <a:t>6–9 mois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0400" y="4470400"/>
            <a:ext cx="5334000" cy="9652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660400" y="4470400"/>
            <a:ext cx="50800" cy="965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914400" y="4648200"/>
            <a:ext cx="330200" cy="3302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000" y="4704334"/>
            <a:ext cx="3810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4622800"/>
            <a:ext cx="787400" cy="2159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003800" y="4659376"/>
            <a:ext cx="838200" cy="1511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10"/>
              </a:lnSpc>
            </a:pPr>
            <a:r>
              <a:rPr sz="700" b="1" i="0">
                <a:solidFill>
                  <a:srgbClr val="FFFFFF"/>
                </a:solidFill>
                <a:latin typeface="Poppins"/>
              </a:rPr>
              <a:t>9–12 mois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610100"/>
            <a:ext cx="3606800" cy="460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1" i="0">
                <a:solidFill>
                  <a:srgbClr val="1F5E3A"/>
                </a:solidFill>
                <a:latin typeface="Poppins"/>
              </a:rPr>
              <a:t>Structurer une offre de production vidéo</a:t>
            </a:r>
          </a:p>
          <a:p>
            <a:pPr algn="l">
              <a:lnSpc>
                <a:spcPts val="1562"/>
              </a:lnSpc>
            </a:pPr>
            <a:r>
              <a:rPr sz="1250" b="1" i="0">
                <a:solidFill>
                  <a:srgbClr val="1F5E3A"/>
                </a:solidFill>
                <a:latin typeface="Poppins"/>
              </a:rPr>
              <a:t>terrain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5047793"/>
            <a:ext cx="44196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960" b="0" i="0">
                <a:solidFill>
                  <a:srgbClr val="42612D"/>
                </a:solidFill>
                <a:latin typeface="Poppins"/>
              </a:rPr>
              <a:t>Filmer du champ à l'assiette : le format qui valorise le mieux le local.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48400" y="4470400"/>
            <a:ext cx="5334000" cy="9652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6248400" y="4470400"/>
            <a:ext cx="50800" cy="9652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502400" y="4648200"/>
            <a:ext cx="330200" cy="330200"/>
          </a:xfrm>
          <a:prstGeom prst="ellipse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7000" y="4704334"/>
            <a:ext cx="3810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617200" y="4622800"/>
            <a:ext cx="787400" cy="2159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591800" y="4659376"/>
            <a:ext cx="838200" cy="1511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10"/>
              </a:lnSpc>
            </a:pPr>
            <a:r>
              <a:rPr sz="700" b="1" i="0">
                <a:solidFill>
                  <a:srgbClr val="FFFFFF"/>
                </a:solidFill>
                <a:latin typeface="Poppins"/>
              </a:rPr>
              <a:t>12 mois 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59600" y="4610100"/>
            <a:ext cx="3606800" cy="460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1" i="0">
                <a:solidFill>
                  <a:srgbClr val="1F5E3A"/>
                </a:solidFill>
                <a:latin typeface="Poppins"/>
              </a:rPr>
              <a:t>Faire de Sadiya Digital Agri une agence</a:t>
            </a:r>
          </a:p>
          <a:p>
            <a:pPr algn="l">
              <a:lnSpc>
                <a:spcPts val="1562"/>
              </a:lnSpc>
            </a:pPr>
            <a:r>
              <a:rPr sz="1250" b="1" i="0">
                <a:solidFill>
                  <a:srgbClr val="1F5E3A"/>
                </a:solidFill>
                <a:latin typeface="Poppins"/>
              </a:rPr>
              <a:t>reconnue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59600" y="5047793"/>
            <a:ext cx="4419600" cy="3901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960" b="0" i="0">
                <a:solidFill>
                  <a:srgbClr val="42612D"/>
                </a:solidFill>
                <a:latin typeface="Poppins"/>
              </a:rPr>
              <a:t>Devenir la référence de la communication digitale agroalimentaire au</a:t>
            </a:r>
          </a:p>
          <a:p>
            <a:pPr algn="l">
              <a:lnSpc>
                <a:spcPts val="1344"/>
              </a:lnSpc>
            </a:pPr>
            <a:r>
              <a:rPr sz="960" b="0" i="0">
                <a:solidFill>
                  <a:srgbClr val="42612D"/>
                </a:solidFill>
                <a:latin typeface="Poppins"/>
              </a:rPr>
              <a:t>Sénégal.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0400" y="5638800"/>
            <a:ext cx="10871200" cy="508000"/>
          </a:xfrm>
          <a:prstGeom prst="roundRect">
            <a:avLst>
              <a:gd name="adj" fmla="val 225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39800" y="5774944"/>
            <a:ext cx="9398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0"/>
              </a:lnSpc>
            </a:pPr>
            <a:r>
              <a:rPr sz="800" b="1" i="0" spc="140">
                <a:solidFill>
                  <a:srgbClr val="1AAB70"/>
                </a:solidFill>
                <a:latin typeface="Poppins"/>
              </a:rPr>
              <a:t>LE CAP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78000" y="5740400"/>
            <a:ext cx="94488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250" b="1" i="0">
                <a:solidFill>
                  <a:srgbClr val="FFFFFF"/>
                </a:solidFill>
                <a:latin typeface="Poppins"/>
              </a:rPr>
              <a:t>Faire des produits sénégalais une référence digitale.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L'ÉQUIPE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Notre Équipe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Trois compétences complémentaires : expertise métier, création et développement commercial.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235200"/>
            <a:ext cx="3403600" cy="29464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22352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team_ce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" y="2489200"/>
            <a:ext cx="1219200" cy="1625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11400" y="2513584"/>
            <a:ext cx="1651000" cy="272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 i="0">
                <a:solidFill>
                  <a:srgbClr val="1F5E3A"/>
                </a:solidFill>
                <a:latin typeface="Poppins"/>
              </a:rPr>
              <a:t>Nene H. S. Diallo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1400" y="3079293"/>
            <a:ext cx="1701800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8"/>
              </a:lnSpc>
            </a:pPr>
            <a:r>
              <a:rPr sz="960" b="1" i="0">
                <a:solidFill>
                  <a:srgbClr val="1AAB70"/>
                </a:solidFill>
                <a:latin typeface="Poppins"/>
              </a:rPr>
              <a:t>Fondatrice &amp; CEO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6800" y="3352800"/>
            <a:ext cx="1473200" cy="215900"/>
          </a:xfrm>
          <a:prstGeom prst="roundRect">
            <a:avLst>
              <a:gd name="adj" fmla="val 50000"/>
            </a:avLst>
          </a:prstGeom>
          <a:solidFill>
            <a:srgbClr val="1AAB7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11400" y="3400044"/>
            <a:ext cx="15240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sz="800" b="1" i="0">
                <a:solidFill>
                  <a:srgbClr val="1AAB70"/>
                </a:solidFill>
                <a:latin typeface="Poppins"/>
              </a:rPr>
              <a:t>Stratégie digitale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6800" y="3632200"/>
            <a:ext cx="1473200" cy="215900"/>
          </a:xfrm>
          <a:prstGeom prst="roundRect">
            <a:avLst>
              <a:gd name="adj" fmla="val 50000"/>
            </a:avLst>
          </a:prstGeom>
          <a:solidFill>
            <a:srgbClr val="1AAB7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311400" y="3679444"/>
            <a:ext cx="15240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sz="800" b="1" i="0">
                <a:solidFill>
                  <a:srgbClr val="1AAB70"/>
                </a:solidFill>
                <a:latin typeface="Poppins"/>
              </a:rPr>
              <a:t>Expertise agro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9800" y="42672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4423867"/>
            <a:ext cx="2971800" cy="647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Agronome et community manager certifiée</a:t>
            </a:r>
          </a:p>
          <a:p>
            <a:pPr algn="l">
              <a:lnSpc>
                <a:spcPts val="1560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Simplon. Pilote la stratégie et la relation</a:t>
            </a:r>
          </a:p>
          <a:p>
            <a:pPr algn="l">
              <a:lnSpc>
                <a:spcPts val="1560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client.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8000" y="2235200"/>
            <a:ext cx="3403600" cy="29464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318000" y="22352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team_createu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400" y="2489200"/>
            <a:ext cx="1219200" cy="1625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69000" y="2513584"/>
            <a:ext cx="1651000" cy="4787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 i="0">
                <a:solidFill>
                  <a:srgbClr val="1F5E3A"/>
                </a:solidFill>
                <a:latin typeface="Poppins"/>
              </a:rPr>
              <a:t>Créatrice de</a:t>
            </a:r>
          </a:p>
          <a:p>
            <a:pPr algn="l">
              <a:lnSpc>
                <a:spcPts val="1625"/>
              </a:lnSpc>
            </a:pPr>
            <a:r>
              <a:rPr sz="1300" b="1" i="0">
                <a:solidFill>
                  <a:srgbClr val="1F5E3A"/>
                </a:solidFill>
                <a:latin typeface="Poppins"/>
              </a:rPr>
              <a:t>contenu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9000" y="3079293"/>
            <a:ext cx="1701800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8"/>
              </a:lnSpc>
            </a:pPr>
            <a:r>
              <a:rPr sz="960" b="1" i="0">
                <a:solidFill>
                  <a:srgbClr val="1F5E3A"/>
                </a:solidFill>
                <a:latin typeface="Poppins"/>
              </a:rPr>
              <a:t>Poste à pourvoir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94400" y="3352800"/>
            <a:ext cx="1473200" cy="215900"/>
          </a:xfrm>
          <a:prstGeom prst="roundRect">
            <a:avLst>
              <a:gd name="adj" fmla="val 50000"/>
            </a:avLst>
          </a:prstGeom>
          <a:solidFill>
            <a:srgbClr val="1F5E3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69000" y="3400044"/>
            <a:ext cx="15240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sz="800" b="1" i="0">
                <a:solidFill>
                  <a:srgbClr val="1F5E3A"/>
                </a:solidFill>
                <a:latin typeface="Poppins"/>
              </a:rPr>
              <a:t>Canva &amp; CapCut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94400" y="3632200"/>
            <a:ext cx="1473200" cy="215900"/>
          </a:xfrm>
          <a:prstGeom prst="roundRect">
            <a:avLst>
              <a:gd name="adj" fmla="val 50000"/>
            </a:avLst>
          </a:prstGeom>
          <a:solidFill>
            <a:srgbClr val="1F5E3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69000" y="3679444"/>
            <a:ext cx="15240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sz="800" b="1" i="0">
                <a:solidFill>
                  <a:srgbClr val="1F5E3A"/>
                </a:solidFill>
                <a:latin typeface="Poppins"/>
              </a:rPr>
              <a:t>Vidéo terrain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97400" y="42672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0" y="4423867"/>
            <a:ext cx="2971800" cy="449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Conçoit les visuels et monte les vidéos</a:t>
            </a:r>
          </a:p>
          <a:p>
            <a:pPr algn="l">
              <a:lnSpc>
                <a:spcPts val="1560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courtes pour chaque réseau.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5600" y="2235200"/>
            <a:ext cx="3403600" cy="29464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7975600" y="2235200"/>
            <a:ext cx="3403600" cy="508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team_commercia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000" y="2489200"/>
            <a:ext cx="1219200" cy="1625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626600" y="2513584"/>
            <a:ext cx="1651000" cy="4787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 i="0">
                <a:solidFill>
                  <a:srgbClr val="1F5E3A"/>
                </a:solidFill>
                <a:latin typeface="Poppins"/>
              </a:rPr>
              <a:t>Responsable</a:t>
            </a:r>
          </a:p>
          <a:p>
            <a:pPr algn="l">
              <a:lnSpc>
                <a:spcPts val="1625"/>
              </a:lnSpc>
            </a:pPr>
            <a:r>
              <a:rPr sz="1300" b="1" i="0">
                <a:solidFill>
                  <a:srgbClr val="1F5E3A"/>
                </a:solidFill>
                <a:latin typeface="Poppins"/>
              </a:rPr>
              <a:t>commercial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6600" y="3079293"/>
            <a:ext cx="1701800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8"/>
              </a:lnSpc>
            </a:pPr>
            <a:r>
              <a:rPr sz="960" b="1" i="0">
                <a:solidFill>
                  <a:srgbClr val="42612D"/>
                </a:solidFill>
                <a:latin typeface="Poppins"/>
              </a:rPr>
              <a:t>Poste à pourvoir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52000" y="3352800"/>
            <a:ext cx="1473200" cy="215900"/>
          </a:xfrm>
          <a:prstGeom prst="roundRect">
            <a:avLst>
              <a:gd name="adj" fmla="val 50000"/>
            </a:avLst>
          </a:prstGeom>
          <a:solidFill>
            <a:srgbClr val="42612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626600" y="3400044"/>
            <a:ext cx="15240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sz="800" b="1" i="0">
                <a:solidFill>
                  <a:srgbClr val="42612D"/>
                </a:solidFill>
                <a:latin typeface="Poppins"/>
              </a:rPr>
              <a:t>Prospection B2B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52000" y="3632200"/>
            <a:ext cx="1473200" cy="215900"/>
          </a:xfrm>
          <a:prstGeom prst="roundRect">
            <a:avLst>
              <a:gd name="adj" fmla="val 50000"/>
            </a:avLst>
          </a:prstGeom>
          <a:solidFill>
            <a:srgbClr val="42612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626600" y="3679444"/>
            <a:ext cx="15240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sz="800" b="1" i="0">
                <a:solidFill>
                  <a:srgbClr val="42612D"/>
                </a:solidFill>
                <a:latin typeface="Poppins"/>
              </a:rPr>
              <a:t>Négociation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55000" y="4267200"/>
            <a:ext cx="28448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229600" y="4423867"/>
            <a:ext cx="2971800" cy="449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Prospecte les PME agroalimentaires et</a:t>
            </a:r>
          </a:p>
          <a:p>
            <a:pPr algn="l">
              <a:lnSpc>
                <a:spcPts val="1560"/>
              </a:lnSpc>
            </a:pPr>
            <a:r>
              <a:rPr sz="1040" b="0" i="0">
                <a:solidFill>
                  <a:srgbClr val="0A1A01"/>
                </a:solidFill>
                <a:latin typeface="Poppins"/>
              </a:rPr>
              <a:t>transforme les contacts en contrats.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0400" y="5486400"/>
            <a:ext cx="10871200" cy="558800"/>
          </a:xfrm>
          <a:prstGeom prst="roundRect">
            <a:avLst>
              <a:gd name="adj" fmla="val 20454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39800" y="5645912"/>
            <a:ext cx="15240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 spc="140">
                <a:solidFill>
                  <a:srgbClr val="1AAB70"/>
                </a:solidFill>
                <a:latin typeface="Poppins"/>
              </a:rPr>
              <a:t>AUJOURD'HUI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6800" y="5615432"/>
            <a:ext cx="89408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FFFFFF"/>
                </a:solidFill>
                <a:latin typeface="Poppins"/>
              </a:rPr>
              <a:t>Je porte seule l'activité. Recrutements en freelance dès le 3e client.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CE DONT J'AI BESOIN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Appel à l'Action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Un financement de 1 850 000 FCFA pour passer à l'échelle.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133600"/>
            <a:ext cx="3276600" cy="1473200"/>
          </a:xfrm>
          <a:prstGeom prst="roundRect">
            <a:avLst>
              <a:gd name="adj" fmla="val 862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343912"/>
            <a:ext cx="2844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 spc="140">
                <a:solidFill>
                  <a:srgbClr val="1AAB70"/>
                </a:solidFill>
                <a:latin typeface="Poppins"/>
              </a:rPr>
              <a:t>FINANCEMENT DEMANDÉ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51176"/>
            <a:ext cx="2844800" cy="690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sz="3200" b="0" i="0">
                <a:solidFill>
                  <a:srgbClr val="FFFFFF"/>
                </a:solidFill>
                <a:latin typeface="Alfa Slab One"/>
              </a:rPr>
              <a:t>1 850 000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79064"/>
            <a:ext cx="2844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1AAB70"/>
                </a:solidFill>
                <a:latin typeface="Poppins"/>
              </a:rPr>
              <a:t>FCFA — sur 12 mois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7200" y="2133600"/>
            <a:ext cx="3403600" cy="660400"/>
          </a:xfrm>
          <a:prstGeom prst="roundRect">
            <a:avLst>
              <a:gd name="adj" fmla="val 17307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267200" y="2133600"/>
            <a:ext cx="50800" cy="6604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95800" y="2225548"/>
            <a:ext cx="22860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Équipements de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800" y="2472944"/>
            <a:ext cx="23876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0"/>
              </a:lnSpc>
            </a:pPr>
            <a:r>
              <a:rPr sz="800" b="0" i="0">
                <a:solidFill>
                  <a:srgbClr val="42612D"/>
                </a:solidFill>
                <a:latin typeface="Poppins"/>
              </a:rPr>
              <a:t>Ordinateur, smartphone, éclairage, micro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4000" y="2328164"/>
            <a:ext cx="8636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65"/>
              </a:lnSpc>
            </a:pPr>
            <a:r>
              <a:rPr sz="1050" b="1" i="0">
                <a:solidFill>
                  <a:srgbClr val="1AAB70"/>
                </a:solidFill>
                <a:latin typeface="Poppins"/>
              </a:rPr>
              <a:t>1 020 000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4800" y="2133600"/>
            <a:ext cx="3403600" cy="660400"/>
          </a:xfrm>
          <a:prstGeom prst="roundRect">
            <a:avLst>
              <a:gd name="adj" fmla="val 17307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924800" y="2133600"/>
            <a:ext cx="50800" cy="6604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53400" y="2225548"/>
            <a:ext cx="22860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Abonnements &amp; outils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3400" y="2472944"/>
            <a:ext cx="23876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0"/>
              </a:lnSpc>
            </a:pPr>
            <a:r>
              <a:rPr sz="800" b="0" i="0">
                <a:solidFill>
                  <a:srgbClr val="42612D"/>
                </a:solidFill>
                <a:latin typeface="Poppins"/>
              </a:rPr>
              <a:t>Meta Ads, Canva Pro, CapCut Pro,</a:t>
            </a:r>
          </a:p>
          <a:p>
            <a:pPr algn="l">
              <a:lnSpc>
                <a:spcPts val="1040"/>
              </a:lnSpc>
            </a:pPr>
            <a:r>
              <a:rPr sz="800" b="0" i="0">
                <a:solidFill>
                  <a:srgbClr val="42612D"/>
                </a:solidFill>
                <a:latin typeface="Poppins"/>
              </a:rPr>
              <a:t>hébergement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1600" y="2328164"/>
            <a:ext cx="8636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65"/>
              </a:lnSpc>
            </a:pPr>
            <a:r>
              <a:rPr sz="1050" b="1" i="0">
                <a:solidFill>
                  <a:srgbClr val="1F5E3A"/>
                </a:solidFill>
                <a:latin typeface="Poppins"/>
              </a:rPr>
              <a:t>305 000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7200" y="2921000"/>
            <a:ext cx="3403600" cy="660400"/>
          </a:xfrm>
          <a:prstGeom prst="roundRect">
            <a:avLst>
              <a:gd name="adj" fmla="val 17307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267200" y="2921000"/>
            <a:ext cx="50800" cy="6604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495800" y="3012948"/>
            <a:ext cx="22860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Formations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5800" y="3260344"/>
            <a:ext cx="23876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0"/>
              </a:lnSpc>
            </a:pPr>
            <a:r>
              <a:rPr sz="800" b="0" i="0">
                <a:solidFill>
                  <a:srgbClr val="42612D"/>
                </a:solidFill>
                <a:latin typeface="Poppins"/>
              </a:rPr>
              <a:t>Analytics, marketing B2B, acquisition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4000" y="3115564"/>
            <a:ext cx="8636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65"/>
              </a:lnSpc>
            </a:pPr>
            <a:r>
              <a:rPr sz="1050" b="1" i="0">
                <a:solidFill>
                  <a:srgbClr val="42612D"/>
                </a:solidFill>
                <a:latin typeface="Poppins"/>
              </a:rPr>
              <a:t>275 000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24800" y="2921000"/>
            <a:ext cx="3403600" cy="660400"/>
          </a:xfrm>
          <a:prstGeom prst="roundRect">
            <a:avLst>
              <a:gd name="adj" fmla="val 17307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7924800" y="2921000"/>
            <a:ext cx="50800" cy="6604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153400" y="3012948"/>
            <a:ext cx="22860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Site vitrine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3400" y="3260344"/>
            <a:ext cx="2387600" cy="172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0"/>
              </a:lnSpc>
            </a:pPr>
            <a:r>
              <a:rPr sz="800" b="0" i="0">
                <a:solidFill>
                  <a:srgbClr val="42612D"/>
                </a:solidFill>
                <a:latin typeface="Poppins"/>
              </a:rPr>
              <a:t>Offres, portfolio et formulaire de devis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1600" y="3115564"/>
            <a:ext cx="8636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65"/>
              </a:lnSpc>
            </a:pPr>
            <a:r>
              <a:rPr sz="1050" b="1" i="0">
                <a:solidFill>
                  <a:srgbClr val="1AAB70"/>
                </a:solidFill>
                <a:latin typeface="Poppins"/>
              </a:rPr>
              <a:t>250 000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3866896"/>
            <a:ext cx="5130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 spc="150">
                <a:solidFill>
                  <a:srgbClr val="42612D"/>
                </a:solidFill>
                <a:latin typeface="Poppins"/>
              </a:rPr>
              <a:t>AU-DELÀ DU FINANCEMENT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0400" y="4165600"/>
            <a:ext cx="3403600" cy="9652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660400" y="4165600"/>
            <a:ext cx="50800" cy="965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89000" y="4315968"/>
            <a:ext cx="2895600" cy="2914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sz="1350" b="1" i="0">
                <a:solidFill>
                  <a:srgbClr val="1F5E3A"/>
                </a:solidFill>
                <a:latin typeface="Poppins"/>
              </a:rPr>
              <a:t>Accompagnement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000" y="4627880"/>
            <a:ext cx="29718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Mentorat business : offre,</a:t>
            </a:r>
          </a:p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pricing et gestion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18000" y="4165600"/>
            <a:ext cx="3403600" cy="9652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4318000" y="4165600"/>
            <a:ext cx="50800" cy="9652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46600" y="4315968"/>
            <a:ext cx="2895600" cy="2914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sz="1350" b="1" i="0">
                <a:solidFill>
                  <a:srgbClr val="1F5E3A"/>
                </a:solidFill>
                <a:latin typeface="Poppins"/>
              </a:rPr>
              <a:t>Partenariat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6600" y="4627880"/>
            <a:ext cx="29718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Accès aux réseaux</a:t>
            </a:r>
          </a:p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agro-industriels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75600" y="4165600"/>
            <a:ext cx="3403600" cy="9652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7975600" y="4165600"/>
            <a:ext cx="50800" cy="9652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204200" y="4315968"/>
            <a:ext cx="2895600" cy="2914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sz="1350" b="1" i="0">
                <a:solidFill>
                  <a:srgbClr val="1F5E3A"/>
                </a:solidFill>
                <a:latin typeface="Poppins"/>
              </a:rPr>
              <a:t>Visibilité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4200" y="4627880"/>
            <a:ext cx="29718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Références et premiers</a:t>
            </a:r>
          </a:p>
          <a:p>
            <a:pPr algn="l">
              <a:lnSpc>
                <a:spcPts val="145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clients pilotes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5409184"/>
            <a:ext cx="10922000" cy="280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90"/>
              </a:lnSpc>
            </a:pPr>
            <a:r>
              <a:rPr sz="1300" b="0" i="0">
                <a:solidFill>
                  <a:srgbClr val="1F5E3A"/>
                </a:solidFill>
                <a:latin typeface="Alfa Slab One"/>
              </a:rPr>
              <a:t>« Avec votre soutien, mon activité peut créer plus d'impact et d'opportunités. 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0400" y="508000"/>
            <a:ext cx="44450" cy="165100"/>
          </a:xfrm>
          <a:prstGeom prst="rect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4700" y="490728"/>
            <a:ext cx="6400800" cy="183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 spc="190">
                <a:solidFill>
                  <a:srgbClr val="1AAB70"/>
                </a:solidFill>
                <a:latin typeface="Poppins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81736"/>
            <a:ext cx="8178800" cy="521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sz="2700" b="0" i="0">
                <a:solidFill>
                  <a:srgbClr val="1F5E3A"/>
                </a:solidFill>
                <a:latin typeface="Alfa Slab One"/>
              </a:rPr>
              <a:t>Bibliographie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184148"/>
            <a:ext cx="7924800" cy="244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42612D"/>
                </a:solidFill>
                <a:latin typeface="Poppins"/>
              </a:rPr>
              <a:t>Références documentaires, données sectorielles et outils mobilisés.</a:t>
            </a:r>
          </a:p>
        </p:txBody>
      </p:sp>
      <p:pic>
        <p:nvPicPr>
          <p:cNvPr id="8" name="Picture 7" descr="logo-sad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0" y="431800"/>
            <a:ext cx="9398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10" name="Picture 9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082800"/>
            <a:ext cx="5334000" cy="2006600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2082800"/>
            <a:ext cx="5334000" cy="508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2096"/>
            <a:ext cx="4368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 spc="130">
                <a:solidFill>
                  <a:srgbClr val="1AAB70"/>
                </a:solidFill>
                <a:latin typeface="Poppins"/>
              </a:rPr>
              <a:t>DONNÉES &amp; RAPPORTS SECTORIELS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9800" y="2717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43000" y="2619248"/>
            <a:ext cx="1574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ANSD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826918"/>
            <a:ext cx="4572000" cy="346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880" b="0" i="0">
                <a:solidFill>
                  <a:srgbClr val="42612D"/>
                </a:solidFill>
                <a:latin typeface="Poppins"/>
              </a:rPr>
              <a:t>Agence Nationale de la Statistique et de la Démographie — données agricoles</a:t>
            </a:r>
          </a:p>
          <a:p>
            <a:pPr algn="l">
              <a:lnSpc>
                <a:spcPts val="1188"/>
              </a:lnSpc>
            </a:pPr>
            <a:r>
              <a:rPr sz="880" b="0" i="0">
                <a:solidFill>
                  <a:srgbClr val="42612D"/>
                </a:solidFill>
                <a:latin typeface="Poppins"/>
              </a:rPr>
              <a:t>du Sénégal.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3200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43000" y="3101848"/>
            <a:ext cx="1574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DataReportal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309518"/>
            <a:ext cx="4572000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880" b="0" i="0">
                <a:solidFill>
                  <a:srgbClr val="42612D"/>
                </a:solidFill>
                <a:latin typeface="Poppins"/>
              </a:rPr>
              <a:t>Digital 2025 Senegal — usages des réseaux sociaux.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9800" y="3683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43000" y="3584448"/>
            <a:ext cx="1574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FAO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792118"/>
            <a:ext cx="4572000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880" b="0" i="0">
                <a:solidFill>
                  <a:srgbClr val="42612D"/>
                </a:solidFill>
                <a:latin typeface="Poppins"/>
              </a:rPr>
              <a:t>Profils des filières agroalimentaires ouest-africaines.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7600" y="2082800"/>
            <a:ext cx="5334000" cy="2006600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197600" y="2082800"/>
            <a:ext cx="5334000" cy="508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51600" y="2292096"/>
            <a:ext cx="4368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 spc="130">
                <a:solidFill>
                  <a:srgbClr val="1F5E3A"/>
                </a:solidFill>
                <a:latin typeface="Poppins"/>
              </a:rPr>
              <a:t>MÉTHODE &amp; CADRE STRATÉGIQUE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7000" y="2717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80200" y="2619248"/>
            <a:ext cx="1574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TOMSTER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0200" y="2826918"/>
            <a:ext cx="4572000" cy="346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880" b="0" i="0">
                <a:solidFill>
                  <a:srgbClr val="42612D"/>
                </a:solidFill>
                <a:latin typeface="Poppins"/>
              </a:rPr>
              <a:t>Cadre de stratégie digitale — Target, Objectives, Message, Strategy, Tactics,</a:t>
            </a:r>
          </a:p>
          <a:p>
            <a:pPr algn="l">
              <a:lnSpc>
                <a:spcPts val="1188"/>
              </a:lnSpc>
            </a:pPr>
            <a:r>
              <a:rPr sz="880" b="0" i="0">
                <a:solidFill>
                  <a:srgbClr val="42612D"/>
                </a:solidFill>
                <a:latin typeface="Poppins"/>
              </a:rPr>
              <a:t>Execution, Results.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7000" y="3200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680200" y="3101848"/>
            <a:ext cx="1574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SMART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0200" y="3309518"/>
            <a:ext cx="4572000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880" b="0" i="0">
                <a:solidFill>
                  <a:srgbClr val="42612D"/>
                </a:solidFill>
                <a:latin typeface="Poppins"/>
              </a:rPr>
              <a:t>Méthode de formulation des objectifs mesurables.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77000" y="3683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80200" y="3584448"/>
            <a:ext cx="1574800" cy="237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1F5E3A"/>
                </a:solidFill>
                <a:latin typeface="Poppins"/>
              </a:rPr>
              <a:t>SWOT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0200" y="3792118"/>
            <a:ext cx="4572000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880" b="0" i="0">
                <a:solidFill>
                  <a:srgbClr val="42612D"/>
                </a:solidFill>
                <a:latin typeface="Poppins"/>
              </a:rPr>
              <a:t>Analyse des forces, faiblesses, opportunités et menaces.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0400" y="4292600"/>
            <a:ext cx="5334000" cy="1727200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60400" y="4292600"/>
            <a:ext cx="5334000" cy="508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4400" y="4501896"/>
            <a:ext cx="4368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 spc="130">
                <a:solidFill>
                  <a:srgbClr val="42612D"/>
                </a:solidFill>
                <a:latin typeface="Poppins"/>
              </a:rPr>
              <a:t>BENCHMARK CONCURRENTIEL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9800" y="4927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143000" y="4830064"/>
            <a:ext cx="1955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1F5E3A"/>
                </a:solidFill>
                <a:latin typeface="Poppins"/>
              </a:rPr>
              <a:t>Agence Kolonell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3400" y="4846218"/>
            <a:ext cx="2692400" cy="189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4"/>
              </a:lnSpc>
            </a:pPr>
            <a:r>
              <a:rPr sz="880" b="0" i="0">
                <a:solidFill>
                  <a:srgbClr val="42612D"/>
                </a:solidFill>
                <a:latin typeface="Poppins"/>
              </a:rPr>
              <a:t>Offres et positionnement — site officiel.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9800" y="5334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143000" y="5236464"/>
            <a:ext cx="1955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1F5E3A"/>
                </a:solidFill>
                <a:latin typeface="Poppins"/>
              </a:rPr>
              <a:t>Agence WEDRAOGO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3400" y="5252618"/>
            <a:ext cx="2692400" cy="189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4"/>
              </a:lnSpc>
            </a:pPr>
            <a:r>
              <a:rPr sz="880" b="0" i="0">
                <a:solidFill>
                  <a:srgbClr val="42612D"/>
                </a:solidFill>
                <a:latin typeface="Poppins"/>
              </a:rPr>
              <a:t>Grille tarifaire et prestations — site officiel.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9800" y="5740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426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143000" y="5642864"/>
            <a:ext cx="1955800" cy="226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1F5E3A"/>
                </a:solidFill>
                <a:latin typeface="Poppins"/>
              </a:rPr>
              <a:t>Freelances CM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73400" y="5659018"/>
            <a:ext cx="2692400" cy="189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4"/>
              </a:lnSpc>
            </a:pPr>
            <a:r>
              <a:rPr sz="880" b="0" i="0">
                <a:solidFill>
                  <a:srgbClr val="42612D"/>
                </a:solidFill>
                <a:latin typeface="Poppins"/>
              </a:rPr>
              <a:t>Relevé de tarifs pratiqués au Sénégal, 2025.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7600" y="4292600"/>
            <a:ext cx="5334000" cy="1727200"/>
          </a:xfrm>
          <a:prstGeom prst="roundRect">
            <a:avLst>
              <a:gd name="adj" fmla="val 6617"/>
            </a:avLst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451600" y="4501896"/>
            <a:ext cx="4368800" cy="205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 spc="130">
                <a:solidFill>
                  <a:srgbClr val="1AAB70"/>
                </a:solidFill>
                <a:latin typeface="Poppins"/>
              </a:rPr>
              <a:t>OUTILS &amp; RESSOURCES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77000" y="4940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680200" y="4856480"/>
            <a:ext cx="2336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Canva · CapCut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6200" y="4940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169400" y="4856480"/>
            <a:ext cx="2336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Meta Business Suite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77000" y="5295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680200" y="5212080"/>
            <a:ext cx="2336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TikTok Studio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66200" y="5295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169400" y="5212080"/>
            <a:ext cx="2336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LinkedIn Analytics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77000" y="5651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680200" y="5567680"/>
            <a:ext cx="2336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Google Drive · Sheets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66200" y="5651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169400" y="5567680"/>
            <a:ext cx="2336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Trello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91000"/>
          </a:xfrm>
          <a:prstGeom prst="rect">
            <a:avLst/>
          </a:prstGeom>
          <a:solidFill>
            <a:srgbClr val="1F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reeform 3"/>
          <p:cNvSpPr/>
          <p:nvPr/>
        </p:nvSpPr>
        <p:spPr>
          <a:xfrm>
            <a:off x="8890000" y="4191000"/>
            <a:ext cx="3302000" cy="1143000"/>
          </a:xfrm>
          <a:custGeom>
            <a:avLst/>
            <a:gdLst/>
            <a:ahLst/>
            <a:cxnLst/>
            <a:rect l="l" t="t" r="r" b="b"/>
            <a:pathLst>
              <a:path w="3302000" h="1143000">
                <a:moveTo>
                  <a:pt x="0" y="0"/>
                </a:moveTo>
                <a:lnTo>
                  <a:pt x="3302000" y="0"/>
                </a:lnTo>
                <a:lnTo>
                  <a:pt x="3302000" y="1143000"/>
                </a:lnTo>
                <a:lnTo>
                  <a:pt x="1270000" y="1143000"/>
                </a:lnTo>
                <a:close/>
              </a:path>
            </a:pathLst>
          </a:cu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1000" y="7620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1000" y="9017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1000" y="10414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81000" y="11811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1000" y="13208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1000" y="14605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1000" y="16002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1000" y="17399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1000" y="18796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0700" y="7620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0700" y="9017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0700" y="10414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0700" y="11811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0700" y="13208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0700" y="14605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0700" y="16002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0700" y="17399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0700" y="18796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0400" y="7620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0400" y="9017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0400" y="10414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0400" y="11811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0400" y="13208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0400" y="14605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0400" y="16002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0400" y="17399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0400" y="18796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0100" y="7620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100" y="9017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0100" y="10414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0100" y="11811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0100" y="13208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0100" y="14605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00100" y="16002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0100" y="17399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0100" y="18796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9800" y="7620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9800" y="9017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9800" y="10414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9800" y="11811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39800" y="13208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39800" y="14605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9800" y="16002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9800" y="17399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39800" y="18796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9500" y="7620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79500" y="9017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79500" y="10414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9500" y="11811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79500" y="13208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79500" y="14605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79500" y="16002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79500" y="17399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79500" y="1879600"/>
            <a:ext cx="50800" cy="50800"/>
          </a:xfrm>
          <a:prstGeom prst="ellipse">
            <a:avLst/>
          </a:prstGeom>
          <a:solidFill>
            <a:srgbClr val="1AA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-sadiy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762000"/>
            <a:ext cx="1930400" cy="5969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35000" y="1550416"/>
            <a:ext cx="10922000" cy="133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060"/>
              </a:lnSpc>
            </a:pPr>
            <a:r>
              <a:rPr sz="6200" b="0" i="0">
                <a:solidFill>
                  <a:srgbClr val="FFFFFF"/>
                </a:solidFill>
                <a:latin typeface="Alfa Slab One"/>
              </a:rPr>
              <a:t>Merci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000" y="2835656"/>
            <a:ext cx="10922000" cy="367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sz="1700" b="0" i="0" spc="140">
                <a:solidFill>
                  <a:srgbClr val="1AAB70"/>
                </a:solidFill>
                <a:latin typeface="Poppins"/>
              </a:rPr>
              <a:t>pour votre attention !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40000" y="3708400"/>
            <a:ext cx="7112000" cy="16256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2514600" y="3951224"/>
            <a:ext cx="7162800" cy="3886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sz="1800" b="0" i="0">
                <a:solidFill>
                  <a:srgbClr val="1F5E3A"/>
                </a:solidFill>
                <a:latin typeface="Alfa Slab One"/>
              </a:rPr>
              <a:t>Nene Halimatou Sahdiya Diallo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14600" y="4373880"/>
            <a:ext cx="71628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0" i="0">
                <a:solidFill>
                  <a:srgbClr val="42612D"/>
                </a:solidFill>
                <a:latin typeface="Poppins"/>
              </a:rPr>
              <a:t>Fondatrice &amp; CEO — Sadiya Digital Agri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080000" y="4724400"/>
            <a:ext cx="2032000" cy="0"/>
          </a:xfrm>
          <a:prstGeom prst="line">
            <a:avLst/>
          </a:prstGeom>
          <a:ln w="12700">
            <a:solidFill>
              <a:srgbClr val="DCE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514600" y="4883506"/>
            <a:ext cx="7162800" cy="1986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919" b="0" i="0">
                <a:solidFill>
                  <a:srgbClr val="0A1A01"/>
                </a:solidFill>
                <a:latin typeface="Poppins"/>
              </a:rPr>
              <a:t>Dakar, Sénégal   ·   Communication digitale &amp; agro-industrie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87600" y="5569712"/>
            <a:ext cx="7416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sz="900" b="0" i="0">
                <a:solidFill>
                  <a:srgbClr val="42612D"/>
                </a:solidFill>
                <a:latin typeface="Poppins"/>
              </a:rPr>
              <a:t>Sadiya Digital Agri accompagne les entreprises agroalimentaires sénégalaises pour mieux communiquer, valoriser leurs</a:t>
            </a:r>
          </a:p>
          <a:p>
            <a:pPr algn="ctr">
              <a:lnSpc>
                <a:spcPts val="1395"/>
              </a:lnSpc>
            </a:pPr>
            <a:r>
              <a:rPr sz="900" b="0" i="0">
                <a:solidFill>
                  <a:srgbClr val="42612D"/>
                </a:solidFill>
                <a:latin typeface="Poppins"/>
              </a:rPr>
              <a:t>produits et développer leur visibilité grâce au digital.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48600" y="6336182"/>
            <a:ext cx="25908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Programme de Pré-incubation 2026 de la</a:t>
            </a:r>
          </a:p>
          <a:p>
            <a:pPr algn="r">
              <a:lnSpc>
                <a:spcPts val="918"/>
              </a:lnSpc>
            </a:pPr>
            <a:r>
              <a:rPr sz="680" b="0" i="0">
                <a:solidFill>
                  <a:srgbClr val="9FB8A2"/>
                </a:solidFill>
                <a:latin typeface="Poppins"/>
              </a:rPr>
              <a:t>fabrique 360 de Simplon Sénégal</a:t>
            </a:r>
          </a:p>
        </p:txBody>
      </p:sp>
      <p:pic>
        <p:nvPicPr>
          <p:cNvPr id="69" name="Picture 68" descr="logos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299200"/>
            <a:ext cx="1117600" cy="2159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82600" y="6306312"/>
            <a:ext cx="431800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1" i="0">
                <a:solidFill>
                  <a:srgbClr val="1F5E3A"/>
                </a:solidFill>
                <a:latin typeface="Poppins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