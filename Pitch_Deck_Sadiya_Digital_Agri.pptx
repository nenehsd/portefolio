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Contexte &amp;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secteur qui produit beaucoup, mais qui se vend mal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13280"/>
            <a:ext cx="640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LE CONTEXTE — UN MARCHÉ PORTEUR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AAB70"/>
                </a:solidFill>
                <a:latin typeface="Alfa Slab One"/>
              </a:rPr>
              <a:t>11,5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utilisateurs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60,6 % de pénétration, fin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F5E3A"/>
                </a:solidFill>
                <a:latin typeface="Alfa Slab One"/>
              </a:rPr>
              <a:t>5,42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identités sur les réseaux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28,5 % de la population, fin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6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756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42612D"/>
                </a:solidFill>
                <a:latin typeface="Alfa Slab One"/>
              </a:rPr>
              <a:t>63 %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des PMI industrielles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évoluent dans l'agroalimentaire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8608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AAB7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000" y="39644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Les Sénégalais passent en moyenne 2 h 24 par jour sur les réseaux sociaux.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4348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FFB800"/>
                </a:solidFill>
                <a:latin typeface="Poppins"/>
              </a:rPr>
              <a:t>LA PROBLÉMATIQUE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98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2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Présence faible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Des pages inactives, peu de contenu.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80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3180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5974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38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Pas de stratégie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On publie sans objectif ni calendrier.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756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9756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2550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14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Aucune conversion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 la visibilité, mais pas de clients.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400" y="58420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5000" y="59456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invisibles pendant que les marques importées occupent le terrain.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0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3302000" h="1117600">
                <a:moveTo>
                  <a:pt x="0" y="0"/>
                </a:moveTo>
                <a:lnTo>
                  <a:pt x="3302000" y="0"/>
                </a:lnTo>
                <a:lnTo>
                  <a:pt x="3302000" y="1117600"/>
                </a:lnTo>
                <a:lnTo>
                  <a:pt x="1244600" y="1117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74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74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74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74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74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268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268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268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68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268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68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68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92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792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792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792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792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792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792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16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316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316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16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316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316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316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840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840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840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6840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840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6840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840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836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836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836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36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36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36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36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4700" y="5405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90">
                <a:solidFill>
                  <a:srgbClr val="1AAB70"/>
                </a:solidFill>
                <a:latin typeface="Poppins"/>
              </a:rPr>
              <a:t>NOTRE RÉPONSE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7061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400" y="1676400"/>
            <a:ext cx="4826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60400" y="1676400"/>
            <a:ext cx="48260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057400"/>
            <a:ext cx="3708400" cy="149860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791200" y="1676400"/>
            <a:ext cx="5740400" cy="1905000"/>
          </a:xfrm>
          <a:prstGeom prst="roundRect">
            <a:avLst>
              <a:gd name="adj" fmla="val 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21400" y="2021840"/>
            <a:ext cx="5130800" cy="1022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Une agence de community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management spécialisée dans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l'agro-industrie sénégalaise.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6800" y="3098800"/>
            <a:ext cx="7620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604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604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9800" y="4140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112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77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208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Stratégie Social Media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Objectifs, réseaux et ligne éditoriale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180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43180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597400" y="4140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6688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7153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9784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Création de Contenu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Visuels, carrousels et vidéos courtes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56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79756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5000" y="4140200"/>
            <a:ext cx="279400" cy="2794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3264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3729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360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Gestion de Communauté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Animation, modération et relation client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0400" y="5689600"/>
            <a:ext cx="10871200" cy="533400"/>
          </a:xfrm>
          <a:prstGeom prst="roundRect">
            <a:avLst>
              <a:gd name="adj" fmla="val 21428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5000" y="58282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La double expertise agriculture + digital, unique sur ce marché.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02768"/>
            <a:ext cx="76708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786384"/>
            <a:ext cx="8178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58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172208"/>
            <a:ext cx="41148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105912"/>
            <a:ext cx="411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320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cible_produ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184400"/>
            <a:ext cx="762000" cy="76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1800" y="24384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5200" y="20320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ible_ache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600" y="21844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26600" y="24384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400" y="4267200"/>
            <a:ext cx="28702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cible_transformateu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800" y="4419600"/>
            <a:ext cx="762000" cy="76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4673600"/>
            <a:ext cx="17018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8200" y="4572000"/>
            <a:ext cx="28956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cible_gi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4724400"/>
            <a:ext cx="762000" cy="76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89600" y="4978400"/>
            <a:ext cx="17272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4400" y="42672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cible_distribute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4419600"/>
            <a:ext cx="762000" cy="76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75800" y="46736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06800" y="2565400"/>
            <a:ext cx="2489200" cy="711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096000" y="2565400"/>
            <a:ext cx="2489200" cy="711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657600" y="3276600"/>
            <a:ext cx="2438400" cy="1371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96000" y="3276600"/>
            <a:ext cx="0" cy="1473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96000" y="3276600"/>
            <a:ext cx="2438400" cy="1371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514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56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97400" y="2514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32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55000" y="2514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39800" y="4419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56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56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597400" y="4419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32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32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255000" y="4419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60316"/>
            <a:ext cx="6096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08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08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10871200" cy="3175000"/>
          </a:xfrm>
          <a:prstGeom prst="roundRect">
            <a:avLst>
              <a:gd name="adj" fmla="val 48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ersona_amin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590800"/>
            <a:ext cx="1676400" cy="167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02000" y="2545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8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0" y="2779776"/>
            <a:ext cx="7162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7400" y="3479800"/>
            <a:ext cx="8128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02000" y="3679952"/>
            <a:ext cx="7670800" cy="328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0" i="0">
                <a:solidFill>
                  <a:srgbClr val="FFFFFF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192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12192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224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2400" y="4702048"/>
            <a:ext cx="2921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Faire connaître ses gammes de jus</a:t>
            </a:r>
          </a:p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locaux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244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7244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276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276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2296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328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28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56357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0" i="0">
                <a:solidFill>
                  <a:srgbClr val="1F5E3A"/>
                </a:solidFill>
                <a:latin typeface="Alfa Slab One"/>
              </a:rPr>
              <a:t>« De bons produits locaux, mais ni le temps ni les compétences pour les rendre visibles.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8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98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974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974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550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550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400" y="5232400"/>
            <a:ext cx="10871200" cy="660400"/>
          </a:xfrm>
          <a:prstGeom prst="roundRect">
            <a:avLst>
              <a:gd name="adj" fmla="val 1730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000" y="54010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9800" y="22910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558288"/>
            <a:ext cx="6400800" cy="617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51800" y="22910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1800" y="2568448"/>
            <a:ext cx="3251200" cy="7054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L'agence qui combine expertise agricole et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maîtrise digitale au service de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l'agroalimentaire.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7388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1686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528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" y="53370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51800" y="39674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2" name="Oval 31"/>
          <p:cNvSpPr/>
          <p:nvPr/>
        </p:nvSpPr>
        <p:spPr>
          <a:xfrm>
            <a:off x="8077200" y="43434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42111" y="44732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84444" y="44252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32800" y="43550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4775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142111" y="49050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184444" y="48570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32800" y="47868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0" name="Oval 39"/>
          <p:cNvSpPr/>
          <p:nvPr/>
        </p:nvSpPr>
        <p:spPr>
          <a:xfrm>
            <a:off x="8077200" y="52070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42111" y="53368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184444" y="52888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32800" y="52186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4" name="Oval 43"/>
          <p:cNvSpPr/>
          <p:nvPr/>
        </p:nvSpPr>
        <p:spPr>
          <a:xfrm>
            <a:off x="8077200" y="56388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8142111" y="57686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84444" y="57206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32800" y="56504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98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94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74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974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550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550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4419600"/>
            <a:ext cx="10871200" cy="685800"/>
          </a:xfrm>
          <a:prstGeom prst="roundRect">
            <a:avLst>
              <a:gd name="adj" fmla="val 1666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46426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9000" y="4608068"/>
            <a:ext cx="9194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convertir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53136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448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8194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038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136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1882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726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8200" y="21915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200" y="2191512"/>
            <a:ext cx="195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915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191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8200" y="26817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26837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6837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72200" y="26995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32659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1200" y="32679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2679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72200" y="32837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38501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81200" y="38521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72200" y="38679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5262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447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55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544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052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41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49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738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46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772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80400" y="2693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316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80400" y="3074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7200" y="3543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280400" y="3455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3924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80400" y="3836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4305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80400" y="4217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77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80400" y="4598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77200" y="5067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80400" y="4979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387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Production</a:t>
            </a:r>
          </a:p>
        </p:txBody>
      </p:sp>
      <p:sp>
        <p:nvSpPr>
          <p:cNvPr id="15" name="Oval 14"/>
          <p:cNvSpPr/>
          <p:nvPr/>
        </p:nvSpPr>
        <p:spPr>
          <a:xfrm>
            <a:off x="944880" y="304736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95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Thèmes définis en début de mois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338264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créés en avance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71792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Programmation Meta Suite &amp; TikTok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844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876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38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4602480" y="304736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71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Ton professionnel et respectueux</a:t>
            </a:r>
          </a:p>
        </p:txBody>
      </p:sp>
      <p:sp>
        <p:nvSpPr>
          <p:cNvPr id="28" name="Oval 27"/>
          <p:cNvSpPr/>
          <p:nvPr/>
        </p:nvSpPr>
        <p:spPr>
          <a:xfrm>
            <a:off x="4602480" y="338264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71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Critiques constructives conservées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371792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Réclamations traitées en privé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844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55000" y="2387600"/>
            <a:ext cx="304800" cy="304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14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37" name="Oval 36"/>
          <p:cNvSpPr/>
          <p:nvPr/>
        </p:nvSpPr>
        <p:spPr>
          <a:xfrm>
            <a:off x="8260080" y="304736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7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Surveillance quotidienne</a:t>
            </a:r>
          </a:p>
        </p:txBody>
      </p:sp>
      <p:sp>
        <p:nvSpPr>
          <p:cNvPr id="39" name="Oval 38"/>
          <p:cNvSpPr/>
          <p:nvPr/>
        </p:nvSpPr>
        <p:spPr>
          <a:xfrm>
            <a:off x="8260080" y="338264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7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Réponse sous 24 h ouvrées</a:t>
            </a:r>
          </a:p>
        </p:txBody>
      </p:sp>
      <p:sp>
        <p:nvSpPr>
          <p:cNvPr id="41" name="Oval 40"/>
          <p:cNvSpPr/>
          <p:nvPr/>
        </p:nvSpPr>
        <p:spPr>
          <a:xfrm>
            <a:off x="8260080" y="371792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7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Demandes commerciales en privé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39800" y="4958080"/>
            <a:ext cx="259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45" name="Oval 44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0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80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52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24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6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692648"/>
            <a:ext cx="894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9800" y="22438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5577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22795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53000" y="26372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9800" y="32344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35483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2701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53000" y="36278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2250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5389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2607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53000" y="46184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9000" y="27559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9000" y="32131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9000" y="36703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9000" y="41275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9000" y="45847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39800" y="5513832"/>
            <a:ext cx="6400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semaine : identifier les contenus performants.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mois : comparer aux objectifs et 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72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702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956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76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372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702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956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76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3" name="Oval 22"/>
          <p:cNvSpPr/>
          <p:nvPr/>
        </p:nvSpPr>
        <p:spPr>
          <a:xfrm>
            <a:off x="9372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702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956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176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31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549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180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94860" y="360362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627880" y="3672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53280" y="3636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75200" y="3584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38" name="Oval 37"/>
          <p:cNvSpPr/>
          <p:nvPr/>
        </p:nvSpPr>
        <p:spPr>
          <a:xfrm>
            <a:off x="4594860" y="394042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27880" y="4009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53280" y="3973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75200" y="3921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2" name="Oval 41"/>
          <p:cNvSpPr/>
          <p:nvPr/>
        </p:nvSpPr>
        <p:spPr>
          <a:xfrm>
            <a:off x="4594860" y="4277233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7880" y="4345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653280" y="4310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75200" y="4258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2524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2854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108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328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5" name="Oval 54"/>
          <p:cNvSpPr/>
          <p:nvPr/>
        </p:nvSpPr>
        <p:spPr>
          <a:xfrm>
            <a:off x="82524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2854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3108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4328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59" name="Oval 58"/>
          <p:cNvSpPr/>
          <p:nvPr/>
        </p:nvSpPr>
        <p:spPr>
          <a:xfrm>
            <a:off x="82524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2854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108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4328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39800" y="52014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9800" y="5400548"/>
            <a:ext cx="9956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à la demande, publicité et stratégie ponctuelle — dès 25 000 FCFA.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5847080"/>
            <a:ext cx="1092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1">
                <a:solidFill>
                  <a:srgbClr val="42612D"/>
                </a:solidFill>
                <a:latin typeface="Poppins"/>
              </a:rPr>
              <a:t>Paiement mensuel d'avance  ·  engagement 3 mois minimum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36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068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68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68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500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0932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2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2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688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41305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8000" y="41315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6200" y="41315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7147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8000" y="47157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26200" y="47157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2989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8000" y="52999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52999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093200" y="38933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3200" y="41718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4800" y="41718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5020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4800" y="45020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8322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4800" y="48322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51624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4800" y="51624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93200" y="5593080"/>
            <a:ext cx="132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6800" y="5593080"/>
            <a:ext cx="1371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6102299"/>
            <a:ext cx="817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1">
                <a:solidFill>
                  <a:srgbClr val="42612D"/>
                </a:solidFill>
                <a:latin typeface="Poppins"/>
              </a:rPr>
              <a:t>Hypothèses prudentes : outils gratuits, structure sans salarié.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de Plus Qu'Eux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Comparaison sur les cinq critères qui comptent pour une PME agroalimentaire.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28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90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1AAB70"/>
                </a:solidFill>
                <a:latin typeface="Poppins"/>
              </a:rPr>
              <a:t>75 000 – 250 000 FCFA/mois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04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Agences établies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130 000 – 600 000 FCFA/mois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742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CM freelance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42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50 000 – 150 000 FCFA/mois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28702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3600" y="29992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Expertise agricole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228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575300" y="29718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646702" y="31146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693269" y="30618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104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9629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3980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3505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0400" y="34290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63600" y="35580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Spécialisation agro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28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575300" y="35306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646702" y="36734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693269" y="36206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0104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9629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980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03505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0400" y="39878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63600" y="41168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Tarifs adaptés aux PME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228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575300" y="4089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646702" y="42322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693269" y="41794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0104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962900" y="40894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3980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0350500" y="4089400"/>
            <a:ext cx="279400" cy="279400"/>
          </a:xfrm>
          <a:prstGeom prst="ellipse">
            <a:avLst/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420350" y="4216400"/>
            <a:ext cx="139700" cy="330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3600" y="46756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Stratégie structurée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6228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575300" y="4648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6467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6932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0104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962900" y="4648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80343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0808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3980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350500" y="46482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660400" y="51054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63600" y="52344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Reporting et mesure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228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5575300" y="52070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56467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932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70104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962900" y="52070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0343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0808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3980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50500" y="52070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60400" y="57404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5000" y="5867400"/>
            <a:ext cx="109220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Seule offre du marché à combiner expertise agronomique et maîtrise digitale.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3" name="Picture 12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37400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1200" y="38162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280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30043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35631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8162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4510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2" name="Picture 41" descr="banni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128000" y="4451096"/>
            <a:ext cx="3225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6" name="Picture 45" descr="carte_vi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062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36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068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22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068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e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00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54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p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932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186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932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40446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nstag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160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tikt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3876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whatsap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59200" y="4416044"/>
            <a:ext cx="863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m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1308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49072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anv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700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700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capcu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226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226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7752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752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har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5278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78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636000" y="4299712"/>
            <a:ext cx="259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6000" y="4437888"/>
            <a:ext cx="25908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69" name="Oval 68"/>
          <p:cNvSpPr/>
          <p:nvPr/>
        </p:nvSpPr>
        <p:spPr>
          <a:xfrm>
            <a:off x="8158480" y="4923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93100" y="4881067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1" name="Oval 70"/>
          <p:cNvSpPr/>
          <p:nvPr/>
        </p:nvSpPr>
        <p:spPr>
          <a:xfrm>
            <a:off x="8158480" y="52227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3100" y="5180279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3" name="Oval 72"/>
          <p:cNvSpPr/>
          <p:nvPr/>
        </p:nvSpPr>
        <p:spPr>
          <a:xfrm>
            <a:off x="8158480" y="55219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3100" y="5479491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Validation des contenus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5821172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5778703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Suivi des KPI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5200" y="23241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800" y="23802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8600" y="23317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33000" y="23495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07600" y="24074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9210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9210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65200" y="30607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800" y="31168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30683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33000" y="30861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07600" y="31440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6576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6576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65200" y="3797300"/>
            <a:ext cx="330200" cy="330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9800" y="38534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8600" y="38049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Renforcer mon expertise en publicité en ligne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33000" y="38227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07600" y="38806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43942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43942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65200" y="45339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800" y="45900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98600" y="45415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33000" y="45593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007600" y="46172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51308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660400" y="51308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65200" y="52705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53266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8600" y="52781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Faire de Sadiya Digital Agri une agence reconnue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33000" y="52959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07600" y="53538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5994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6129528"/>
            <a:ext cx="939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0" y="6096000"/>
            <a:ext cx="9448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Faire des produits sénégalais une référence digitale.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eam_ce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" y="2413000"/>
            <a:ext cx="1600200" cy="2133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82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3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87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80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eam_crea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2413000"/>
            <a:ext cx="1600200" cy="2133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958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Créatrice de contenu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70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045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team_commerci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7300" y="2413000"/>
            <a:ext cx="1600200" cy="2133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534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Responsable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04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8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28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702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867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9800" y="6001512"/>
            <a:ext cx="1524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6800" y="5983732"/>
            <a:ext cx="894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Je porte seule l'activité. Recrutements en freelance dès le 3e client.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3439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51176"/>
            <a:ext cx="2844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790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58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5800" y="24729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534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3400" y="2472944"/>
            <a:ext cx="2387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Meta Ads, Canva Pro, CapCut Pro,</a:t>
            </a:r>
          </a:p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hébergement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16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958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58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40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534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16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8668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90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66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66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042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42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Conclusion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400" y="2311400"/>
            <a:ext cx="10871200" cy="2717800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60400" y="2311400"/>
            <a:ext cx="108712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295400" y="2735072"/>
            <a:ext cx="9601200" cy="18859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just">
              <a:lnSpc>
                <a:spcPts val="2838"/>
              </a:lnSpc>
            </a:pPr>
            <a:r>
              <a:rPr sz="1650" b="0" i="0">
                <a:solidFill>
                  <a:srgbClr val="0A1A01"/>
                </a:solidFill>
                <a:latin typeface="Poppins"/>
              </a:rPr>
              <a:t>Sadiya Digital Agri rend visibles les produits agroalimentaires sénégalais. Grâce à un</a:t>
            </a:r>
          </a:p>
          <a:p>
            <a:pPr algn="just">
              <a:lnSpc>
                <a:spcPts val="2838"/>
              </a:lnSpc>
            </a:pPr>
            <a:r>
              <a:rPr sz="1650" b="0" i="0">
                <a:solidFill>
                  <a:srgbClr val="0A1A01"/>
                </a:solidFill>
                <a:latin typeface="Poppins"/>
              </a:rPr>
              <a:t>meilleur marketing digital, les entreprises que j'accompagne gagnent en notoriété,</a:t>
            </a:r>
          </a:p>
          <a:p>
            <a:pPr algn="just">
              <a:lnSpc>
                <a:spcPts val="2838"/>
              </a:lnSpc>
            </a:pPr>
            <a:r>
              <a:rPr sz="1650" b="0" i="0">
                <a:solidFill>
                  <a:srgbClr val="0A1A01"/>
                </a:solidFill>
                <a:latin typeface="Poppins"/>
              </a:rPr>
              <a:t>trouvent de nouveaux clients et vendent davantage. Et en bout de chaîne, ce sont les</a:t>
            </a:r>
          </a:p>
          <a:p>
            <a:pPr algn="just">
              <a:lnSpc>
                <a:spcPts val="2838"/>
              </a:lnSpc>
            </a:pPr>
            <a:r>
              <a:rPr sz="1650" b="0" i="0">
                <a:solidFill>
                  <a:srgbClr val="0A1A01"/>
                </a:solidFill>
                <a:latin typeface="Poppins"/>
              </a:rPr>
              <a:t>producteurs qui y gagnent : mieux connus et mieux valorisés, ils peuvent vendre leur</a:t>
            </a:r>
          </a:p>
          <a:p>
            <a:pPr algn="just">
              <a:lnSpc>
                <a:spcPts val="2838"/>
              </a:lnSpc>
            </a:pPr>
            <a:r>
              <a:rPr sz="1650" b="0" i="0">
                <a:solidFill>
                  <a:srgbClr val="0A1A01"/>
                </a:solidFill>
                <a:latin typeface="Poppins"/>
              </a:rPr>
              <a:t>récolte à son juste prix, au lieu de la brader aux banabana faute d'acheteurs.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0800" y="4673600"/>
            <a:ext cx="787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5384800"/>
            <a:ext cx="10871200" cy="558800"/>
          </a:xfrm>
          <a:prstGeom prst="roundRect">
            <a:avLst>
              <a:gd name="adj" fmla="val 2272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000" y="5535168"/>
            <a:ext cx="109220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Plus de visibilité pour les marques, un meilleur revenu pour ceux qui cultivent.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