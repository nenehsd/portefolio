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Relationship Id="rId15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33172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78000" y="1625600"/>
            <a:ext cx="8636000" cy="4648200"/>
          </a:xfrm>
          <a:prstGeom prst="roundRect">
            <a:avLst>
              <a:gd name="adj" fmla="val 491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03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3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3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3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3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3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0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0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0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0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0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7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4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4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4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4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4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4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4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1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1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1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1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1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1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1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11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1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1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1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8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8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8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8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38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8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8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38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8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8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8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8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5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5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65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5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65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65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65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65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5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65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5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76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76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1176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176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176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176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176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6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176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03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03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303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03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303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303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303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03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1303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303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30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430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430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30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430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430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430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430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430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30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1557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557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557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557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557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1557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1557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557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557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557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684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684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684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684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84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684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684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684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684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684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811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811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811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11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811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11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811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11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811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811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938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38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1938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938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1938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938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938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938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938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938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14000" y="5080000"/>
            <a:ext cx="1778000" cy="1193800"/>
          </a:xfrm>
          <a:custGeom>
            <a:avLst/>
            <a:gdLst/>
            <a:ahLst/>
            <a:cxnLst/>
            <a:rect l="l" t="t" r="r" b="b"/>
            <a:pathLst>
              <a:path w="1778000" h="1193800">
                <a:moveTo>
                  <a:pt x="0" y="0"/>
                </a:moveTo>
                <a:lnTo>
                  <a:pt x="1778000" y="0"/>
                </a:lnTo>
                <a:lnTo>
                  <a:pt x="1778000" y="1193800"/>
                </a:lnTo>
                <a:lnTo>
                  <a:pt x="508000" y="11938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logo_fabr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30200"/>
            <a:ext cx="1498600" cy="1003300"/>
          </a:xfrm>
          <a:prstGeom prst="rect">
            <a:avLst/>
          </a:prstGeom>
        </p:spPr>
      </p:pic>
      <p:pic>
        <p:nvPicPr>
          <p:cNvPr id="161" name="Picture 160" descr="logo_simpl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381000"/>
            <a:ext cx="1625600" cy="825500"/>
          </a:xfrm>
          <a:prstGeom prst="rect">
            <a:avLst/>
          </a:prstGeom>
        </p:spPr>
      </p:pic>
      <p:pic>
        <p:nvPicPr>
          <p:cNvPr id="162" name="Picture 161" descr="hero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0" y="279400"/>
            <a:ext cx="4775200" cy="23749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2387600" y="2887472"/>
            <a:ext cx="7416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sz="2900" b="0" i="0" spc="80">
                <a:solidFill>
                  <a:srgbClr val="FFFFFF"/>
                </a:solidFill>
                <a:latin typeface="Alfa Slab One"/>
              </a:rPr>
              <a:t>SADIYA DIGITAL AGRI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9464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0678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2387600" y="3416300"/>
            <a:ext cx="7416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 spc="140">
                <a:solidFill>
                  <a:srgbClr val="1AAB70"/>
                </a:solidFill>
                <a:latin typeface="Poppins"/>
              </a:rPr>
              <a:t>DESIGN &amp; COMMUNITY MANAGEMENT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95600" y="3763264"/>
            <a:ext cx="6400800" cy="426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Votre partenaire en production agricole</a:t>
            </a:r>
          </a:p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et communication digitale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810000" y="4368800"/>
            <a:ext cx="4572000" cy="0"/>
          </a:xfrm>
          <a:prstGeom prst="line">
            <a:avLst/>
          </a:prstGeom>
          <a:ln w="889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2387600" y="4492752"/>
            <a:ext cx="7416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320">
                <a:solidFill>
                  <a:srgbClr val="FFFFFF"/>
                </a:solidFill>
                <a:latin typeface="Poppins"/>
              </a:rPr>
              <a:t>SIMPLON SÉNÉGAL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87600" y="4833518"/>
            <a:ext cx="7416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 spc="240">
                <a:solidFill>
                  <a:srgbClr val="1AAB70"/>
                </a:solidFill>
                <a:latin typeface="Poppins"/>
              </a:rPr>
              <a:t>PROGRAMME DE PRÉ-INCUBATION 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7600" y="5087112"/>
            <a:ext cx="741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1">
                <a:solidFill>
                  <a:srgbClr val="9FB8A2"/>
                </a:solidFill>
                <a:latin typeface="Poppins"/>
              </a:rPr>
              <a:t>Juillet – Septembre 2026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921000" y="5410200"/>
            <a:ext cx="6350000" cy="406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2895600" y="5513832"/>
            <a:ext cx="640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Présentatrice : Nene Halimatou Sahdiya Diallo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895600" y="59009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0" i="0">
                <a:solidFill>
                  <a:srgbClr val="9FB8A2"/>
                </a:solidFill>
                <a:latin typeface="Poppins"/>
              </a:rPr>
              <a:t>Fondatrice &amp; CEO — Sadiya Digital Agri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7404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duits_loc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787400"/>
            <a:ext cx="6045200" cy="56134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5207000" y="0"/>
            <a:ext cx="3683000" cy="990600"/>
          </a:xfrm>
          <a:custGeom>
            <a:avLst/>
            <a:gdLst/>
            <a:ahLst/>
            <a:cxnLst/>
            <a:rect l="l" t="t" r="r" b="b"/>
            <a:pathLst>
              <a:path w="3683000" h="990600">
                <a:moveTo>
                  <a:pt x="0" y="0"/>
                </a:moveTo>
                <a:lnTo>
                  <a:pt x="3683000" y="0"/>
                </a:lnTo>
                <a:lnTo>
                  <a:pt x="2921000" y="990600"/>
                </a:lnTo>
                <a:lnTo>
                  <a:pt x="762000" y="990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8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5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5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5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5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5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2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2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2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2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2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9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9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9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9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9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9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9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9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9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6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36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6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6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6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6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6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6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63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3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63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3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3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63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3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3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3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3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2000" y="15361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DU LOCAL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23235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AAB70"/>
                </a:solidFill>
                <a:latin typeface="Alfa Slab One"/>
              </a:rPr>
              <a:t>AU DIGITAL,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7400" y="3327400"/>
            <a:ext cx="584200" cy="4445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62000" y="3577336"/>
            <a:ext cx="4419600" cy="87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Si nos produits ne sont pas visibles,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comment donner envie de les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consommer 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4960925"/>
            <a:ext cx="4470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Au Sénégal, des centaines de PME agroalimentaires produisent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d'excellents produits locaux… mais restent invisibles en ligne.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" y="5918200"/>
            <a:ext cx="1219200" cy="241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FFB800"/>
                </a:solidFill>
                <a:latin typeface="Poppins"/>
              </a:rPr>
              <a:t>CONSTAT TERRAIN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freins qui empêchent les acteurs agroalimentaires de vendre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463800"/>
            <a:ext cx="266700" cy="2667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0A1A01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Faible présence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sur les réseaux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Pages inactives, contenus rares et irréguliers : la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marque n'existe pas là où se trouvent ses clients.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942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3942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673600" y="2463800"/>
            <a:ext cx="266700" cy="266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82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82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Manque de stratégie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de communication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6736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6482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On publie sans objectif, sans ligne éditoriale ni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calendrier — donc sans résultat mesurable.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8000" y="2133600"/>
            <a:ext cx="3530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8128000" y="2133600"/>
            <a:ext cx="3530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407400" y="2463800"/>
            <a:ext cx="266700" cy="2667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2000" y="2507996"/>
            <a:ext cx="3175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0" y="2916936"/>
            <a:ext cx="3022600" cy="545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Visibilité qui ne</a:t>
            </a:r>
          </a:p>
          <a:p>
            <a:pPr algn="l">
              <a:lnSpc>
                <a:spcPts val="185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convertit pas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407400" y="3708400"/>
            <a:ext cx="381000" cy="0"/>
          </a:xfrm>
          <a:prstGeom prst="line">
            <a:avLst/>
          </a:prstGeom>
          <a:ln w="1778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82000" y="3867506"/>
            <a:ext cx="3022600" cy="408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Des vues, parfois des likes, mais aucun prospect</a:t>
            </a:r>
          </a:p>
          <a:p>
            <a:pPr algn="l">
              <a:lnSpc>
                <a:spcPts val="1426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qualifié ni contrat signé au bout.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0400" y="5080000"/>
            <a:ext cx="10871200" cy="711200"/>
          </a:xfrm>
          <a:prstGeom prst="roundRect">
            <a:avLst>
              <a:gd name="adj" fmla="val 16071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9800" y="5239512"/>
            <a:ext cx="170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CONSÉQUENCE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9800" y="5437632"/>
            <a:ext cx="1021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Des produits de qualité restent inconnus, pendant que les marques importées occupent tout l'espace digital.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boutique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905000"/>
            <a:ext cx="5207000" cy="43942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8890000" y="0"/>
            <a:ext cx="3302000" cy="1219200"/>
          </a:xfrm>
          <a:custGeom>
            <a:avLst/>
            <a:gdLst/>
            <a:ahLst/>
            <a:cxnLst/>
            <a:rect l="l" t="t" r="r" b="b"/>
            <a:pathLst>
              <a:path w="3302000" h="1219200">
                <a:moveTo>
                  <a:pt x="0" y="0"/>
                </a:moveTo>
                <a:lnTo>
                  <a:pt x="3302000" y="0"/>
                </a:lnTo>
                <a:lnTo>
                  <a:pt x="3302000" y="1219200"/>
                </a:lnTo>
                <a:lnTo>
                  <a:pt x="1143000" y="12192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477520"/>
            <a:ext cx="6400800" cy="863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4000" b="0" i="0">
                <a:solidFill>
                  <a:srgbClr val="1F5E3A"/>
                </a:solidFill>
                <a:latin typeface="Alfa Slab One"/>
              </a:rPr>
              <a:t>La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0400" y="1371600"/>
            <a:ext cx="685800" cy="508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5000" y="1619504"/>
            <a:ext cx="6019800" cy="629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70"/>
              </a:lnSpc>
            </a:pPr>
            <a:r>
              <a:rPr sz="1550" b="1" i="0">
                <a:solidFill>
                  <a:srgbClr val="0A1A01"/>
                </a:solidFill>
                <a:latin typeface="Poppins"/>
              </a:rPr>
              <a:t>Une agence de community management spécialisée</a:t>
            </a:r>
          </a:p>
          <a:p>
            <a:pPr algn="l">
              <a:lnSpc>
                <a:spcPts val="2170"/>
              </a:lnSpc>
            </a:pPr>
            <a:r>
              <a:rPr sz="1550" b="1" i="0">
                <a:solidFill>
                  <a:srgbClr val="0A1A01"/>
                </a:solidFill>
                <a:latin typeface="Poppins"/>
              </a:rPr>
              <a:t>dans le secteur agro-industriel.</a:t>
            </a:r>
          </a:p>
        </p:txBody>
      </p:sp>
      <p:sp>
        <p:nvSpPr>
          <p:cNvPr id="9" name="Freeform 8"/>
          <p:cNvSpPr/>
          <p:nvPr/>
        </p:nvSpPr>
        <p:spPr>
          <a:xfrm>
            <a:off x="660400" y="2641600"/>
            <a:ext cx="5715000" cy="1879600"/>
          </a:xfrm>
          <a:custGeom>
            <a:avLst/>
            <a:gdLst/>
            <a:ahLst/>
            <a:cxnLst/>
            <a:rect l="l" t="t" r="r" b="b"/>
            <a:pathLst>
              <a:path w="5715000" h="1879600">
                <a:moveTo>
                  <a:pt x="0" y="0"/>
                </a:moveTo>
                <a:lnTo>
                  <a:pt x="5334000" y="0"/>
                </a:lnTo>
                <a:lnTo>
                  <a:pt x="5715000" y="939800"/>
                </a:lnTo>
                <a:lnTo>
                  <a:pt x="5334000" y="1879600"/>
                </a:lnTo>
                <a:lnTo>
                  <a:pt x="0" y="1879600"/>
                </a:lnTo>
                <a:close/>
              </a:path>
            </a:pathLst>
          </a:cu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8860" y="2954655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071880" y="302323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97280" y="298767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219200" y="2919984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Stratégie Social Media</a:t>
            </a:r>
          </a:p>
        </p:txBody>
      </p:sp>
      <p:sp>
        <p:nvSpPr>
          <p:cNvPr id="14" name="Oval 13"/>
          <p:cNvSpPr/>
          <p:nvPr/>
        </p:nvSpPr>
        <p:spPr>
          <a:xfrm>
            <a:off x="1038860" y="3388487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071880" y="345706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097280" y="342150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219200" y="3353816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Création de Contenu</a:t>
            </a:r>
          </a:p>
        </p:txBody>
      </p:sp>
      <p:sp>
        <p:nvSpPr>
          <p:cNvPr id="18" name="Oval 17"/>
          <p:cNvSpPr/>
          <p:nvPr/>
        </p:nvSpPr>
        <p:spPr>
          <a:xfrm>
            <a:off x="1038860" y="3822319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071880" y="389089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097280" y="385533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219200" y="3787648"/>
            <a:ext cx="41656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6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Gestion de Communauté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4807712"/>
            <a:ext cx="589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AAB70"/>
                </a:solidFill>
                <a:latin typeface="Poppins"/>
              </a:rPr>
              <a:t>LA DOUBLE EXPERTISE QUI FAIT LA DIFFÉRENCE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0400" y="5080000"/>
            <a:ext cx="2743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5209032"/>
            <a:ext cx="246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Agriculture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5456834"/>
            <a:ext cx="2463800" cy="189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2"/>
              </a:lnSpc>
            </a:pPr>
            <a:r>
              <a:rPr sz="830" b="0" i="0">
                <a:solidFill>
                  <a:srgbClr val="42612D"/>
                </a:solidFill>
                <a:latin typeface="Poppins"/>
              </a:rPr>
              <a:t>Licence en agronomie, terrain connu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6800" y="5080000"/>
            <a:ext cx="2743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784600" y="5209032"/>
            <a:ext cx="246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Digital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84600" y="5456834"/>
            <a:ext cx="2463800" cy="189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2"/>
              </a:lnSpc>
            </a:pPr>
            <a:r>
              <a:rPr sz="830" b="0" i="0">
                <a:solidFill>
                  <a:srgbClr val="42612D"/>
                </a:solidFill>
                <a:latin typeface="Poppins"/>
              </a:rPr>
              <a:t>Community management certifié Simplon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30" name="Picture 2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684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1168400"/>
            <a:ext cx="12192000" cy="5689600"/>
          </a:xfrm>
          <a:prstGeom prst="rect">
            <a:avLst/>
          </a:prstGeom>
          <a:solidFill>
            <a:srgbClr val="E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35000" y="332232"/>
            <a:ext cx="76708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20"/>
              </a:lnSpc>
            </a:pPr>
            <a:r>
              <a:rPr sz="2400" b="0" i="0">
                <a:solidFill>
                  <a:srgbClr val="0A1A01"/>
                </a:solidFill>
                <a:latin typeface="Alfa Slab One"/>
              </a:rPr>
              <a:t>NOTRE MARCHÉ 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200" y="813816"/>
            <a:ext cx="817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0" i="0">
                <a:solidFill>
                  <a:srgbClr val="42612D"/>
                </a:solidFill>
                <a:latin typeface="Poppins"/>
              </a:rPr>
              <a:t>Un marché 100 % B2B au cœur de l'agroalimentaire sénégalais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330200"/>
            <a:ext cx="939800" cy="381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937000" y="1676400"/>
            <a:ext cx="4318000" cy="1930400"/>
          </a:xfrm>
          <a:prstGeom prst="roundRect">
            <a:avLst>
              <a:gd name="adj" fmla="val 855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11600" y="1884680"/>
            <a:ext cx="4368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 spc="13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2200656"/>
            <a:ext cx="4114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Digitaliser la visibilité</a:t>
            </a:r>
          </a:p>
          <a:p>
            <a:pPr algn="ctr">
              <a:lnSpc>
                <a:spcPts val="2125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et la commercialisation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3082138"/>
            <a:ext cx="4114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0" i="0">
                <a:solidFill>
                  <a:srgbClr val="9FB8A2"/>
                </a:solidFill>
                <a:latin typeface="Poppins"/>
              </a:rPr>
              <a:t>des acteurs agroalimentaires sénégalais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636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21864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PRODUCTEURS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5979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Exploitations agricoles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&amp; entreprises de production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852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7884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5900" y="21864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ACHETEURS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0" y="25979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Hôtels, restaurants,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commerces &amp; enseignes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400" y="4216400"/>
            <a:ext cx="28702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90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5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8100" y="4421632"/>
            <a:ext cx="22225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TRANSFORMATEURS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833112"/>
            <a:ext cx="25146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PME et entreprises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de transformation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8200" y="4521200"/>
            <a:ext cx="28956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851400" y="469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6000" y="474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8900" y="4726432"/>
            <a:ext cx="22479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GIE &amp; COOPÉRATIVES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6000" y="5137912"/>
            <a:ext cx="25400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Structures collectives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à professionnaliser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4400" y="42164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737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12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5100" y="4421632"/>
            <a:ext cx="22987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DISTRIBUTEURS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2200" y="4833112"/>
            <a:ext cx="2590800" cy="3771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Grossistes, distributeurs</a:t>
            </a:r>
          </a:p>
          <a:p>
            <a:pPr algn="l">
              <a:lnSpc>
                <a:spcPts val="1305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&amp; acteurs de la chaîne</a:t>
            </a:r>
          </a:p>
        </p:txBody>
      </p:sp>
      <p:cxnSp>
        <p:nvCxnSpPr>
          <p:cNvPr id="37" name="Connector 36"/>
          <p:cNvCxnSpPr/>
          <p:nvPr/>
        </p:nvCxnSpPr>
        <p:spPr>
          <a:xfrm flipH="1" flipV="1">
            <a:off x="36068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0960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36576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0" y="3276600"/>
            <a:ext cx="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960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NOTRE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La stratégie TOMSTER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Six étapes pour transformer une présence digitale en opportunités commerciales.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438400"/>
            <a:ext cx="508000" cy="508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48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48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À qui je m'adresse 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398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144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Cible &amp; persona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80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43180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597400" y="2438400"/>
            <a:ext cx="508000" cy="508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24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Objectives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24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Ce que je veux accomplir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74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Objectifs SMART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8255000" y="2438400"/>
            <a:ext cx="508000" cy="508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2560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42612D"/>
                </a:solidFill>
                <a:latin typeface="Alfa Slab One"/>
              </a:rPr>
              <a:t>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90000" y="2459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Message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90000" y="2750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Ce que je dis, et comment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55000" y="3251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0" y="3386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Positionnement &amp; valeur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604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939800" y="4343400"/>
            <a:ext cx="508000" cy="508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465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48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Strategy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748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Mon approche globale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398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144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Réseaux &amp; parcours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180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43180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597400" y="4343400"/>
            <a:ext cx="508000" cy="508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0" y="4465320"/>
            <a:ext cx="558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324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Tactics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324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Mes actions concrètes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5974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720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Calendrier éditorial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756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756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255000" y="4343400"/>
            <a:ext cx="508000" cy="508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0" y="4473448"/>
            <a:ext cx="558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0" i="0">
                <a:solidFill>
                  <a:srgbClr val="42612D"/>
                </a:solidFill>
                <a:latin typeface="Alfa Slab One"/>
              </a:rPr>
              <a:t>E+R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90000" y="4364736"/>
            <a:ext cx="2336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Execution &amp; Results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90000" y="4655312"/>
            <a:ext cx="2336800" cy="2057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Je produis, je mesure, j'ajuste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255000" y="5156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229600" y="5291328"/>
            <a:ext cx="284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KPI &amp; ajustement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qui nous adressons-nous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B2B concentré, identifiable et joignable directement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5334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439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CIBLE PRINCIPALE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621280"/>
            <a:ext cx="4826000" cy="64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Dirigeants et responsables communication des PME agroalimentaires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sénégalaises : marques locales, coopératives, unités artisanales et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agro-industrielles.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7600" y="2133600"/>
            <a:ext cx="5334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197600" y="2133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51600" y="23439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42612D"/>
                </a:solidFill>
                <a:latin typeface="Poppins"/>
              </a:rPr>
              <a:t>CIBLE SECONDAIRE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1600" y="2621280"/>
            <a:ext cx="4826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Grandes entreprises et industries agroalimentaires sénégalaises,</a:t>
            </a:r>
          </a:p>
          <a:p>
            <a:pPr algn="l">
              <a:lnSpc>
                <a:spcPts val="15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disposant de budgets structurés et d'enjeux de marque nationale.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4038600"/>
            <a:ext cx="10871200" cy="1879600"/>
          </a:xfrm>
          <a:prstGeom prst="roundRect">
            <a:avLst>
              <a:gd name="adj" fmla="val 743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16000" y="4368800"/>
            <a:ext cx="965200" cy="965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600" y="4587240"/>
            <a:ext cx="10160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900"/>
              </a:lnSpc>
            </a:pPr>
            <a:r>
              <a:rPr sz="3000" b="0" i="0">
                <a:solidFill>
                  <a:srgbClr val="1AAB70"/>
                </a:solidFill>
                <a:latin typeface="Alfa Slab One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5200" y="42753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PERSONA PRINCIPAL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5200" y="4461256"/>
            <a:ext cx="386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0" i="0">
                <a:solidFill>
                  <a:srgbClr val="FFFFFF"/>
                </a:solidFill>
                <a:latin typeface="Alfa Slab One"/>
              </a:rPr>
              <a:t>Aminata, 36 ans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5200" y="4883506"/>
            <a:ext cx="5384800" cy="21615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33"/>
              </a:lnSpc>
            </a:pPr>
            <a:r>
              <a:rPr sz="919" b="0" i="0">
                <a:solidFill>
                  <a:srgbClr val="9FB8A2"/>
                </a:solidFill>
                <a:latin typeface="Poppins"/>
              </a:rPr>
              <a:t>Directrice générale d'une PME de transformation de fruits et légumes à Dakar.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60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387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BESOIN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7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Faire connaître ses gammes de jus locaux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8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435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FREIN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5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Manque de temps et d'expertise interne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56600" y="5308600"/>
            <a:ext cx="2870200" cy="457200"/>
          </a:xfrm>
          <a:prstGeom prst="roundRect">
            <a:avLst>
              <a:gd name="adj" fmla="val 16666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83600" y="5382870"/>
            <a:ext cx="259080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36"/>
              </a:lnSpc>
            </a:pPr>
            <a:r>
              <a:rPr sz="72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3600" y="5520538"/>
            <a:ext cx="2667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LinkedIn · Facebook · 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6051296"/>
            <a:ext cx="109220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235"/>
              </a:lnSpc>
            </a:pPr>
            <a:r>
              <a:rPr sz="950" b="0" i="1">
                <a:solidFill>
                  <a:srgbClr val="42612D"/>
                </a:solidFill>
                <a:latin typeface="Poppins"/>
              </a:rPr>
              <a:t>« Elle possède de bons produits locaux mais manque de temps et de compétences pour les rendre visibles en ligne.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O ·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accomplir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objectifs SMART, mesurables et échelonnés sur les 6 premiers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1AAB70"/>
                </a:solidFill>
                <a:latin typeface="Poppins"/>
              </a:rPr>
              <a:t>NOTORIÉTÉ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abonnés qualifiés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Faire connaître Sadiya Digital Agri auprès des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PME agroalimentaires via des contenus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spécialisés et pédagogiques.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98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44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3 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1F5E3A"/>
                </a:solidFill>
                <a:latin typeface="Poppins"/>
              </a:rPr>
              <a:t>PROSPECTION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demandes qualifiées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74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Générer des prospects grâce aux contenus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éducatifs, études de cas et appels à l'action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ciblés.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974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20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08200"/>
            <a:ext cx="3403600" cy="312420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23662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 spc="150">
                <a:solidFill>
                  <a:srgbClr val="42612D"/>
                </a:solidFill>
                <a:latin typeface="Poppins"/>
              </a:rPr>
              <a:t>CONVERSION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577592"/>
            <a:ext cx="2844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384296"/>
            <a:ext cx="2844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contrats signés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55000" y="3708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0" y="3842512"/>
            <a:ext cx="2895600" cy="560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Transformer les prospects en clients avec des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offres adaptées aux budgets des PME et un suivi</a:t>
            </a:r>
          </a:p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personnalisé.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55000" y="4724400"/>
            <a:ext cx="10668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29600" y="4783328"/>
            <a:ext cx="11176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5511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5000" y="5661152"/>
            <a:ext cx="109220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80">
                <a:solidFill>
                  <a:srgbClr val="1AAB70"/>
                </a:solidFill>
                <a:latin typeface="Poppins"/>
              </a:rPr>
              <a:t>Visibilité  ›  Engagement  ›  Prospects  ›  Clients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M ·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positionnement clair, une proposition de valeur unique, un ton reconnaissable.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6934200" cy="1371600"/>
          </a:xfrm>
          <a:prstGeom prst="roundRect">
            <a:avLst>
              <a:gd name="adj" fmla="val 9259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9800" y="22941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PROPOSITION DE VALEUR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800" y="2535936"/>
            <a:ext cx="6400800" cy="5598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FFFFFF"/>
                </a:solidFill>
                <a:latin typeface="Alfa Slab One"/>
              </a:rPr>
              <a:t>« Rendre les produits locaux sénégalais aussi visibles</a:t>
            </a:r>
          </a:p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FFFFFF"/>
                </a:solidFill>
                <a:latin typeface="Alfa Slab One"/>
              </a:rPr>
              <a:t>en ligne qu'ils le sont dans les rayons.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97800" y="2108200"/>
            <a:ext cx="37338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797800" y="2108200"/>
            <a:ext cx="50800" cy="1371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51800" y="22941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42612D"/>
                </a:solidFill>
                <a:latin typeface="Poppins"/>
              </a:rPr>
              <a:t>POSITIONNEMENT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1800" y="2546096"/>
            <a:ext cx="3251200" cy="422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2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L'agence qui combine expertise agricole et maîtrise</a:t>
            </a:r>
          </a:p>
          <a:p>
            <a:pPr algn="l">
              <a:lnSpc>
                <a:spcPts val="1472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digitale au service de l'agroalimentaire sénégalais.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3740912"/>
            <a:ext cx="513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60">
                <a:solidFill>
                  <a:srgbClr val="1AAB70"/>
                </a:solidFill>
                <a:latin typeface="Poppins"/>
              </a:rPr>
              <a:t>NOS MESSAGES CLÉS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40386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38200" y="41910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42128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600" y="41841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Sadiya Digital Agri comprend à la fois l'agriculture et le digital.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6228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38200" y="47752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7970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7600" y="47683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Les produits cultivés et transformés au Sénégal méritent d'être visibles en ligne.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52070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8200" y="53594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3812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600" y="5352593"/>
            <a:ext cx="63500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0A1A01"/>
                </a:solidFill>
                <a:latin typeface="Poppins"/>
              </a:rPr>
              <a:t>Nous transformons votre présence sociale en visibilité, communauté et opportunités.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97800" y="3759200"/>
            <a:ext cx="3733800" cy="2311400"/>
          </a:xfrm>
          <a:prstGeom prst="roundRect">
            <a:avLst>
              <a:gd name="adj" fmla="val 49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51800" y="39451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42612D"/>
                </a:solidFill>
                <a:latin typeface="Poppins"/>
              </a:rPr>
              <a:t>TON DE VOIX</a:t>
            </a:r>
          </a:p>
        </p:txBody>
      </p:sp>
      <p:sp>
        <p:nvSpPr>
          <p:cNvPr id="34" name="Oval 33"/>
          <p:cNvSpPr/>
          <p:nvPr/>
        </p:nvSpPr>
        <p:spPr>
          <a:xfrm>
            <a:off x="8077200" y="4254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112901" y="4325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136184" y="4299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55000" y="4223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Professionnel</a:t>
            </a:r>
          </a:p>
        </p:txBody>
      </p:sp>
      <p:sp>
        <p:nvSpPr>
          <p:cNvPr id="38" name="Oval 37"/>
          <p:cNvSpPr/>
          <p:nvPr/>
        </p:nvSpPr>
        <p:spPr>
          <a:xfrm>
            <a:off x="8077200" y="4508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8112901" y="4579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136184" y="4553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55000" y="4477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Chaleureux</a:t>
            </a:r>
          </a:p>
        </p:txBody>
      </p:sp>
      <p:sp>
        <p:nvSpPr>
          <p:cNvPr id="42" name="Oval 41"/>
          <p:cNvSpPr/>
          <p:nvPr/>
        </p:nvSpPr>
        <p:spPr>
          <a:xfrm>
            <a:off x="8077200" y="4762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8112901" y="4833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8136184" y="4807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255000" y="4731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Pédagogique</a:t>
            </a:r>
          </a:p>
        </p:txBody>
      </p:sp>
      <p:sp>
        <p:nvSpPr>
          <p:cNvPr id="46" name="Oval 45"/>
          <p:cNvSpPr/>
          <p:nvPr/>
        </p:nvSpPr>
        <p:spPr>
          <a:xfrm>
            <a:off x="8077200" y="5016500"/>
            <a:ext cx="139700" cy="1397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8112901" y="5087902"/>
            <a:ext cx="23283" cy="24836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136184" y="5061514"/>
            <a:ext cx="45015" cy="51224"/>
          </a:xfrm>
          <a:prstGeom prst="line">
            <a:avLst/>
          </a:prstGeom>
          <a:ln w="13193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255000" y="4985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0A1A01"/>
                </a:solidFill>
                <a:latin typeface="Poppins"/>
              </a:rPr>
              <a:t>Dynamique</a:t>
            </a:r>
          </a:p>
        </p:txBody>
      </p:sp>
      <p:sp>
        <p:nvSpPr>
          <p:cNvPr id="50" name="Oval 49"/>
          <p:cNvSpPr/>
          <p:nvPr/>
        </p:nvSpPr>
        <p:spPr>
          <a:xfrm>
            <a:off x="8077200" y="5270500"/>
            <a:ext cx="139700" cy="1397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107680" y="5300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8107680" y="5300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255000" y="5239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Jargon inutile</a:t>
            </a:r>
          </a:p>
        </p:txBody>
      </p:sp>
      <p:sp>
        <p:nvSpPr>
          <p:cNvPr id="54" name="Oval 53"/>
          <p:cNvSpPr/>
          <p:nvPr/>
        </p:nvSpPr>
        <p:spPr>
          <a:xfrm>
            <a:off x="8077200" y="5524500"/>
            <a:ext cx="139700" cy="1397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107680" y="5554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8107680" y="5554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255000" y="5493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Promesses irréalistes</a:t>
            </a:r>
          </a:p>
        </p:txBody>
      </p:sp>
      <p:sp>
        <p:nvSpPr>
          <p:cNvPr id="58" name="Oval 57"/>
          <p:cNvSpPr/>
          <p:nvPr/>
        </p:nvSpPr>
        <p:spPr>
          <a:xfrm>
            <a:off x="8077200" y="5778500"/>
            <a:ext cx="139700" cy="1397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107680" y="5808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8107680" y="5808980"/>
            <a:ext cx="78740" cy="78740"/>
          </a:xfrm>
          <a:prstGeom prst="line">
            <a:avLst/>
          </a:prstGeom>
          <a:ln w="1778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255000" y="57475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Ton agressif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 approche globale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réseaux, trois rôles complémentaires dans un parcours unique.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TikTok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1AAB70"/>
                </a:solidFill>
                <a:latin typeface="Poppins"/>
              </a:rPr>
              <a:t>Réseau de visibilité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8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232506"/>
            <a:ext cx="2895600" cy="397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Vidéo courte et dynamique pour élargir la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portée et rendre l'agri-digital accessible.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98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Attirer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9400" y="3007360"/>
            <a:ext cx="254000" cy="431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Facebook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1F5E3A"/>
                </a:solidFill>
                <a:latin typeface="Poppins"/>
              </a:rPr>
              <a:t>Réseau principal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974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0" y="3232506"/>
            <a:ext cx="2895600" cy="3972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Informer, éduquer, présenter l'offre et fédérer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une communauté d'acteurs locaux.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974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5720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Engager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7000" y="3007360"/>
            <a:ext cx="254000" cy="431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59000"/>
            <a:ext cx="3403600" cy="2235200"/>
          </a:xfrm>
          <a:prstGeom prst="roundRect">
            <a:avLst>
              <a:gd name="adj" fmla="val 511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2399792"/>
            <a:ext cx="2844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1F5E3A"/>
                </a:solidFill>
                <a:latin typeface="Alfa Slab One"/>
              </a:rPr>
              <a:t>LinkedIn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8011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10">
                <a:solidFill>
                  <a:srgbClr val="42612D"/>
                </a:solidFill>
                <a:latin typeface="Poppins"/>
              </a:rPr>
              <a:t>Réseau B2B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255000" y="30988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0" y="3232506"/>
            <a:ext cx="2895600" cy="5725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Crédibilité, expertise et prospection directe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auprès des dirigeants et responsables</a:t>
            </a:r>
          </a:p>
          <a:p>
            <a:pPr algn="l">
              <a:lnSpc>
                <a:spcPts val="1380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marketing.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55000" y="3911600"/>
            <a:ext cx="9652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229600" y="3969918"/>
            <a:ext cx="10160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>
                <a:solidFill>
                  <a:srgbClr val="FFFFFF"/>
                </a:solidFill>
                <a:latin typeface="Poppins"/>
              </a:rPr>
              <a:t>Convertir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4673600"/>
            <a:ext cx="10871200" cy="635000"/>
          </a:xfrm>
          <a:prstGeom prst="roundRect">
            <a:avLst>
              <a:gd name="adj" fmla="val 18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39800" y="4860544"/>
            <a:ext cx="1193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PARCOURS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06600" y="4840732"/>
            <a:ext cx="932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TikTok attire  ›  Facebook fédère  ›  LinkedIn crédibilise  ›  message privé pour convertir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54945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5 PILIERS ÉDITORIAUX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350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Éducation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8448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28194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Valorisation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0038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Expertise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136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1882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Offres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98000" y="5740400"/>
            <a:ext cx="20320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372600" y="5811012"/>
            <a:ext cx="2082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Communauté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Quelles actions concrètes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calendrier éditorial réaliste : 3 jours de publication par semaine.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6934200" cy="330200"/>
          </a:xfrm>
          <a:prstGeom prst="roundRect">
            <a:avLst>
              <a:gd name="adj" fmla="val 1923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8200" y="2206650"/>
            <a:ext cx="1193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1200" y="2206650"/>
            <a:ext cx="1955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206650"/>
            <a:ext cx="2336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CONTENU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206650"/>
            <a:ext cx="1320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1" i="0" spc="120">
                <a:solidFill>
                  <a:srgbClr val="1AAB70"/>
                </a:solidFill>
                <a:latin typeface="Poppins"/>
              </a:rPr>
              <a:t>OBJECTIF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25400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25400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8200" y="26974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MARDI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1200" y="26991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LinkedIn + Facebook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6991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Post + visuel expert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7600" y="26670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72200" y="27142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Crédibilité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31242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4F7F5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31242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8200" y="32816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VENDREDI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1200" y="32833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Facebook + TikTok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32833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Carrousel + vidéo courte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7600" y="32512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72200" y="32984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Engagement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400" y="37084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60400" y="37084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38200" y="3865880"/>
            <a:ext cx="1193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DIMANCHE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1200" y="3867506"/>
            <a:ext cx="1955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LinkedIn + 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3867506"/>
            <a:ext cx="2336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Storytelling / étude de cas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7600" y="38354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172200" y="3882644"/>
            <a:ext cx="111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Prospection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5293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ANIMATION DE LA COMMUNAUTÉ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50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2-3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2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stories / sem.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701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0447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209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sondage / sem.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98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4544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306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Q&amp;R / mois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895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8641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403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live / mois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992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73800" y="4867656"/>
            <a:ext cx="1320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1-2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0" y="5216957"/>
            <a:ext cx="11684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défis TikTok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97800" y="2133600"/>
            <a:ext cx="3733800" cy="3327400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051800" y="23449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F5E3A"/>
                </a:solidFill>
                <a:latin typeface="Poppins"/>
              </a:rPr>
              <a:t>MOYENS MOBILISÉS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7200" y="2692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29600" y="2622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Canva Free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2778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77200" y="3073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229600" y="3003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CapCut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3159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7200" y="3454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29600" y="3384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Meta Business Suite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3540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programmation FB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77200" y="3835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229600" y="3765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TikTok Studio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3921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gestion TikTok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077200" y="4216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229600" y="4146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LinkedIn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0" y="4302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publication &amp; stats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077200" y="4597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8229600" y="4527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Google Drive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0" y="4683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stockage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77200" y="4978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8229600" y="49084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0A1A01"/>
                </a:solidFill>
                <a:latin typeface="Poppins"/>
              </a:rPr>
              <a:t>Google Sheets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0" y="5064150"/>
            <a:ext cx="3098800" cy="1684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4"/>
              </a:lnSpc>
            </a:pPr>
            <a:r>
              <a:rPr sz="780" b="0" i="0">
                <a:solidFill>
                  <a:srgbClr val="42612D"/>
                </a:solidFill>
                <a:latin typeface="Poppins"/>
              </a:rPr>
              <a:t>calendrier &amp; suivi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E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Comment je produis et j'anime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production organisée, une modération cadrée, une relation client rapide.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3622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00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Production &amp; publication</a:t>
            </a:r>
          </a:p>
        </p:txBody>
      </p:sp>
      <p:sp>
        <p:nvSpPr>
          <p:cNvPr id="17" name="Oval 16"/>
          <p:cNvSpPr/>
          <p:nvPr/>
        </p:nvSpPr>
        <p:spPr>
          <a:xfrm>
            <a:off x="944880" y="285584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95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Début du mois : thèmes et objectifs définis.</a:t>
            </a:r>
          </a:p>
        </p:txBody>
      </p:sp>
      <p:sp>
        <p:nvSpPr>
          <p:cNvPr id="19" name="Oval 18"/>
          <p:cNvSpPr/>
          <p:nvPr/>
        </p:nvSpPr>
        <p:spPr>
          <a:xfrm>
            <a:off x="944880" y="3099841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9500" y="3071317"/>
            <a:ext cx="2781300" cy="35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Chaque semaine : création, validation,</a:t>
            </a:r>
          </a:p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préparation.</a:t>
            </a:r>
          </a:p>
        </p:txBody>
      </p:sp>
      <p:sp>
        <p:nvSpPr>
          <p:cNvPr id="21" name="Oval 20"/>
          <p:cNvSpPr/>
          <p:nvPr/>
        </p:nvSpPr>
        <p:spPr>
          <a:xfrm>
            <a:off x="944880" y="349892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9500" y="34704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Contenus créés en avance, jamais improvisés.</a:t>
            </a:r>
          </a:p>
        </p:txBody>
      </p:sp>
      <p:sp>
        <p:nvSpPr>
          <p:cNvPr id="23" name="Oval 22"/>
          <p:cNvSpPr/>
          <p:nvPr/>
        </p:nvSpPr>
        <p:spPr>
          <a:xfrm>
            <a:off x="944880" y="374291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9500" y="3714394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Programmation via Meta Suite et TikTok Studio.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80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597400" y="2362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276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Modération</a:t>
            </a:r>
          </a:p>
        </p:txBody>
      </p:sp>
      <p:sp>
        <p:nvSpPr>
          <p:cNvPr id="30" name="Oval 29"/>
          <p:cNvSpPr/>
          <p:nvPr/>
        </p:nvSpPr>
        <p:spPr>
          <a:xfrm>
            <a:off x="4602480" y="2855849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71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Ton professionnel, chaleureux et respectueux.</a:t>
            </a:r>
          </a:p>
        </p:txBody>
      </p:sp>
      <p:sp>
        <p:nvSpPr>
          <p:cNvPr id="32" name="Oval 31"/>
          <p:cNvSpPr/>
          <p:nvPr/>
        </p:nvSpPr>
        <p:spPr>
          <a:xfrm>
            <a:off x="4602480" y="3099841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7100" y="3071317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Répondre avec courtoisie, jamais de conflit.</a:t>
            </a:r>
          </a:p>
        </p:txBody>
      </p:sp>
      <p:sp>
        <p:nvSpPr>
          <p:cNvPr id="34" name="Oval 33"/>
          <p:cNvSpPr/>
          <p:nvPr/>
        </p:nvSpPr>
        <p:spPr>
          <a:xfrm>
            <a:off x="4602480" y="3343834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7100" y="3315310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Critiques constructives conservées.</a:t>
            </a:r>
          </a:p>
        </p:txBody>
      </p:sp>
      <p:sp>
        <p:nvSpPr>
          <p:cNvPr id="36" name="Oval 35"/>
          <p:cNvSpPr/>
          <p:nvPr/>
        </p:nvSpPr>
        <p:spPr>
          <a:xfrm>
            <a:off x="4602480" y="358782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37100" y="35593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Réclamations déplacées en message privé.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56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8255000" y="2362200"/>
            <a:ext cx="254000" cy="2540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2404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85200" y="2389632"/>
            <a:ext cx="2717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Relation client</a:t>
            </a:r>
          </a:p>
        </p:txBody>
      </p:sp>
      <p:sp>
        <p:nvSpPr>
          <p:cNvPr id="43" name="Oval 42"/>
          <p:cNvSpPr/>
          <p:nvPr/>
        </p:nvSpPr>
        <p:spPr>
          <a:xfrm>
            <a:off x="8260080" y="2855849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94700" y="2827325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Surveillance quotidienne des messages.</a:t>
            </a:r>
          </a:p>
        </p:txBody>
      </p:sp>
      <p:sp>
        <p:nvSpPr>
          <p:cNvPr id="45" name="Oval 44"/>
          <p:cNvSpPr/>
          <p:nvPr/>
        </p:nvSpPr>
        <p:spPr>
          <a:xfrm>
            <a:off x="8260080" y="3099841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94700" y="3071317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Délai cible : moins de 24 h ouvrées.</a:t>
            </a:r>
          </a:p>
        </p:txBody>
      </p:sp>
      <p:sp>
        <p:nvSpPr>
          <p:cNvPr id="47" name="Oval 46"/>
          <p:cNvSpPr/>
          <p:nvPr/>
        </p:nvSpPr>
        <p:spPr>
          <a:xfrm>
            <a:off x="8260080" y="3343834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94700" y="3315310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Demande commerciale : orientée en privé.</a:t>
            </a:r>
          </a:p>
        </p:txBody>
      </p:sp>
      <p:sp>
        <p:nvSpPr>
          <p:cNvPr id="49" name="Oval 48"/>
          <p:cNvSpPr/>
          <p:nvPr/>
        </p:nvSpPr>
        <p:spPr>
          <a:xfrm>
            <a:off x="8260080" y="358782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94700" y="3559302"/>
            <a:ext cx="2781300" cy="198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1"/>
              </a:lnSpc>
            </a:pPr>
            <a:r>
              <a:rPr sz="860" b="0" i="0">
                <a:solidFill>
                  <a:srgbClr val="0A1A01"/>
                </a:solidFill>
                <a:latin typeface="Poppins"/>
              </a:rPr>
              <a:t>Sujets sensibles transmis au client.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0400" y="4749800"/>
            <a:ext cx="10871200" cy="1320800"/>
          </a:xfrm>
          <a:prstGeom prst="roundRect">
            <a:avLst>
              <a:gd name="adj" fmla="val 961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39800" y="4961128"/>
            <a:ext cx="259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PLAN BAD BUZZ</a:t>
            </a:r>
          </a:p>
        </p:txBody>
      </p:sp>
      <p:sp>
        <p:nvSpPr>
          <p:cNvPr id="53" name="Oval 52"/>
          <p:cNvSpPr/>
          <p:nvPr/>
        </p:nvSpPr>
        <p:spPr>
          <a:xfrm>
            <a:off x="965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9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54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Identifier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368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26924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6670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226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Vérifier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0640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44196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942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498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Répondre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7912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61468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214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770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Traiter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5184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8740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486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042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Suivre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2456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9601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575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31400" y="5290312"/>
            <a:ext cx="1371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Tirer les leçons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9800" y="5695696"/>
            <a:ext cx="894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0" i="1">
                <a:solidFill>
                  <a:srgbClr val="9FB8A2"/>
                </a:solidFill>
                <a:latin typeface="Poppins"/>
              </a:rPr>
              <a:t>Règle d'or : ne jamais répondre sous le coup de l'émotion.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R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Est-ce que ça marche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KPI clairs par objectif, un bilan hebdomadaire et mensuel.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9800" y="22595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Notoriété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25475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Abonnés · portée · impressions · vues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000" y="22943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Statistiques Facebook, LinkedIn, TikTok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8400" y="26162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53000" y="26519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31242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60400" y="31242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9800" y="32501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Prospects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35381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Messages · demandes · clics · leads qualifiés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32849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Statistiques + tableau de suivi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78400" y="36068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953000" y="36425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Hebdo + mensuel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41148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60400" y="41148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9800" y="4240784"/>
            <a:ext cx="1955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800" y="4528718"/>
            <a:ext cx="3860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0" i="0">
                <a:solidFill>
                  <a:srgbClr val="0A1A01"/>
                </a:solidFill>
                <a:latin typeface="Poppins"/>
              </a:rPr>
              <a:t>Prospects convertis · contrats · taux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4275531"/>
            <a:ext cx="25908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Tableau de suivi commercial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78400" y="45974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953000" y="4633163"/>
            <a:ext cx="12700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97800" y="2133600"/>
            <a:ext cx="3733800" cy="2971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051800" y="2344928"/>
            <a:ext cx="3225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40">
                <a:solidFill>
                  <a:srgbClr val="1F5E3A"/>
                </a:solidFill>
                <a:latin typeface="Poppins"/>
              </a:rPr>
              <a:t>BOUCLE D'AMÉLIORATION</a:t>
            </a:r>
          </a:p>
        </p:txBody>
      </p:sp>
      <p:sp>
        <p:nvSpPr>
          <p:cNvPr id="36" name="Oval 35"/>
          <p:cNvSpPr/>
          <p:nvPr/>
        </p:nvSpPr>
        <p:spPr>
          <a:xfrm>
            <a:off x="8077200" y="27178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51800" y="27884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83600" y="27716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Publier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229600" y="30480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077200" y="31750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51800" y="32456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83600" y="32288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Mesurer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229600" y="35052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077200" y="36322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51800" y="37028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3600" y="36860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Analyser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0" y="39624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8077200" y="40894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1800" y="41600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3600" y="41432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Ajuster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229600" y="44196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8077200" y="4546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51800" y="46172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3600" y="4600448"/>
            <a:ext cx="259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Améliorer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0400" y="5334000"/>
            <a:ext cx="6934200" cy="736600"/>
          </a:xfrm>
          <a:prstGeom prst="roundRect">
            <a:avLst>
              <a:gd name="adj" fmla="val 1551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39800" y="5593893"/>
            <a:ext cx="640080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92"/>
              </a:lnSpc>
            </a:pPr>
            <a:r>
              <a:rPr sz="960" b="0" i="0">
                <a:solidFill>
                  <a:srgbClr val="FFFFFF"/>
                </a:solidFill>
                <a:latin typeface="Poppins"/>
              </a:rPr>
              <a:t>Chaque semaine : identifier les contenus performants.   |   Chaque mois : comparer aux objectifs et</a:t>
            </a:r>
          </a:p>
          <a:p>
            <a:pPr algn="l">
              <a:lnSpc>
                <a:spcPts val="1392"/>
              </a:lnSpc>
            </a:pPr>
            <a:r>
              <a:rPr sz="960" b="0" i="0">
                <a:solidFill>
                  <a:srgbClr val="FFFFFF"/>
                </a:solidFill>
                <a:latin typeface="Poppins"/>
              </a:rPr>
              <a:t>ajuster.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Modèle Économique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Comment Sadiya Digital Agri crée, délivre et capture de la valeur.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9000" y="23368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Proposition de valeur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6670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9480" y="282930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100" y="28023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Communication digitale spécialisée agro</a:t>
            </a:r>
          </a:p>
        </p:txBody>
      </p:sp>
      <p:sp>
        <p:nvSpPr>
          <p:cNvPr id="18" name="Oval 17"/>
          <p:cNvSpPr/>
          <p:nvPr/>
        </p:nvSpPr>
        <p:spPr>
          <a:xfrm>
            <a:off x="919480" y="305485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4100" y="30278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Double expertise agriculture + digital</a:t>
            </a:r>
          </a:p>
        </p:txBody>
      </p:sp>
      <p:sp>
        <p:nvSpPr>
          <p:cNvPr id="20" name="Oval 19"/>
          <p:cNvSpPr/>
          <p:nvPr/>
        </p:nvSpPr>
        <p:spPr>
          <a:xfrm>
            <a:off x="919480" y="328041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4100" y="32534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Produits locaux rendus visibles et attractifs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80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3180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46600" y="23368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Clients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0" y="26670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577080" y="282930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1700" y="28023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PME agroalimentaires sénégalaises</a:t>
            </a:r>
          </a:p>
        </p:txBody>
      </p:sp>
      <p:sp>
        <p:nvSpPr>
          <p:cNvPr id="28" name="Oval 27"/>
          <p:cNvSpPr/>
          <p:nvPr/>
        </p:nvSpPr>
        <p:spPr>
          <a:xfrm>
            <a:off x="4577080" y="3054858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1700" y="30278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Coopératives &amp; GIE de producteurs</a:t>
            </a:r>
          </a:p>
        </p:txBody>
      </p:sp>
      <p:sp>
        <p:nvSpPr>
          <p:cNvPr id="30" name="Oval 29"/>
          <p:cNvSpPr/>
          <p:nvPr/>
        </p:nvSpPr>
        <p:spPr>
          <a:xfrm>
            <a:off x="4577080" y="3280410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11700" y="32534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Grandes industries (cible secondaire)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56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9756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04200" y="23368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Canaux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29600" y="26670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234680" y="282930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9300" y="28023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LinkedIn : prospection B2B directe</a:t>
            </a:r>
          </a:p>
        </p:txBody>
      </p:sp>
      <p:sp>
        <p:nvSpPr>
          <p:cNvPr id="38" name="Oval 37"/>
          <p:cNvSpPr/>
          <p:nvPr/>
        </p:nvSpPr>
        <p:spPr>
          <a:xfrm>
            <a:off x="8234680" y="3054858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9300" y="30278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Facebook : communauté et offre</a:t>
            </a:r>
          </a:p>
        </p:txBody>
      </p:sp>
      <p:sp>
        <p:nvSpPr>
          <p:cNvPr id="40" name="Oval 39"/>
          <p:cNvSpPr/>
          <p:nvPr/>
        </p:nvSpPr>
        <p:spPr>
          <a:xfrm>
            <a:off x="8234680" y="3280410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9300" y="32534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TikTok : portée et notoriété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6604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9000" y="43180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Sources de revenus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14400" y="46482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919480" y="481050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4100" y="47835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Abonnements mensuels récurrents</a:t>
            </a:r>
          </a:p>
        </p:txBody>
      </p:sp>
      <p:sp>
        <p:nvSpPr>
          <p:cNvPr id="48" name="Oval 47"/>
          <p:cNvSpPr/>
          <p:nvPr/>
        </p:nvSpPr>
        <p:spPr>
          <a:xfrm>
            <a:off x="919480" y="503605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4100" y="50090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Prestations ponctuelles à la demande</a:t>
            </a:r>
          </a:p>
        </p:txBody>
      </p:sp>
      <p:sp>
        <p:nvSpPr>
          <p:cNvPr id="50" name="Oval 49"/>
          <p:cNvSpPr/>
          <p:nvPr/>
        </p:nvSpPr>
        <p:spPr>
          <a:xfrm>
            <a:off x="919480" y="526161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4100" y="52346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Campagnes publicitaires gérées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180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43180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546600" y="43180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Ressources clés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72000" y="46482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4577080" y="481050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11700" y="47835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Compétences agro + community management</a:t>
            </a:r>
          </a:p>
        </p:txBody>
      </p:sp>
      <p:sp>
        <p:nvSpPr>
          <p:cNvPr id="58" name="Oval 57"/>
          <p:cNvSpPr/>
          <p:nvPr/>
        </p:nvSpPr>
        <p:spPr>
          <a:xfrm>
            <a:off x="4577080" y="5036058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11700" y="50090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Canva, CapCut, Meta Suite, TikTok Studio</a:t>
            </a:r>
          </a:p>
        </p:txBody>
      </p:sp>
      <p:sp>
        <p:nvSpPr>
          <p:cNvPr id="60" name="Oval 59"/>
          <p:cNvSpPr/>
          <p:nvPr/>
        </p:nvSpPr>
        <p:spPr>
          <a:xfrm>
            <a:off x="4577080" y="5261610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11700" y="52346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Identité de marque et site portfolio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9756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79756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04200" y="4318000"/>
            <a:ext cx="2971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Structure de coûts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229600" y="46482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8234680" y="481050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9300" y="4783531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Outils en version gratuite au démarrage</a:t>
            </a:r>
          </a:p>
        </p:txBody>
      </p:sp>
      <p:sp>
        <p:nvSpPr>
          <p:cNvPr id="68" name="Oval 67"/>
          <p:cNvSpPr/>
          <p:nvPr/>
        </p:nvSpPr>
        <p:spPr>
          <a:xfrm>
            <a:off x="8234680" y="5036058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9300" y="5009083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Connexion, déplacements terrain</a:t>
            </a:r>
          </a:p>
        </p:txBody>
      </p:sp>
      <p:sp>
        <p:nvSpPr>
          <p:cNvPr id="70" name="Oval 69"/>
          <p:cNvSpPr/>
          <p:nvPr/>
        </p:nvSpPr>
        <p:spPr>
          <a:xfrm>
            <a:off x="8234680" y="5261610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69300" y="5234635"/>
            <a:ext cx="283210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6"/>
              </a:lnSpc>
            </a:pPr>
            <a:r>
              <a:rPr sz="840" b="0" i="0">
                <a:solidFill>
                  <a:srgbClr val="0A1A01"/>
                </a:solidFill>
                <a:latin typeface="Poppins"/>
              </a:rPr>
              <a:t>Budget publicitaire refacturé au client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Nos Offres d'Abonnement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formules mensuelles, plus des prestations à la demande.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441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9FB8A2"/>
                </a:solidFill>
                <a:latin typeface="Poppins"/>
              </a:rPr>
              <a:t>ESSENTIEL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568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1F5E3A"/>
                </a:solidFill>
                <a:latin typeface="Alfa Slab One"/>
              </a:rPr>
              <a:t>75 000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3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8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37260" y="3669538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970280" y="3738118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95680" y="3702558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17600" y="36643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8 publications / mois</a:t>
            </a:r>
          </a:p>
        </p:txBody>
      </p:sp>
      <p:sp>
        <p:nvSpPr>
          <p:cNvPr id="21" name="Oval 20"/>
          <p:cNvSpPr/>
          <p:nvPr/>
        </p:nvSpPr>
        <p:spPr>
          <a:xfrm>
            <a:off x="937260" y="3950767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970280" y="401934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95680" y="398378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17600" y="39455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Visuels personnalisés</a:t>
            </a:r>
          </a:p>
        </p:txBody>
      </p:sp>
      <p:sp>
        <p:nvSpPr>
          <p:cNvPr id="25" name="Oval 24"/>
          <p:cNvSpPr/>
          <p:nvPr/>
        </p:nvSpPr>
        <p:spPr>
          <a:xfrm>
            <a:off x="937260" y="4231996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970280" y="4300576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95680" y="4265016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117600" y="42267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Gestion de communauté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000" y="2057400"/>
            <a:ext cx="3403600" cy="2895600"/>
          </a:xfrm>
          <a:prstGeom prst="roundRect">
            <a:avLst>
              <a:gd name="adj" fmla="val 3947"/>
            </a:avLst>
          </a:prstGeom>
          <a:solidFill>
            <a:srgbClr val="1F5E3A"/>
          </a:solidFill>
          <a:ln w="2032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5435600" y="1917700"/>
            <a:ext cx="11684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410200" y="1966163"/>
            <a:ext cx="12192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 spc="80">
                <a:solidFill>
                  <a:srgbClr val="FFFFFF"/>
                </a:solidFill>
                <a:latin typeface="Poppins"/>
              </a:rPr>
              <a:t>RECOMMANDÉ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2314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1AAB70"/>
                </a:solidFill>
                <a:latin typeface="Poppins"/>
              </a:rPr>
              <a:t>PRO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25298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FFFFFF"/>
                </a:solidFill>
                <a:latin typeface="Alfa Slab One"/>
              </a:rPr>
              <a:t>150 000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106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9FB8A2"/>
                </a:solidFill>
                <a:latin typeface="Poppins"/>
              </a:rPr>
              <a:t>FCFA / mois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97400" y="3378200"/>
            <a:ext cx="2844800" cy="0"/>
          </a:xfrm>
          <a:prstGeom prst="line">
            <a:avLst/>
          </a:prstGeom>
          <a:ln w="1270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594860" y="3542538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627880" y="3611118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653280" y="3575558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75200" y="35373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12 publications + 4 vidéos</a:t>
            </a:r>
          </a:p>
        </p:txBody>
      </p:sp>
      <p:sp>
        <p:nvSpPr>
          <p:cNvPr id="40" name="Oval 39"/>
          <p:cNvSpPr/>
          <p:nvPr/>
        </p:nvSpPr>
        <p:spPr>
          <a:xfrm>
            <a:off x="4594860" y="3823767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4627880" y="389234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653280" y="385678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775200" y="38185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Animation de communauté</a:t>
            </a:r>
          </a:p>
        </p:txBody>
      </p:sp>
      <p:sp>
        <p:nvSpPr>
          <p:cNvPr id="44" name="Oval 43"/>
          <p:cNvSpPr/>
          <p:nvPr/>
        </p:nvSpPr>
        <p:spPr>
          <a:xfrm>
            <a:off x="4594860" y="4104996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627880" y="4173576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653280" y="4138016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775200" y="40997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FFFFFF"/>
                </a:solidFill>
                <a:latin typeface="Poppins"/>
              </a:rPr>
              <a:t>Stratégie éditoriale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56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229600" y="2441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80">
                <a:solidFill>
                  <a:srgbClr val="1F5E3A"/>
                </a:solidFill>
                <a:latin typeface="Poppins"/>
              </a:rPr>
              <a:t>PREMIUM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2656840"/>
            <a:ext cx="28448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0" i="0">
                <a:solidFill>
                  <a:srgbClr val="1F5E3A"/>
                </a:solidFill>
                <a:latin typeface="Alfa Slab One"/>
              </a:rPr>
              <a:t>250 000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323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2550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8252460" y="3669538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8285480" y="3738118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8310880" y="3702558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432800" y="3664306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16 publications + 8 vidéos</a:t>
            </a:r>
          </a:p>
        </p:txBody>
      </p:sp>
      <p:sp>
        <p:nvSpPr>
          <p:cNvPr id="57" name="Oval 56"/>
          <p:cNvSpPr/>
          <p:nvPr/>
        </p:nvSpPr>
        <p:spPr>
          <a:xfrm>
            <a:off x="8252460" y="3950767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8285480" y="4019347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310880" y="3983787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432800" y="3945534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Stratégie + publicité</a:t>
            </a:r>
          </a:p>
        </p:txBody>
      </p:sp>
      <p:sp>
        <p:nvSpPr>
          <p:cNvPr id="61" name="Oval 60"/>
          <p:cNvSpPr/>
          <p:nvPr/>
        </p:nvSpPr>
        <p:spPr>
          <a:xfrm>
            <a:off x="8252460" y="4231996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8285480" y="4300576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310880" y="4265016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432800" y="4226763"/>
            <a:ext cx="2717800" cy="200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4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Reporting mensuel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0400" y="5130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F4F7F5"/>
          </a:solidFill>
          <a:ln w="1270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660400" y="5130800"/>
            <a:ext cx="63500" cy="558800"/>
          </a:xfrm>
          <a:prstGeom prst="roundRect">
            <a:avLst>
              <a:gd name="adj" fmla="val 4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39800" y="52161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REVENUS COMPLÉMENTAIRES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9800" y="5390896"/>
            <a:ext cx="995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0" i="0">
                <a:solidFill>
                  <a:srgbClr val="0A1A01"/>
                </a:solidFill>
                <a:latin typeface="Poppins"/>
              </a:rPr>
              <a:t>Contenus à la demande, campagnes publicitaires et stratégie ponctuelle — à partir de 25 000 FCFA.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5000" y="5824525"/>
            <a:ext cx="109220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1">
                <a:solidFill>
                  <a:srgbClr val="42612D"/>
                </a:solidFill>
                <a:latin typeface="Poppins"/>
              </a:rPr>
              <a:t>Paiement mensuel d'avance  ·  engagement 3 mois minimum  ·  devis sur mesure au-delà de 16 publications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Rentabilité &amp;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point mort atteignable dès le troisième client régulier.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36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85 000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42612D"/>
                </a:solidFill>
                <a:latin typeface="Poppins"/>
              </a:rPr>
              <a:t>FCFA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Charges mensuelles estimées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36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036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068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68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clients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68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Seuil de rentabilité (offre Pro)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68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1468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00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450 000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F5E3A"/>
                </a:solidFill>
                <a:latin typeface="Poppins"/>
              </a:rPr>
              <a:t>FCFA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0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Revenu mensuel visé à 6 mois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900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8890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093200" y="2311400"/>
            <a:ext cx="2082800" cy="5397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50"/>
              </a:lnSpc>
            </a:pPr>
            <a:r>
              <a:rPr sz="2500" b="0" i="0">
                <a:solidFill>
                  <a:srgbClr val="1F5E3A"/>
                </a:solidFill>
                <a:latin typeface="Alfa Slab One"/>
              </a:rPr>
              <a:t>5,4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3200" y="2776728"/>
            <a:ext cx="2082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>
                <a:solidFill>
                  <a:srgbClr val="1AAB70"/>
                </a:solidFill>
                <a:latin typeface="Poppins"/>
              </a:rPr>
              <a:t>FCFA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3200" y="3006344"/>
            <a:ext cx="21336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8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Chiffre d'affaires annualisé cible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911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SCÉNARIO DE MONTÉE EN CHARGE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4146296"/>
            <a:ext cx="106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0A1A01"/>
                </a:solidFill>
                <a:latin typeface="Poppins"/>
              </a:rPr>
              <a:t>Mois 1–3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27200" y="4147312"/>
            <a:ext cx="93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2 clients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1600" y="41148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2641600" y="4114800"/>
            <a:ext cx="1038352" cy="279400"/>
          </a:xfrm>
          <a:prstGeom prst="roundRect">
            <a:avLst>
              <a:gd name="adj" fmla="val 5000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426200" y="4147312"/>
            <a:ext cx="2235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150 000 FCFA/mois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730496"/>
            <a:ext cx="106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0A1A01"/>
                </a:solidFill>
                <a:latin typeface="Poppins"/>
              </a:rPr>
              <a:t>Mois 4–6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27200" y="4731512"/>
            <a:ext cx="93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3 clients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41600" y="46990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2641600" y="4699000"/>
            <a:ext cx="2299208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26200" y="4731512"/>
            <a:ext cx="2235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450 000 FCFA/mois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5314696"/>
            <a:ext cx="106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0A1A01"/>
                </a:solidFill>
                <a:latin typeface="Poppins"/>
              </a:rPr>
              <a:t>Mois 7–12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27200" y="5315712"/>
            <a:ext cx="93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5 clients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426200" y="5315712"/>
            <a:ext cx="2235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750 000 FCFA/mois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90000" y="3708400"/>
            <a:ext cx="2641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8890000" y="3708400"/>
            <a:ext cx="2641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093200" y="3895344"/>
            <a:ext cx="2336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30">
                <a:solidFill>
                  <a:srgbClr val="1F5E3A"/>
                </a:solidFill>
                <a:latin typeface="Poppins"/>
              </a:rPr>
              <a:t>CHARGES PRINCIPALES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200" y="41743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Connexion internet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0200" y="41743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25 000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200" y="45045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Déplacements terrain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90200" y="45045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3200" y="48347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Outils &amp; abonnements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90200" y="48347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3200" y="5164938"/>
            <a:ext cx="1701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Divers &amp; imprévus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90200" y="5164938"/>
            <a:ext cx="838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118600" y="5511800"/>
            <a:ext cx="21844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093200" y="5595925"/>
            <a:ext cx="1320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1F5E3A"/>
                </a:solidFill>
                <a:latin typeface="Poppins"/>
              </a:rPr>
              <a:t>Total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82200" y="5595925"/>
            <a:ext cx="1346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18"/>
              </a:lnSpc>
            </a:pPr>
            <a:r>
              <a:rPr sz="860" b="1" i="0">
                <a:solidFill>
                  <a:srgbClr val="1AAB70"/>
                </a:solidFill>
                <a:latin typeface="Poppins"/>
              </a:rPr>
              <a:t>85 000 FCFA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000" y="6104738"/>
            <a:ext cx="817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1">
                <a:solidFill>
                  <a:srgbClr val="42612D"/>
                </a:solidFill>
                <a:latin typeface="Poppins"/>
              </a:rPr>
              <a:t>Hypothèses prudentes : outils en version gratuite, structure sans salarié, budget publicitaire refacturé au client.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Concurrence &amp; Différenciation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occupé par des généralistes — aucune agence spécialisée agro.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09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42612D"/>
                </a:solidFill>
                <a:latin typeface="Poppins"/>
              </a:rPr>
              <a:t>LE MARCHÉ AUJOURD'HUI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" y="23876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9000" y="24805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Agence Kolonell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27011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Expert, axé résultats et stratégie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8600" y="25716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250–600 k FCFA/mois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30734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89000" y="31663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Agence WEDRAOGO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9000" y="33869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Professionnel, créatif et attractif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8600" y="32574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dès 130 k FCFA/mois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0400" y="3759200"/>
            <a:ext cx="5334000" cy="584200"/>
          </a:xfrm>
          <a:prstGeom prst="roundRect">
            <a:avLst>
              <a:gd name="adj" fmla="val 1956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89000" y="38521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0A1A01"/>
                </a:solidFill>
                <a:latin typeface="Poppins"/>
              </a:rPr>
              <a:t>CM freelance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000" y="4072738"/>
            <a:ext cx="30988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Généraliste et informel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8600" y="3943299"/>
            <a:ext cx="17780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50–150 k FCFA/mois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0400" y="4521200"/>
            <a:ext cx="5334000" cy="1498600"/>
          </a:xfrm>
          <a:prstGeom prst="roundRect">
            <a:avLst>
              <a:gd name="adj" fmla="val 847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9800" y="47325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NOTRE DIFFÉRENCIATION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800" y="4982464"/>
            <a:ext cx="4775200" cy="453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0" i="0">
                <a:solidFill>
                  <a:srgbClr val="FFFFFF"/>
                </a:solidFill>
                <a:latin typeface="Poppins"/>
              </a:rPr>
              <a:t>La seule offre qui combine double expertise agriculture + digital et</a:t>
            </a:r>
          </a:p>
          <a:p>
            <a:pPr algn="l">
              <a:lnSpc>
                <a:spcPts val="1575"/>
              </a:lnSpc>
            </a:pPr>
            <a:r>
              <a:rPr sz="1050" b="0" i="0">
                <a:solidFill>
                  <a:srgbClr val="FFFFFF"/>
                </a:solidFill>
                <a:latin typeface="Poppins"/>
              </a:rPr>
              <a:t>spécialisation exclusive sur les acteurs agroalimentaires sénégalais.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800" y="5672531"/>
            <a:ext cx="47752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1">
                <a:solidFill>
                  <a:srgbClr val="9FB8A2"/>
                </a:solidFill>
                <a:latin typeface="Poppins"/>
              </a:rPr>
              <a:t>Tarifs d'entrée compétitifs · structure agile · connaissance du terrain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23000" y="21082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223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00800" y="22931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AAB70"/>
                </a:solidFill>
                <a:latin typeface="Poppins"/>
              </a:rPr>
              <a:t>FORCES</a:t>
            </a:r>
          </a:p>
        </p:txBody>
      </p:sp>
      <p:sp>
        <p:nvSpPr>
          <p:cNvPr id="32" name="Oval 31"/>
          <p:cNvSpPr/>
          <p:nvPr/>
        </p:nvSpPr>
        <p:spPr>
          <a:xfrm>
            <a:off x="6431280" y="2650363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900" y="26249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Double expertise agri + digital</a:t>
            </a:r>
          </a:p>
        </p:txBody>
      </p:sp>
      <p:sp>
        <p:nvSpPr>
          <p:cNvPr id="34" name="Oval 33"/>
          <p:cNvSpPr/>
          <p:nvPr/>
        </p:nvSpPr>
        <p:spPr>
          <a:xfrm>
            <a:off x="6431280" y="287235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65900" y="28469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Agilité d'une structure légère</a:t>
            </a:r>
          </a:p>
        </p:txBody>
      </p:sp>
      <p:sp>
        <p:nvSpPr>
          <p:cNvPr id="36" name="Oval 35"/>
          <p:cNvSpPr/>
          <p:nvPr/>
        </p:nvSpPr>
        <p:spPr>
          <a:xfrm>
            <a:off x="6431280" y="309435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65900" y="30689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Tarifs compétitifs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21082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8915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93200" y="22931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C4453F"/>
                </a:solidFill>
                <a:latin typeface="Poppins"/>
              </a:rPr>
              <a:t>FAIBLESSES</a:t>
            </a:r>
          </a:p>
        </p:txBody>
      </p:sp>
      <p:sp>
        <p:nvSpPr>
          <p:cNvPr id="41" name="Oval 40"/>
          <p:cNvSpPr/>
          <p:nvPr/>
        </p:nvSpPr>
        <p:spPr>
          <a:xfrm>
            <a:off x="9123680" y="2650363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58300" y="26249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Notoriété à construire</a:t>
            </a:r>
          </a:p>
        </p:txBody>
      </p:sp>
      <p:sp>
        <p:nvSpPr>
          <p:cNvPr id="43" name="Oval 42"/>
          <p:cNvSpPr/>
          <p:nvPr/>
        </p:nvSpPr>
        <p:spPr>
          <a:xfrm>
            <a:off x="9123680" y="2872359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58300" y="28469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Portfolio grands comptes limité</a:t>
            </a:r>
          </a:p>
        </p:txBody>
      </p:sp>
      <p:sp>
        <p:nvSpPr>
          <p:cNvPr id="45" name="Oval 44"/>
          <p:cNvSpPr/>
          <p:nvPr/>
        </p:nvSpPr>
        <p:spPr>
          <a:xfrm>
            <a:off x="9123680" y="3094355"/>
            <a:ext cx="76200" cy="76200"/>
          </a:xfrm>
          <a:prstGeom prst="ellipse">
            <a:avLst/>
          </a:prstGeom>
          <a:solidFill>
            <a:srgbClr val="C44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58300" y="30689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Ressources de production réduites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23000" y="40894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223000" y="40894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00800" y="42743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F5E3A"/>
                </a:solidFill>
                <a:latin typeface="Poppins"/>
              </a:rPr>
              <a:t>OPPORTUNITÉS</a:t>
            </a:r>
          </a:p>
        </p:txBody>
      </p:sp>
      <p:sp>
        <p:nvSpPr>
          <p:cNvPr id="50" name="Oval 49"/>
          <p:cNvSpPr/>
          <p:nvPr/>
        </p:nvSpPr>
        <p:spPr>
          <a:xfrm>
            <a:off x="6431280" y="4631563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65900" y="46061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Dynamique « Consommer local »</a:t>
            </a:r>
          </a:p>
        </p:txBody>
      </p:sp>
      <p:sp>
        <p:nvSpPr>
          <p:cNvPr id="52" name="Oval 51"/>
          <p:cNvSpPr/>
          <p:nvPr/>
        </p:nvSpPr>
        <p:spPr>
          <a:xfrm>
            <a:off x="6431280" y="4853559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65900" y="48281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Digitalisation de l'agro</a:t>
            </a:r>
          </a:p>
        </p:txBody>
      </p:sp>
      <p:sp>
        <p:nvSpPr>
          <p:cNvPr id="54" name="Oval 53"/>
          <p:cNvSpPr/>
          <p:nvPr/>
        </p:nvSpPr>
        <p:spPr>
          <a:xfrm>
            <a:off x="6431280" y="507555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65900" y="50501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Niche encore inexploitée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15400" y="4089400"/>
            <a:ext cx="2489200" cy="1803400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8915400" y="40894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093200" y="4274312"/>
            <a:ext cx="2209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42612D"/>
                </a:solidFill>
                <a:latin typeface="Poppins"/>
              </a:rPr>
              <a:t>MENACES</a:t>
            </a:r>
          </a:p>
        </p:txBody>
      </p:sp>
      <p:sp>
        <p:nvSpPr>
          <p:cNvPr id="59" name="Oval 58"/>
          <p:cNvSpPr/>
          <p:nvPr/>
        </p:nvSpPr>
        <p:spPr>
          <a:xfrm>
            <a:off x="9123680" y="4631563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258300" y="4606138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Agences établies</a:t>
            </a:r>
          </a:p>
        </p:txBody>
      </p:sp>
      <p:sp>
        <p:nvSpPr>
          <p:cNvPr id="61" name="Oval 60"/>
          <p:cNvSpPr/>
          <p:nvPr/>
        </p:nvSpPr>
        <p:spPr>
          <a:xfrm>
            <a:off x="9123680" y="4853559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58300" y="4828134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Budgets PME limités</a:t>
            </a:r>
          </a:p>
        </p:txBody>
      </p:sp>
      <p:sp>
        <p:nvSpPr>
          <p:cNvPr id="63" name="Oval 62"/>
          <p:cNvSpPr/>
          <p:nvPr/>
        </p:nvSpPr>
        <p:spPr>
          <a:xfrm>
            <a:off x="9123680" y="507555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58300" y="5050130"/>
            <a:ext cx="20701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0A1A01"/>
                </a:solidFill>
                <a:latin typeface="Poppins"/>
              </a:rPr>
              <a:t>Contraintes de connectivité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déjà réalisé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marque complète, construite de A à Z : logo, charte, bannière et carte de visite.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205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LOGO</a:t>
            </a:r>
          </a:p>
        </p:txBody>
      </p:sp>
      <p:pic>
        <p:nvPicPr>
          <p:cNvPr id="15" name="Picture 14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641600"/>
            <a:ext cx="2489200" cy="1003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3742944"/>
            <a:ext cx="2895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Version horizontale couleur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72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2672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1200" y="23205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F5E3A"/>
                </a:solidFill>
                <a:latin typeface="Poppins"/>
              </a:rPr>
              <a:t>PALETTE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466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212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#1F5E3A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372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5118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#1AAB70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278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024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#42612D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466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212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#9FB8A2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72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0A1A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5118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#0A1A01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278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024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#FFFFFF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1200" y="3819144"/>
            <a:ext cx="2895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6 couleurs officielles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74000" y="2133600"/>
            <a:ext cx="3657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874000" y="21336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128000" y="23205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42612D"/>
                </a:solidFill>
                <a:latin typeface="Poppins"/>
              </a:rPr>
              <a:t>TYPOGRAPHIE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2546096"/>
            <a:ext cx="30988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60"/>
              </a:lnSpc>
            </a:pPr>
            <a:r>
              <a:rPr sz="2200" b="0" i="0">
                <a:solidFill>
                  <a:srgbClr val="1F5E3A"/>
                </a:solidFill>
                <a:latin typeface="Alfa Slab One"/>
              </a:rPr>
              <a:t>Sadiya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2981757"/>
            <a:ext cx="30988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Alfa Slab One — titres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3165856"/>
            <a:ext cx="3098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AAB70"/>
                </a:solidFill>
                <a:latin typeface="Poppins"/>
              </a:rPr>
              <a:t>Digital Agri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8000" y="3540557"/>
            <a:ext cx="30988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Poppins — sous-titres et textes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0" y="3793744"/>
            <a:ext cx="3098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Hiérarchie à 3 niveaux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0400" y="4267200"/>
            <a:ext cx="70104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660400" y="4267200"/>
            <a:ext cx="70104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14400" y="44541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BANNIÈRE RÉSEAUX SOCIAUX</a:t>
            </a:r>
          </a:p>
        </p:txBody>
      </p:sp>
      <p:pic>
        <p:nvPicPr>
          <p:cNvPr id="44" name="Picture 43" descr="bannie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" y="4724400"/>
            <a:ext cx="6451600" cy="10414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874000" y="4267200"/>
            <a:ext cx="36576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7874000" y="42672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28000" y="4454144"/>
            <a:ext cx="3225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F5E3A"/>
                </a:solidFill>
                <a:latin typeface="Poppins"/>
              </a:rPr>
              <a:t>CARTE DE VISITE</a:t>
            </a:r>
          </a:p>
        </p:txBody>
      </p:sp>
      <p:pic>
        <p:nvPicPr>
          <p:cNvPr id="48" name="Picture 47" descr="carte_vis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400" y="4749800"/>
            <a:ext cx="30988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Présence Digitale &amp; Outils Maîtrisés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canaux actifs, un site portfolio en ligne et une gestion de projet outillée.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655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CANAUX EN LIGNE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604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2590800"/>
            <a:ext cx="431800" cy="431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36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Site portfolio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nene-hsd.vercel.app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90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36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En ligne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036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4036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linked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2200" y="2590800"/>
            <a:ext cx="431800" cy="431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068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Page pro LinkedIn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68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/company/sadiyadigitalagri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322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6068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68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1468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facebo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5400" y="2590800"/>
            <a:ext cx="431800" cy="431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3500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Page Facebook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/sadiyadigitalagri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754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500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900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88900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p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8600" y="2590800"/>
            <a:ext cx="431800" cy="431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093200" y="3129280"/>
            <a:ext cx="2133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Meta Business Suite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3200" y="3337763"/>
            <a:ext cx="2184400" cy="164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99"/>
              </a:lnSpc>
            </a:pPr>
            <a:r>
              <a:rPr sz="740" b="0" i="0">
                <a:solidFill>
                  <a:srgbClr val="42612D"/>
                </a:solidFill>
                <a:latin typeface="Poppins"/>
              </a:rPr>
              <a:t>Page pub &amp; programmation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18600" y="3581400"/>
            <a:ext cx="736600" cy="190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93200" y="3606089"/>
            <a:ext cx="787400" cy="1424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58"/>
              </a:lnSpc>
            </a:pPr>
            <a:r>
              <a:rPr sz="660" b="1" i="0">
                <a:solidFill>
                  <a:srgbClr val="FFFFFF"/>
                </a:solidFill>
                <a:latin typeface="Poppins"/>
              </a:rPr>
              <a:t>Configurée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40477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42612D"/>
                </a:solidFill>
                <a:latin typeface="Poppins"/>
              </a:rPr>
              <a:t>AUSSI PRÉSENTE SUR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instagr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4700" y="4406900"/>
            <a:ext cx="203200" cy="203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16000" y="44307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Instagram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320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tikt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6300" y="4406900"/>
            <a:ext cx="203200" cy="2032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2387600" y="44307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TikTok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036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whatsap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900" y="4406900"/>
            <a:ext cx="203200" cy="2032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759200" y="4430776"/>
            <a:ext cx="838200" cy="266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WhatsApp</a:t>
            </a:r>
          </a:p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Business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752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emai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89500" y="4406900"/>
            <a:ext cx="203200" cy="2032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130800" y="44307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10"/>
              </a:lnSpc>
            </a:pPr>
            <a:r>
              <a:rPr sz="700" b="1" i="0">
                <a:solidFill>
                  <a:srgbClr val="1F5E3A"/>
                </a:solidFill>
                <a:latin typeface="Poppins"/>
              </a:rPr>
              <a:t>Email pro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000" y="49103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50">
                <a:solidFill>
                  <a:srgbClr val="1AAB70"/>
                </a:solidFill>
                <a:latin typeface="Poppins"/>
              </a:rPr>
              <a:t>OUTILS MAÎTRISÉS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04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canv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384800"/>
            <a:ext cx="381000" cy="381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700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Canva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700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4130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capcu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65400" y="5384800"/>
            <a:ext cx="381000" cy="3810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30226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CapCut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226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656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4" name="Picture 63" descr="trell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5384800"/>
            <a:ext cx="381000" cy="3810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752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Trello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752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Suivi de projet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9182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8" name="Picture 67" descr="chart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70600" y="5384800"/>
            <a:ext cx="381000" cy="381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6527800" y="5365699"/>
            <a:ext cx="939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1" i="0">
                <a:solidFill>
                  <a:srgbClr val="1F5E3A"/>
                </a:solidFill>
                <a:latin typeface="Poppins"/>
              </a:rPr>
              <a:t>Charte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27800" y="5561482"/>
            <a:ext cx="9906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Identité visuelle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74000" y="4064000"/>
            <a:ext cx="3657600" cy="1930400"/>
          </a:xfrm>
          <a:prstGeom prst="roundRect">
            <a:avLst>
              <a:gd name="adj" fmla="val 657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2" name="Picture 71" descr="trell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53400" y="4292600"/>
            <a:ext cx="381000" cy="381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8636000" y="43017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SUIVI DE PROJET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36000" y="4441952"/>
            <a:ext cx="2590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 i="0">
                <a:solidFill>
                  <a:srgbClr val="FFFFFF"/>
                </a:solidFill>
                <a:latin typeface="Alfa Slab One"/>
              </a:rPr>
              <a:t>Trello</a:t>
            </a:r>
          </a:p>
        </p:txBody>
      </p:sp>
      <p:sp>
        <p:nvSpPr>
          <p:cNvPr id="75" name="Oval 74"/>
          <p:cNvSpPr/>
          <p:nvPr/>
        </p:nvSpPr>
        <p:spPr>
          <a:xfrm>
            <a:off x="8158480" y="4885563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3100" y="4860138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Un tableau par client</a:t>
            </a:r>
          </a:p>
        </p:txBody>
      </p:sp>
      <p:sp>
        <p:nvSpPr>
          <p:cNvPr id="77" name="Oval 76"/>
          <p:cNvSpPr/>
          <p:nvPr/>
        </p:nvSpPr>
        <p:spPr>
          <a:xfrm>
            <a:off x="8158480" y="5107559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3100" y="5082134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Calendrier éditorial partagé</a:t>
            </a:r>
          </a:p>
        </p:txBody>
      </p:sp>
      <p:sp>
        <p:nvSpPr>
          <p:cNvPr id="79" name="Oval 78"/>
          <p:cNvSpPr/>
          <p:nvPr/>
        </p:nvSpPr>
        <p:spPr>
          <a:xfrm>
            <a:off x="8158480" y="532955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3100" y="5304130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Validation des contenus en ligne</a:t>
            </a:r>
          </a:p>
        </p:txBody>
      </p:sp>
      <p:sp>
        <p:nvSpPr>
          <p:cNvPr id="81" name="Oval 80"/>
          <p:cNvSpPr/>
          <p:nvPr/>
        </p:nvSpPr>
        <p:spPr>
          <a:xfrm>
            <a:off x="8158480" y="5551551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3100" y="5526126"/>
            <a:ext cx="3060700" cy="1874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7"/>
              </a:lnSpc>
            </a:pPr>
            <a:r>
              <a:rPr sz="819" b="0" i="0">
                <a:solidFill>
                  <a:srgbClr val="FFFFFF"/>
                </a:solidFill>
                <a:latin typeface="Poppins"/>
              </a:rPr>
              <a:t>Suivi des KPI et des livrables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Étapes Franchies &amp; Ambitions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j'ai déjà accompli — et où je veux aller.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082800"/>
            <a:ext cx="5334000" cy="381000"/>
          </a:xfrm>
          <a:prstGeom prst="roundRect">
            <a:avLst>
              <a:gd name="adj" fmla="val 2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9000" y="2177796"/>
            <a:ext cx="487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20">
                <a:solidFill>
                  <a:srgbClr val="1AAB70"/>
                </a:solidFill>
                <a:latin typeface="Poppins"/>
              </a:rPr>
              <a:t>CE QUE J'AI DÉJÀ ACCOMPLI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400" y="25654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89000" y="27559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47420" y="2872740"/>
            <a:ext cx="38100" cy="4064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85520" y="2829560"/>
            <a:ext cx="73660" cy="8382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44600" y="26720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Formalisation de l'entreprise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4600" y="2891638"/>
            <a:ext cx="4572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NINEA + Registre de commerce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32766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89000" y="34671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947420" y="3583940"/>
            <a:ext cx="38100" cy="4064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85520" y="3540760"/>
            <a:ext cx="73660" cy="8382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244600" y="33832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Identité visuelle complète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4600" y="3602838"/>
            <a:ext cx="4572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Logo, charte, bannière, carte de visite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39878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89000" y="41783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947420" y="4295140"/>
            <a:ext cx="38100" cy="4064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85520" y="4251960"/>
            <a:ext cx="73660" cy="8382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244600" y="40944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Présence digitale opérationnelle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4600" y="4314038"/>
            <a:ext cx="4572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Site portfolio + pages LinkedIn et Facebook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0400" y="46990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89000" y="48895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947420" y="5006340"/>
            <a:ext cx="38100" cy="4064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85520" y="4963160"/>
            <a:ext cx="73660" cy="8382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244600" y="48056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Formation Community Management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4600" y="5025238"/>
            <a:ext cx="4572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7 semaines — Design &amp; CM, Simplon Sénégal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54102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889000" y="5600700"/>
            <a:ext cx="228600" cy="228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47420" y="5717540"/>
            <a:ext cx="38100" cy="4064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85520" y="5674360"/>
            <a:ext cx="73660" cy="83820"/>
          </a:xfrm>
          <a:prstGeom prst="line">
            <a:avLst/>
          </a:prstGeom>
          <a:ln w="215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244600" y="55168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Formation en agriculture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44600" y="5736438"/>
            <a:ext cx="45720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66"/>
              </a:lnSpc>
            </a:pPr>
            <a:r>
              <a:rPr sz="819" b="0" i="0">
                <a:solidFill>
                  <a:srgbClr val="42612D"/>
                </a:solidFill>
                <a:latin typeface="Poppins"/>
              </a:rPr>
              <a:t>Licence en Agronomie — UCAD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7600" y="2082800"/>
            <a:ext cx="5334000" cy="381000"/>
          </a:xfrm>
          <a:prstGeom prst="roundRect">
            <a:avLst>
              <a:gd name="adj" fmla="val 2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26200" y="2177796"/>
            <a:ext cx="4876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20">
                <a:solidFill>
                  <a:srgbClr val="FFFFFF"/>
                </a:solidFill>
                <a:latin typeface="Poppins"/>
              </a:rPr>
              <a:t>MES OBJECTIFS (6–12 MOIS)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97600" y="25654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6197600" y="25654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6451600" y="2743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26200" y="2785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32600" y="27609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Acquérir mes premiers clients agro-industriels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97600" y="32766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6197600" y="32766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6451600" y="34544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26200" y="34971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32600" y="34721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Développer un portefeuille de clients réguliers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97600" y="39878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6197600" y="39878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6451600" y="41656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26200" y="42083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32600" y="41833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Renforcer mon expertise en publicité en ligne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97600" y="46990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>
            <a:off x="6197600" y="46990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6451600" y="48768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26200" y="49195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32600" y="48945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Structurer une offre de production vidéo terrain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7600" y="5410200"/>
            <a:ext cx="53340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6197600" y="54102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6451600" y="5588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26200" y="5630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32600" y="5605780"/>
            <a:ext cx="457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Faire de Sadiya Digital Agri une agence reconnue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10871200" y="711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71200" y="850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71200" y="990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71200" y="11303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71200" y="1270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871200" y="1409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871200" y="1549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10900" y="711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10900" y="850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010900" y="990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10900" y="11303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10900" y="1270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10900" y="1409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10900" y="1549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0600" y="711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50600" y="850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150600" y="990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150600" y="11303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50600" y="1270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150600" y="1409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150600" y="1549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290300" y="711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290300" y="850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90300" y="990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290300" y="11303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290300" y="1270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290300" y="1409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290300" y="1549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430000" y="711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430000" y="850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430000" y="990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430000" y="11303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430000" y="1270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430000" y="1409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430000" y="1549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569700" y="711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569700" y="850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569700" y="990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569700" y="11303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569700" y="1270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569700" y="1409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69700" y="1549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709400" y="711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709400" y="850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709400" y="990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709400" y="11303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709400" y="1270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709400" y="1409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709400" y="1549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849100" y="711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849100" y="850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849100" y="990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49100" y="11303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849100" y="1270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849100" y="1409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849100" y="1549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0" y="5969000"/>
            <a:ext cx="2540000" cy="889000"/>
          </a:xfrm>
          <a:custGeom>
            <a:avLst/>
            <a:gdLst/>
            <a:ahLst/>
            <a:cxnLst/>
            <a:rect l="l" t="t" r="r" b="b"/>
            <a:pathLst>
              <a:path w="2540000" h="889000">
                <a:moveTo>
                  <a:pt x="0" y="0"/>
                </a:moveTo>
                <a:lnTo>
                  <a:pt x="2540000" y="0"/>
                </a:lnTo>
                <a:lnTo>
                  <a:pt x="1778000" y="889000"/>
                </a:lnTo>
                <a:lnTo>
                  <a:pt x="0" y="889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0400" y="5588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74700" y="541528"/>
            <a:ext cx="513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CE DONT J'AI BESOIN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000" y="718312"/>
            <a:ext cx="7670800" cy="7340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20"/>
              </a:lnSpc>
            </a:pPr>
            <a:r>
              <a:rPr sz="3400" b="0" i="0">
                <a:solidFill>
                  <a:srgbClr val="FFFFFF"/>
                </a:solidFill>
                <a:latin typeface="Alfa Slab One"/>
              </a:rPr>
              <a:t>Appel à l'Action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5000" y="1448816"/>
            <a:ext cx="792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0" i="0">
                <a:solidFill>
                  <a:srgbClr val="9FB8A2"/>
                </a:solidFill>
                <a:latin typeface="Poppins"/>
              </a:rPr>
              <a:t>De quoi ai-je besoin pour faire grandir Sadiya Digital Agri ?</a:t>
            </a:r>
          </a:p>
        </p:txBody>
      </p:sp>
      <p:pic>
        <p:nvPicPr>
          <p:cNvPr id="65" name="Picture 64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000" y="508000"/>
            <a:ext cx="1168400" cy="355600"/>
          </a:xfrm>
          <a:prstGeom prst="rect">
            <a:avLst/>
          </a:prstGeom>
        </p:spPr>
      </p:pic>
      <p:sp>
        <p:nvSpPr>
          <p:cNvPr id="66" name="Rounded Rectangle 65"/>
          <p:cNvSpPr/>
          <p:nvPr/>
        </p:nvSpPr>
        <p:spPr>
          <a:xfrm>
            <a:off x="660400" y="1930400"/>
            <a:ext cx="3403600" cy="1676400"/>
          </a:xfrm>
          <a:prstGeom prst="roundRect">
            <a:avLst>
              <a:gd name="adj" fmla="val 7575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14400" y="2168144"/>
            <a:ext cx="2971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FFFFFF"/>
                </a:solidFill>
                <a:latin typeface="Poppins"/>
              </a:rPr>
              <a:t>FINANCEMENT DEMANDÉ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4400" y="2398776"/>
            <a:ext cx="2971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1 850 000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2974848"/>
            <a:ext cx="2971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FCFA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39800" y="3276600"/>
            <a:ext cx="2844800" cy="0"/>
          </a:xfrm>
          <a:prstGeom prst="line">
            <a:avLst/>
          </a:prstGeom>
          <a:ln w="1016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14400" y="3337357"/>
            <a:ext cx="29972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FFFFFF"/>
                </a:solidFill>
                <a:latin typeface="Poppins"/>
              </a:rPr>
              <a:t>Soit environ 2 820 € — décaissement sur 12 mois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43400" y="1990344"/>
            <a:ext cx="513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RÉPARTITION DU FINANCEMENT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43400" y="2267712"/>
            <a:ext cx="322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FFFFFF"/>
                </a:solidFill>
                <a:latin typeface="Poppins"/>
              </a:rPr>
              <a:t>Équipements de production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569200" y="2311400"/>
            <a:ext cx="2540000" cy="114300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7569200" y="2311400"/>
            <a:ext cx="2540000" cy="114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0236200" y="22677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1 020 000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43400" y="2610612"/>
            <a:ext cx="322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FFFFFF"/>
                </a:solidFill>
                <a:latin typeface="Poppins"/>
              </a:rPr>
              <a:t>Abonnements &amp; outils (12 mois)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569200" y="2654300"/>
            <a:ext cx="2540000" cy="114300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7569200" y="2654300"/>
            <a:ext cx="762000" cy="114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10236200" y="26106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305 000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43400" y="2953512"/>
            <a:ext cx="322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FFFFFF"/>
                </a:solidFill>
                <a:latin typeface="Poppins"/>
              </a:rPr>
              <a:t>Formations professionnelles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69200" y="2997200"/>
            <a:ext cx="2540000" cy="114300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7569200" y="2997200"/>
            <a:ext cx="685800" cy="114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0236200" y="29535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275 000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343400" y="3296412"/>
            <a:ext cx="322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FFFFFF"/>
                </a:solidFill>
                <a:latin typeface="Poppins"/>
              </a:rPr>
              <a:t>Site vitrine professionnel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569200" y="3340100"/>
            <a:ext cx="2540000" cy="114300"/>
          </a:xfrm>
          <a:prstGeom prst="roundRect">
            <a:avLst>
              <a:gd name="adj" fmla="val 50000"/>
            </a:avLst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Rounded Rectangle 86"/>
          <p:cNvSpPr/>
          <p:nvPr/>
        </p:nvSpPr>
        <p:spPr>
          <a:xfrm>
            <a:off x="7569200" y="3340100"/>
            <a:ext cx="635000" cy="114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10236200" y="32964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250 000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4368800" y="3708400"/>
            <a:ext cx="71628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4343400" y="37652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TOTAL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66200" y="37652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1 850 000 FCFA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5000" y="4174744"/>
            <a:ext cx="513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50">
                <a:solidFill>
                  <a:srgbClr val="1AAB70"/>
                </a:solidFill>
                <a:latin typeface="Poppins"/>
              </a:rPr>
              <a:t>AU-DELÀ DU FINANCEMENT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60400" y="4470400"/>
            <a:ext cx="3403600" cy="1066800"/>
          </a:xfrm>
          <a:prstGeom prst="roundRect">
            <a:avLst>
              <a:gd name="adj" fmla="val 10714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ounded Rectangle 93"/>
          <p:cNvSpPr/>
          <p:nvPr/>
        </p:nvSpPr>
        <p:spPr>
          <a:xfrm>
            <a:off x="660400" y="4470400"/>
            <a:ext cx="50800" cy="1066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914400" y="4621784"/>
            <a:ext cx="2844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Accompagnement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4400" y="4935931"/>
            <a:ext cx="2946400" cy="3520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9FB8A2"/>
                </a:solidFill>
                <a:latin typeface="Poppins"/>
              </a:rPr>
              <a:t>Mentorat business : structuration</a:t>
            </a:r>
          </a:p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9FB8A2"/>
                </a:solidFill>
                <a:latin typeface="Poppins"/>
              </a:rPr>
              <a:t>de l'offre, pricing et gestion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318000" y="4470400"/>
            <a:ext cx="3403600" cy="1066800"/>
          </a:xfrm>
          <a:prstGeom prst="roundRect">
            <a:avLst>
              <a:gd name="adj" fmla="val 10714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ounded Rectangle 97"/>
          <p:cNvSpPr/>
          <p:nvPr/>
        </p:nvSpPr>
        <p:spPr>
          <a:xfrm>
            <a:off x="4318000" y="4470400"/>
            <a:ext cx="50800" cy="1066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4572000" y="4621784"/>
            <a:ext cx="2844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Partenariat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72000" y="4935931"/>
            <a:ext cx="2946400" cy="3520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9FB8A2"/>
                </a:solidFill>
                <a:latin typeface="Poppins"/>
              </a:rPr>
              <a:t>Accès aux réseaux et fédérations</a:t>
            </a:r>
          </a:p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9FB8A2"/>
                </a:solidFill>
                <a:latin typeface="Poppins"/>
              </a:rPr>
              <a:t>agro-industriels du Sénégal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975600" y="4470400"/>
            <a:ext cx="3403600" cy="1066800"/>
          </a:xfrm>
          <a:prstGeom prst="roundRect">
            <a:avLst>
              <a:gd name="adj" fmla="val 10714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ounded Rectangle 101"/>
          <p:cNvSpPr/>
          <p:nvPr/>
        </p:nvSpPr>
        <p:spPr>
          <a:xfrm>
            <a:off x="7975600" y="4470400"/>
            <a:ext cx="50800" cy="1066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8229600" y="4621784"/>
            <a:ext cx="2844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Visibilité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29600" y="4935931"/>
            <a:ext cx="2946400" cy="3520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9FB8A2"/>
                </a:solidFill>
                <a:latin typeface="Poppins"/>
              </a:rPr>
              <a:t>Références, recommandations</a:t>
            </a:r>
          </a:p>
          <a:p>
            <a:pPr algn="l">
              <a:lnSpc>
                <a:spcPts val="1218"/>
              </a:lnSpc>
            </a:pPr>
            <a:r>
              <a:rPr sz="840" b="0" i="0">
                <a:solidFill>
                  <a:srgbClr val="9FB8A2"/>
                </a:solidFill>
                <a:latin typeface="Poppins"/>
              </a:rPr>
              <a:t>et premiers clients pilotes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5000" y="57647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0" i="0">
                <a:solidFill>
                  <a:srgbClr val="1AAB70"/>
                </a:solidFill>
                <a:latin typeface="Alfa Slab One"/>
              </a:rPr>
              <a:t>« Avec votre soutien, mon activité peut créer plus d'impact et d'opportunités. »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7" name="Picture 106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APPEL À L'ACTION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Quoi Servira le Financement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Chaque poste est directement lié à la production de contenu et à l'acquisition client.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082800"/>
            <a:ext cx="5334000" cy="226060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0828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697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ÉQUIPEMENTS DE 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8600" y="2253996"/>
            <a:ext cx="1701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1 020 000 FCFA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800" y="26416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92200" y="2547925"/>
            <a:ext cx="2717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0A1A01"/>
                </a:solidFill>
                <a:latin typeface="Poppins"/>
              </a:rPr>
              <a:t>Ordinateur portable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2200" y="26912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Montage vidéo, design et reporting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9000" y="25864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450 000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9800" y="29337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92200" y="2840025"/>
            <a:ext cx="2717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0A1A01"/>
                </a:solidFill>
                <a:latin typeface="Poppins"/>
              </a:rPr>
              <a:t>Smartphone photo/vidéo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200" y="29833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Captation terrain chez les producteurs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9000" y="28785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350 000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9800" y="32258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92200" y="3132125"/>
            <a:ext cx="2717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0A1A01"/>
                </a:solidFill>
                <a:latin typeface="Poppins"/>
              </a:rPr>
              <a:t>Trépied + stabilisateur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2200" y="32754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Vidéos stables en extérieur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9000" y="31706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60 000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9800" y="35179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92200" y="3424225"/>
            <a:ext cx="2717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0A1A01"/>
                </a:solidFill>
                <a:latin typeface="Poppins"/>
              </a:rPr>
              <a:t>Disque dur externe 1 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2200" y="35675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Archivage des contenus clients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9000" y="34627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60 000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9800" y="38100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92200" y="3716325"/>
            <a:ext cx="2717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0A1A01"/>
                </a:solidFill>
                <a:latin typeface="Poppins"/>
              </a:rPr>
              <a:t>Kit éclairage LED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2200" y="38596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Photo produit et interviews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99000" y="37548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55 000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9800" y="41021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92200" y="4008425"/>
            <a:ext cx="2717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>
                <a:solidFill>
                  <a:srgbClr val="0A1A01"/>
                </a:solidFill>
                <a:latin typeface="Poppins"/>
              </a:rPr>
              <a:t>Micro-cravate sans fil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200" y="41517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Témoignages et interviews terrain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99000" y="40469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45 000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97600" y="2082800"/>
            <a:ext cx="5334000" cy="2260600"/>
          </a:xfrm>
          <a:prstGeom prst="roundRect">
            <a:avLst>
              <a:gd name="adj" fmla="val 505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6197600" y="20828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51600" y="2269744"/>
            <a:ext cx="4114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F5E3A"/>
                </a:solidFill>
                <a:latin typeface="Poppins"/>
              </a:rPr>
              <a:t>ABONNEMENTS &amp; OUTILS — 12 MOIS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75800" y="2253996"/>
            <a:ext cx="1701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305 000 FCFA</a:t>
            </a:r>
          </a:p>
        </p:txBody>
      </p:sp>
      <p:pic>
        <p:nvPicPr>
          <p:cNvPr id="44" name="Picture 43" descr="pu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2590800"/>
            <a:ext cx="279400" cy="2794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858000" y="2572918"/>
            <a:ext cx="2844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Meta Business — budget publicitaire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7293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Campagnes de test et acquisition B2B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36200" y="26245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150 000</a:t>
            </a:r>
          </a:p>
        </p:txBody>
      </p:sp>
      <p:pic>
        <p:nvPicPr>
          <p:cNvPr id="48" name="Picture 47" descr="s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000" y="3022600"/>
            <a:ext cx="279400" cy="2794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858000" y="3004718"/>
            <a:ext cx="2844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Hébergement + nom de domaine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31611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Mise en ligne du site vitrine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36200" y="30563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60 000</a:t>
            </a:r>
          </a:p>
        </p:txBody>
      </p:sp>
      <p:pic>
        <p:nvPicPr>
          <p:cNvPr id="52" name="Picture 51" descr="canv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3454400"/>
            <a:ext cx="279400" cy="2794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858000" y="3436518"/>
            <a:ext cx="2844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Canva Pro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35929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Marque, gabarits et exports HD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6200" y="34881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55 000</a:t>
            </a:r>
          </a:p>
        </p:txBody>
      </p:sp>
      <p:pic>
        <p:nvPicPr>
          <p:cNvPr id="56" name="Picture 55" descr="capc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3886200"/>
            <a:ext cx="279400" cy="2794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858000" y="3868318"/>
            <a:ext cx="2844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CapCut Pro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0" y="4024782"/>
            <a:ext cx="3098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Montage sans filigrane, sous-titres auto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36200" y="39199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40 000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0400" y="4546600"/>
            <a:ext cx="53340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660400" y="4546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14400" y="4733544"/>
            <a:ext cx="386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42612D"/>
                </a:solidFill>
                <a:latin typeface="Poppins"/>
              </a:rPr>
              <a:t>FORMATIONS PROFESSIONNELLES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38600" y="4717796"/>
            <a:ext cx="1701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275 000 FCFA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9800" y="51054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092200" y="5011318"/>
            <a:ext cx="2717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Analytics &amp; data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2200" y="5167782"/>
            <a:ext cx="3225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Mesurer la performance, prouver le ROI client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99000" y="50629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100 000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39800" y="54356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92200" y="5341518"/>
            <a:ext cx="2717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Marketing B2B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2200" y="5497982"/>
            <a:ext cx="3225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Vendre à des dirigeants d'entreprise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99000" y="53931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100 000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39800" y="5765800"/>
            <a:ext cx="63500" cy="635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092200" y="5671718"/>
            <a:ext cx="2717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44"/>
              </a:lnSpc>
            </a:pPr>
            <a:r>
              <a:rPr sz="880" b="1" i="0">
                <a:solidFill>
                  <a:srgbClr val="0A1A01"/>
                </a:solidFill>
                <a:latin typeface="Poppins"/>
              </a:rPr>
              <a:t>Acquisition client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2200" y="5828182"/>
            <a:ext cx="3225800" cy="146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84"/>
              </a:lnSpc>
            </a:pPr>
            <a:r>
              <a:rPr sz="680" b="0" i="0">
                <a:solidFill>
                  <a:srgbClr val="42612D"/>
                </a:solidFill>
                <a:latin typeface="Poppins"/>
              </a:rPr>
              <a:t>Prospection structurée et closing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699000" y="5723331"/>
            <a:ext cx="1041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840" b="1" i="0">
                <a:solidFill>
                  <a:srgbClr val="1F5E3A"/>
                </a:solidFill>
                <a:latin typeface="Poppins"/>
              </a:rPr>
              <a:t>75 000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97600" y="4546600"/>
            <a:ext cx="5334000" cy="1524000"/>
          </a:xfrm>
          <a:prstGeom prst="roundRect">
            <a:avLst>
              <a:gd name="adj" fmla="val 7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7" name="Picture 76" descr="s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000" y="4775200"/>
            <a:ext cx="330200" cy="33020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6908800" y="4784344"/>
            <a:ext cx="3352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SITE VITRINE PROFESSIONNEL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75800" y="4768596"/>
            <a:ext cx="1701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35"/>
              </a:lnSpc>
            </a:pPr>
            <a:r>
              <a:rPr sz="950" b="1" i="0">
                <a:solidFill>
                  <a:srgbClr val="FFFFFF"/>
                </a:solidFill>
                <a:latin typeface="Poppins"/>
              </a:rPr>
              <a:t>250 000 FCFA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51600" y="5164531"/>
            <a:ext cx="4826000" cy="362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840" b="0" i="0">
                <a:solidFill>
                  <a:srgbClr val="9FB8A2"/>
                </a:solidFill>
                <a:latin typeface="Poppins"/>
              </a:rPr>
              <a:t>Une vitrine qui présente les offres, les réalisations et les études de cas, avec formulaire de</a:t>
            </a:r>
          </a:p>
          <a:p>
            <a:pPr algn="l">
              <a:lnSpc>
                <a:spcPts val="1260"/>
              </a:lnSpc>
            </a:pPr>
            <a:r>
              <a:rPr sz="840" b="0" i="0">
                <a:solidFill>
                  <a:srgbClr val="9FB8A2"/>
                </a:solidFill>
                <a:latin typeface="Poppins"/>
              </a:rPr>
              <a:t>devis — pour convertir la visibilité en demandes entrantes.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477000" y="5689600"/>
            <a:ext cx="1473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6451600" y="5726176"/>
            <a:ext cx="1524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Offres &amp; tarifs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077200" y="5689600"/>
            <a:ext cx="1473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8051800" y="5726176"/>
            <a:ext cx="1524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Portfolio clients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677400" y="5689600"/>
            <a:ext cx="1473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9652000" y="5726176"/>
            <a:ext cx="15240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Formulaire de devis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60400" y="6197600"/>
            <a:ext cx="5080000" cy="304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35000" y="6267196"/>
            <a:ext cx="513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235"/>
              </a:lnSpc>
            </a:pPr>
            <a:r>
              <a:rPr sz="950" b="1" i="0" spc="60">
                <a:solidFill>
                  <a:srgbClr val="FFFFFF"/>
                </a:solidFill>
                <a:latin typeface="Poppins"/>
              </a:rPr>
              <a:t>TOTAL DEMANDÉ : 1 850 000 FCFA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91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4191000"/>
            <a:ext cx="3302000" cy="1143000"/>
          </a:xfrm>
          <a:custGeom>
            <a:avLst/>
            <a:gdLst/>
            <a:ahLst/>
            <a:cxnLst/>
            <a:rect l="l" t="t" r="r" b="b"/>
            <a:pathLst>
              <a:path w="3302000" h="1143000">
                <a:moveTo>
                  <a:pt x="0" y="0"/>
                </a:moveTo>
                <a:lnTo>
                  <a:pt x="3302000" y="0"/>
                </a:lnTo>
                <a:lnTo>
                  <a:pt x="3302000" y="1143000"/>
                </a:lnTo>
                <a:lnTo>
                  <a:pt x="1270000" y="1143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1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1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1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1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1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1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1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10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0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0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0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0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0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0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07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0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0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0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0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0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0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4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0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0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0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0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0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0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01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98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8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98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98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98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98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8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98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98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5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95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795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95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95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95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95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95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795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762000"/>
            <a:ext cx="1930400" cy="5969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35000" y="1550416"/>
            <a:ext cx="10922000" cy="133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0"/>
              </a:lnSpc>
            </a:pPr>
            <a:r>
              <a:rPr sz="6200" b="0" i="0">
                <a:solidFill>
                  <a:srgbClr val="FFFFFF"/>
                </a:solidFill>
                <a:latin typeface="Alfa Slab One"/>
              </a:rPr>
              <a:t>Merci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28356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 spc="140">
                <a:solidFill>
                  <a:srgbClr val="1AAB70"/>
                </a:solidFill>
                <a:latin typeface="Poppins"/>
              </a:rPr>
              <a:t>pour votre attention !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40000" y="3708400"/>
            <a:ext cx="71120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514600" y="3951224"/>
            <a:ext cx="7162800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sz="1800" b="0" i="0">
                <a:solidFill>
                  <a:srgbClr val="1F5E3A"/>
                </a:solidFill>
                <a:latin typeface="Alfa Slab One"/>
              </a:rPr>
              <a:t>Nene Halimatou Sahdiya Diallo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4600" y="4373880"/>
            <a:ext cx="7162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Fondatrice &amp; CEO — Sadiya Digital Agri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80000" y="4724400"/>
            <a:ext cx="20320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514600" y="4883506"/>
            <a:ext cx="7162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Dakar, Sénégal   ·   Communication digitale &amp; agro-industrie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87600" y="5569712"/>
            <a:ext cx="741680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Sadiya Digital Agri accompagne les entreprises agroalimentaires sénégalaises pour mieux communiquer, valoriser leurs</a:t>
            </a:r>
          </a:p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produits et développer leur visibilité grâce au digital.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69" name="Picture 68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