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image" Target="../media/image19.png"/><Relationship Id="rId15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33172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778000" y="1625600"/>
            <a:ext cx="8636000" cy="4648200"/>
          </a:xfrm>
          <a:prstGeom prst="roundRect">
            <a:avLst>
              <a:gd name="adj" fmla="val 491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203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3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03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3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3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3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3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3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3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3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3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3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0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0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0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30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0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30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0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0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30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0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30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7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57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57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7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4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84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84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84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84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84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84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84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11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1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11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11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11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1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11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11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11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11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11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8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8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38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38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38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38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38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38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38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38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8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38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65200" y="317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65200" y="330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65200" y="3429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65200" y="3556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65200" y="3683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65200" y="3810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965200" y="3937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965200" y="4064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65200" y="4191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65200" y="4318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65200" y="4445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65200" y="4572000"/>
            <a:ext cx="48260" cy="4826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76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1176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1176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176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176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1176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1176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176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176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1176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303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03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1303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303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303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303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1303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303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1303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1303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1430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430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1430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430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430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1430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430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430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1430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1430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1557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557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557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557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557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1557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1557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1557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557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1557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684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1684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1684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684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84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1684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684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1684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1684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684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1811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1811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811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811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811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1811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1811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1811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1811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1811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938000" y="1625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1938000" y="1752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1938000" y="1879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1938000" y="2006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1938000" y="2133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1938000" y="2260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938000" y="2387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938000" y="2514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938000" y="2641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938000" y="2768600"/>
            <a:ext cx="48260" cy="4826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0414000" y="5080000"/>
            <a:ext cx="1778000" cy="1193800"/>
          </a:xfrm>
          <a:custGeom>
            <a:avLst/>
            <a:gdLst/>
            <a:ahLst/>
            <a:cxnLst/>
            <a:rect l="l" t="t" r="r" b="b"/>
            <a:pathLst>
              <a:path w="1778000" h="1193800">
                <a:moveTo>
                  <a:pt x="0" y="0"/>
                </a:moveTo>
                <a:lnTo>
                  <a:pt x="1778000" y="0"/>
                </a:lnTo>
                <a:lnTo>
                  <a:pt x="1778000" y="1193800"/>
                </a:lnTo>
                <a:lnTo>
                  <a:pt x="508000" y="11938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0" name="Picture 159" descr="logo_fabr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" y="330200"/>
            <a:ext cx="1498600" cy="1003300"/>
          </a:xfrm>
          <a:prstGeom prst="rect">
            <a:avLst/>
          </a:prstGeom>
        </p:spPr>
      </p:pic>
      <p:pic>
        <p:nvPicPr>
          <p:cNvPr id="161" name="Picture 160" descr="logo_simpl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0" y="381000"/>
            <a:ext cx="1625600" cy="825500"/>
          </a:xfrm>
          <a:prstGeom prst="rect">
            <a:avLst/>
          </a:prstGeom>
        </p:spPr>
      </p:pic>
      <p:pic>
        <p:nvPicPr>
          <p:cNvPr id="162" name="Picture 161" descr="hero_te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8400" y="279400"/>
            <a:ext cx="4775200" cy="2374900"/>
          </a:xfrm>
          <a:prstGeom prst="rect">
            <a:avLst/>
          </a:prstGeom>
        </p:spPr>
      </p:pic>
      <p:sp>
        <p:nvSpPr>
          <p:cNvPr id="163" name="TextBox 162"/>
          <p:cNvSpPr txBox="1"/>
          <p:nvPr/>
        </p:nvSpPr>
        <p:spPr>
          <a:xfrm>
            <a:off x="2387600" y="2887472"/>
            <a:ext cx="7416800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sz="2900" b="0" i="0" spc="80">
                <a:solidFill>
                  <a:srgbClr val="FFFFFF"/>
                </a:solidFill>
                <a:latin typeface="Alfa Slab One"/>
              </a:rPr>
              <a:t>SADIYA DIGITAL AGRI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29464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067800" y="3530600"/>
            <a:ext cx="812800" cy="0"/>
          </a:xfrm>
          <a:prstGeom prst="line">
            <a:avLst/>
          </a:prstGeom>
          <a:ln w="2032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2387600" y="3416300"/>
            <a:ext cx="7416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 spc="140">
                <a:solidFill>
                  <a:srgbClr val="1AAB70"/>
                </a:solidFill>
                <a:latin typeface="Poppins"/>
              </a:rPr>
              <a:t>DESIGN &amp; COMMUNITY MANAGEMENT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895600" y="3763264"/>
            <a:ext cx="6400800" cy="426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Votre partenaire en production agricole</a:t>
            </a:r>
          </a:p>
          <a:p>
            <a:pPr algn="ctr">
              <a:lnSpc>
                <a:spcPts val="1470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et communication digitale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810000" y="4368800"/>
            <a:ext cx="4572000" cy="0"/>
          </a:xfrm>
          <a:prstGeom prst="line">
            <a:avLst/>
          </a:prstGeom>
          <a:ln w="889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2387600" y="4492752"/>
            <a:ext cx="7416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820"/>
              </a:lnSpc>
            </a:pPr>
            <a:r>
              <a:rPr sz="1400" b="1" i="0" spc="320">
                <a:solidFill>
                  <a:srgbClr val="FFFFFF"/>
                </a:solidFill>
                <a:latin typeface="Poppins"/>
              </a:rPr>
              <a:t>SIMPLON SÉNÉGAL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87600" y="4833518"/>
            <a:ext cx="7416800" cy="1899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44"/>
              </a:lnSpc>
            </a:pPr>
            <a:r>
              <a:rPr sz="880" b="1" i="0" spc="240">
                <a:solidFill>
                  <a:srgbClr val="1AAB70"/>
                </a:solidFill>
                <a:latin typeface="Poppins"/>
              </a:rPr>
              <a:t>PROGRAMME DE PRÉ-INCUBATION 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387600" y="5087112"/>
            <a:ext cx="741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1">
                <a:solidFill>
                  <a:srgbClr val="9FB8A2"/>
                </a:solidFill>
                <a:latin typeface="Poppins"/>
              </a:rPr>
              <a:t>Juillet – Septembre 2026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921000" y="5410200"/>
            <a:ext cx="6350000" cy="406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TextBox 172"/>
          <p:cNvSpPr txBox="1"/>
          <p:nvPr/>
        </p:nvSpPr>
        <p:spPr>
          <a:xfrm>
            <a:off x="2895600" y="5513832"/>
            <a:ext cx="640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Présentatrice : Nene Halimatou Sahdiya Diallo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2895600" y="59009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0" i="0">
                <a:solidFill>
                  <a:srgbClr val="9FB8A2"/>
                </a:solidFill>
                <a:latin typeface="Poppins"/>
              </a:rPr>
              <a:t>Fondatrice &amp; CEO — Sadiya Digital Agri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POINT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Contexte &amp; 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secteur qui produit beaucoup, mais qui se vend mal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113280"/>
            <a:ext cx="640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LE CONTEXTE — UN MARCHÉ PORTEUR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604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44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AAB70"/>
                </a:solidFill>
                <a:latin typeface="Alfa Slab One"/>
              </a:rPr>
              <a:t>11,5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utilisateurs internet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60,6 % de pénétration, fin 2025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5720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1F5E3A"/>
                </a:solidFill>
                <a:latin typeface="Alfa Slab One"/>
              </a:rPr>
              <a:t>5,42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identités sur les réseaux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28,5 % de la population, fin 2025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5600" y="2413000"/>
            <a:ext cx="34036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975600" y="24130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29600" y="2537968"/>
            <a:ext cx="29210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42612D"/>
                </a:solidFill>
                <a:latin typeface="Alfa Slab One"/>
              </a:rPr>
              <a:t>63 %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50032"/>
            <a:ext cx="2971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des PMI industrielles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308706"/>
            <a:ext cx="29718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évoluent dans l'agroalimentaire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38608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AAB7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35000" y="39644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Les Sénégalais passent en moyenne 2 h 24 par jour sur les réseaux sociaux.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4348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FFB800"/>
                </a:solidFill>
                <a:latin typeface="Poppins"/>
              </a:rPr>
              <a:t>LA PROBLÉMATIQUE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9398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62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Présence faible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Des pages inactives, peu de contenu.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80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43180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45974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038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Pas de stratégie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On publie sans objectif ni calendrier.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75600" y="4648200"/>
            <a:ext cx="3403600" cy="1041400"/>
          </a:xfrm>
          <a:prstGeom prst="roundRect">
            <a:avLst>
              <a:gd name="adj" fmla="val 1097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7975600" y="4648200"/>
            <a:ext cx="50800" cy="10414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8255000" y="4838700"/>
            <a:ext cx="304800" cy="304800"/>
          </a:xfrm>
          <a:prstGeom prst="ellips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48920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0A1A01"/>
                </a:solidFill>
                <a:latin typeface="Poppins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1400" y="4862068"/>
            <a:ext cx="2590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Aucune conversion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275174"/>
            <a:ext cx="2971800" cy="2331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7"/>
              </a:lnSpc>
            </a:pPr>
            <a:r>
              <a:rPr sz="1019" b="0" i="0">
                <a:solidFill>
                  <a:srgbClr val="0A1A01"/>
                </a:solidFill>
                <a:latin typeface="Poppins"/>
              </a:rPr>
              <a:t>De la visibilité, mais pas de clients.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0400" y="5842000"/>
            <a:ext cx="10871200" cy="406400"/>
          </a:xfrm>
          <a:prstGeom prst="roundRect">
            <a:avLst>
              <a:gd name="adj" fmla="val 25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000" y="5945632"/>
            <a:ext cx="109220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95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Des produits de qualité restent invisibles pendant que les marques importées occupent le terrain.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7404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roduits_loca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0" y="787400"/>
            <a:ext cx="6045200" cy="5613400"/>
          </a:xfrm>
          <a:prstGeom prst="rect">
            <a:avLst/>
          </a:prstGeom>
        </p:spPr>
      </p:pic>
      <p:sp>
        <p:nvSpPr>
          <p:cNvPr id="5" name="Freeform 4"/>
          <p:cNvSpPr/>
          <p:nvPr/>
        </p:nvSpPr>
        <p:spPr>
          <a:xfrm>
            <a:off x="5207000" y="0"/>
            <a:ext cx="3683000" cy="990600"/>
          </a:xfrm>
          <a:custGeom>
            <a:avLst/>
            <a:gdLst/>
            <a:ahLst/>
            <a:cxnLst/>
            <a:rect l="l" t="t" r="r" b="b"/>
            <a:pathLst>
              <a:path w="3683000" h="990600">
                <a:moveTo>
                  <a:pt x="0" y="0"/>
                </a:moveTo>
                <a:lnTo>
                  <a:pt x="3683000" y="0"/>
                </a:lnTo>
                <a:lnTo>
                  <a:pt x="2921000" y="990600"/>
                </a:lnTo>
                <a:lnTo>
                  <a:pt x="762000" y="990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8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8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8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8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5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5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5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5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55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55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55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55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55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5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55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2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82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2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82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2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82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82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82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2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2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82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09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9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9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09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9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9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09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09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09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9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36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36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36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36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6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36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36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6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36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6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36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63600" y="121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63600" y="1346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600" y="1473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63600" y="1600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3600" y="1727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63600" y="1854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63600" y="1981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63600" y="2108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63600" y="2235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63600" y="2362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3600" y="2489200"/>
            <a:ext cx="50800" cy="50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2000" y="15361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F5E3A"/>
                </a:solidFill>
                <a:latin typeface="Alfa Slab One"/>
              </a:rPr>
              <a:t>DU LOCAL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000" y="2323592"/>
            <a:ext cx="4876800" cy="949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20"/>
              </a:lnSpc>
            </a:pPr>
            <a:r>
              <a:rPr sz="4400" b="0" i="0">
                <a:solidFill>
                  <a:srgbClr val="1AAB70"/>
                </a:solidFill>
                <a:latin typeface="Alfa Slab One"/>
              </a:rPr>
              <a:t>AU DIGITAL,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87400" y="3327400"/>
            <a:ext cx="584200" cy="4445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62000" y="3577336"/>
            <a:ext cx="4419600" cy="874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Si nos produits ne sont pas visibles,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comment donner envie de les</a:t>
            </a:r>
          </a:p>
          <a:p>
            <a:pPr algn="l">
              <a:lnSpc>
                <a:spcPts val="2102"/>
              </a:lnSpc>
            </a:pPr>
            <a:r>
              <a:rPr sz="1450" b="1" i="0">
                <a:solidFill>
                  <a:srgbClr val="0A1A01"/>
                </a:solidFill>
                <a:latin typeface="Poppins"/>
              </a:rPr>
              <a:t>consommer ?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000" y="4960925"/>
            <a:ext cx="4470400" cy="3713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Au Sénégal, des centaines de PME agroalimentaires produisent</a:t>
            </a:r>
          </a:p>
          <a:p>
            <a:pPr algn="l">
              <a:lnSpc>
                <a:spcPts val="1289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d'excellents produits locaux… mais restent invisibles en ligne.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654800"/>
            <a:ext cx="12192000" cy="2032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" y="5918200"/>
            <a:ext cx="1219200" cy="2413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0"/>
            <a:ext cx="3302000" cy="1117600"/>
          </a:xfrm>
          <a:custGeom>
            <a:avLst/>
            <a:gdLst/>
            <a:ahLst/>
            <a:cxnLst/>
            <a:rect l="l" t="t" r="r" b="b"/>
            <a:pathLst>
              <a:path w="3302000" h="1117600">
                <a:moveTo>
                  <a:pt x="0" y="0"/>
                </a:moveTo>
                <a:lnTo>
                  <a:pt x="3302000" y="0"/>
                </a:lnTo>
                <a:lnTo>
                  <a:pt x="3302000" y="1117600"/>
                </a:lnTo>
                <a:lnTo>
                  <a:pt x="1244600" y="11176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074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74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074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74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74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74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074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268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268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268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68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268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68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68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792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792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3792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3792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3792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3792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3792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5316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5316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316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316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5316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5316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5316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840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6840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16840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6840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6840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6840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6840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836400" y="4724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836400" y="4876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836400" y="50292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836400" y="51816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836400" y="53340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36400" y="54864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836400" y="5638800"/>
            <a:ext cx="53340" cy="5334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0400" y="5588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4700" y="540512"/>
            <a:ext cx="513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90">
                <a:solidFill>
                  <a:srgbClr val="1AAB70"/>
                </a:solidFill>
                <a:latin typeface="Poppins"/>
              </a:rPr>
              <a:t>NOTRE RÉPONSE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706120"/>
            <a:ext cx="6400800" cy="863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4000" b="0" i="0">
                <a:solidFill>
                  <a:srgbClr val="1F5E3A"/>
                </a:solidFill>
                <a:latin typeface="Alfa Slab One"/>
              </a:rPr>
              <a:t>La Solution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400" y="1676400"/>
            <a:ext cx="4826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60400" y="1676400"/>
            <a:ext cx="48260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057400"/>
            <a:ext cx="3708400" cy="1498600"/>
          </a:xfrm>
          <a:prstGeom prst="rect">
            <a:avLst/>
          </a:prstGeom>
        </p:spPr>
      </p:pic>
      <p:sp>
        <p:nvSpPr>
          <p:cNvPr id="53" name="Rounded Rectangle 52"/>
          <p:cNvSpPr/>
          <p:nvPr/>
        </p:nvSpPr>
        <p:spPr>
          <a:xfrm>
            <a:off x="5791200" y="1676400"/>
            <a:ext cx="5740400" cy="1905000"/>
          </a:xfrm>
          <a:prstGeom prst="roundRect">
            <a:avLst>
              <a:gd name="adj" fmla="val 8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121400" y="2021840"/>
            <a:ext cx="5130800" cy="1022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Une agence de community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management spécialisée dans</a:t>
            </a:r>
          </a:p>
          <a:p>
            <a:pPr algn="l">
              <a:lnSpc>
                <a:spcPts val="2450"/>
              </a:lnSpc>
            </a:pPr>
            <a:r>
              <a:rPr sz="1750" b="1" i="0">
                <a:solidFill>
                  <a:srgbClr val="FFFFFF"/>
                </a:solidFill>
                <a:latin typeface="Poppins"/>
              </a:rPr>
              <a:t>l'agro-industrie sénégalaise.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6800" y="3098800"/>
            <a:ext cx="762000" cy="4445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604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6604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39800" y="4140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0112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10577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208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Stratégie Social Media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Objectifs, réseaux et ligne éditoriale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180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43180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4597400" y="4140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46688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7153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9784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Création de Contenu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Visuels, carrousels et vidéos courtes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975600" y="3886200"/>
            <a:ext cx="3403600" cy="1549400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ounded Rectangle 70"/>
          <p:cNvSpPr/>
          <p:nvPr/>
        </p:nvSpPr>
        <p:spPr>
          <a:xfrm>
            <a:off x="7975600" y="3886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8255000" y="4140200"/>
            <a:ext cx="279400" cy="2794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8326402" y="4283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8372969" y="4230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8636000" y="4136136"/>
            <a:ext cx="2590800" cy="3038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Gestion de Communauté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4855464"/>
            <a:ext cx="2971800" cy="240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Animation, modération et relation client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0400" y="5689600"/>
            <a:ext cx="10871200" cy="533400"/>
          </a:xfrm>
          <a:prstGeom prst="roundRect">
            <a:avLst>
              <a:gd name="adj" fmla="val 21428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5000" y="58282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1" i="0">
                <a:solidFill>
                  <a:srgbClr val="FFFFFF"/>
                </a:solidFill>
                <a:latin typeface="Poppins"/>
              </a:rPr>
              <a:t>La double expertise agriculture + digital, unique sur ce marché.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80" name="Picture 7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1684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1168400"/>
            <a:ext cx="12192000" cy="5689600"/>
          </a:xfrm>
          <a:prstGeom prst="rect">
            <a:avLst/>
          </a:prstGeom>
          <a:solidFill>
            <a:srgbClr val="E4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35000" y="302768"/>
            <a:ext cx="7670800" cy="561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 i="0">
                <a:solidFill>
                  <a:srgbClr val="0A1A01"/>
                </a:solidFill>
                <a:latin typeface="Alfa Slab One"/>
              </a:rPr>
              <a:t>NOTRE MARCHÉ CIBLE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35200" y="786384"/>
            <a:ext cx="8178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0" i="0">
                <a:solidFill>
                  <a:srgbClr val="42612D"/>
                </a:solidFill>
                <a:latin typeface="Poppins"/>
              </a:rPr>
              <a:t>Un marché 100 % B2B au cœur de l'agroalimentaire sénégalais</a:t>
            </a:r>
          </a:p>
        </p:txBody>
      </p:sp>
      <p:pic>
        <p:nvPicPr>
          <p:cNvPr id="7" name="Picture 6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330200"/>
            <a:ext cx="939800" cy="381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937000" y="1676400"/>
            <a:ext cx="4318000" cy="1930400"/>
          </a:xfrm>
          <a:prstGeom prst="roundRect">
            <a:avLst>
              <a:gd name="adj" fmla="val 855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11600" y="1858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65"/>
              </a:lnSpc>
            </a:pPr>
            <a:r>
              <a:rPr sz="1050" b="1" i="0" spc="13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8600" y="2172208"/>
            <a:ext cx="4114800" cy="6813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Digitaliser la visibilité</a:t>
            </a:r>
          </a:p>
          <a:p>
            <a:pPr algn="ctr">
              <a:lnSpc>
                <a:spcPts val="2312"/>
              </a:lnSpc>
            </a:pPr>
            <a:r>
              <a:rPr sz="1850" b="0" i="0">
                <a:solidFill>
                  <a:srgbClr val="FFFFFF"/>
                </a:solidFill>
                <a:latin typeface="Alfa Slab One"/>
              </a:rPr>
              <a:t>et la commercialisation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8600" y="3105912"/>
            <a:ext cx="411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0" i="0">
                <a:solidFill>
                  <a:srgbClr val="9FB8A2"/>
                </a:solidFill>
                <a:latin typeface="Poppins"/>
              </a:rPr>
              <a:t>des acteurs agroalimentaires sénégalais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636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21717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PRODUCTEURS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5958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Exploitations agricoles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&amp; entreprises de production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85200" y="19812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788400" y="215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63000" y="220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5900" y="21717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ACHETEURS PRO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0" y="25958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Hôtels, restaurants,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commerces &amp; enseignes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400" y="4216400"/>
            <a:ext cx="28702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990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5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8100" y="4406900"/>
            <a:ext cx="22225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TRANSFORMATEURS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831080"/>
            <a:ext cx="25146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PME et entreprises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de transformation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8200" y="4521200"/>
            <a:ext cx="28956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851400" y="46990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6000" y="47417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8900" y="4711700"/>
            <a:ext cx="22479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GIE &amp; COOPÉRATIVES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26000" y="5135880"/>
            <a:ext cx="25400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Structures collectives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à professionnaliser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4400" y="4216400"/>
            <a:ext cx="2946400" cy="1219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143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737600" y="4394200"/>
            <a:ext cx="254000" cy="2540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12200" y="4436999"/>
            <a:ext cx="304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05"/>
              </a:lnSpc>
            </a:pPr>
            <a:r>
              <a:rPr sz="850" b="1" i="0">
                <a:solidFill>
                  <a:srgbClr val="FFFFFF"/>
                </a:solidFill>
                <a:latin typeface="Poppin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5100" y="4406900"/>
            <a:ext cx="22987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DISTRIBUTEURS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12200" y="4831080"/>
            <a:ext cx="2590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Grossistes, distributeurs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&amp; acteurs de la chaîne</a:t>
            </a:r>
          </a:p>
        </p:txBody>
      </p:sp>
      <p:cxnSp>
        <p:nvCxnSpPr>
          <p:cNvPr id="37" name="Connector 36"/>
          <p:cNvCxnSpPr/>
          <p:nvPr/>
        </p:nvCxnSpPr>
        <p:spPr>
          <a:xfrm flipH="1" flipV="1">
            <a:off x="36068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096000" y="2540000"/>
            <a:ext cx="2489200" cy="736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36576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096000" y="3276600"/>
            <a:ext cx="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6000" y="3276600"/>
            <a:ext cx="2438400" cy="1244600"/>
          </a:xfrm>
          <a:prstGeom prst="line">
            <a:avLst/>
          </a:prstGeom>
          <a:ln w="7620">
            <a:solidFill>
              <a:srgbClr val="1AAB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NOTRE 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La stratégie TOMSTER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Six étapes pour transformer une présence digitale en opportunités commerciales.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514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56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6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À qui je m'adresse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80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43180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97400" y="2514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32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32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veux accomplir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75600" y="2184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975600" y="2184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255000" y="2514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2645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42612D"/>
                </a:solidFill>
                <a:latin typeface="Alfa Slab One"/>
              </a:rPr>
              <a:t>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0800" y="2530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Message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0800" y="2873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Ce que je dis, et comment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4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604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939800" y="4419600"/>
            <a:ext cx="558800" cy="558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AAB70"/>
                </a:solidFill>
                <a:latin typeface="Alfa Slab One"/>
              </a:rPr>
              <a:t>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256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Strategy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256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Mon approche globale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180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43180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4597400" y="4419600"/>
            <a:ext cx="558800" cy="558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4550156"/>
            <a:ext cx="6096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>
                <a:solidFill>
                  <a:srgbClr val="1F5E3A"/>
                </a:solidFill>
                <a:latin typeface="Alfa Slab One"/>
              </a:rPr>
              <a:t>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832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Tactics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32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Mes actions concrètes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75600" y="4089400"/>
            <a:ext cx="34036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7975600" y="4089400"/>
            <a:ext cx="50800" cy="1625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8255000" y="4419600"/>
            <a:ext cx="558800" cy="558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0" y="4560316"/>
            <a:ext cx="6096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560"/>
              </a:lnSpc>
            </a:pPr>
            <a:r>
              <a:rPr sz="1200" b="0" i="0">
                <a:solidFill>
                  <a:srgbClr val="42612D"/>
                </a:solidFill>
                <a:latin typeface="Alfa Slab One"/>
              </a:rPr>
              <a:t>E+R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40800" y="4435856"/>
            <a:ext cx="2336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F5E3A"/>
                </a:solidFill>
                <a:latin typeface="Poppins"/>
              </a:rPr>
              <a:t>Execution &amp; Results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40800" y="4778248"/>
            <a:ext cx="24130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Je produis, je mesure, j'ajuste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À qui nous adressons-nous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marché B2B concentré, identifiable et joignable directement en ligne.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418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AAB70"/>
                </a:solidFill>
                <a:latin typeface="Poppins"/>
              </a:rPr>
              <a:t>CIBLE PRINCIPALE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42616"/>
            <a:ext cx="48260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>
                <a:solidFill>
                  <a:srgbClr val="0A1A01"/>
                </a:solidFill>
                <a:latin typeface="Poppins"/>
              </a:rPr>
              <a:t>Dirigeants des PME agroalimentaires sénégalaises : marques</a:t>
            </a:r>
          </a:p>
          <a:p>
            <a:pPr algn="l">
              <a:lnSpc>
                <a:spcPts val="1860"/>
              </a:lnSpc>
            </a:pPr>
            <a:r>
              <a:rPr sz="1200" b="0" i="0">
                <a:solidFill>
                  <a:srgbClr val="0A1A01"/>
                </a:solidFill>
                <a:latin typeface="Poppins"/>
              </a:rPr>
              <a:t>locales, coopératives et unités artisanales.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7600" y="2133600"/>
            <a:ext cx="5334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197600" y="21336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51600" y="23418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42612D"/>
                </a:solidFill>
                <a:latin typeface="Poppins"/>
              </a:rPr>
              <a:t>CIBLE SECONDAIRE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2642616"/>
            <a:ext cx="48260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sz="1200" b="0" i="0">
                <a:solidFill>
                  <a:srgbClr val="0A1A01"/>
                </a:solidFill>
                <a:latin typeface="Poppins"/>
              </a:rPr>
              <a:t>Grandes entreprises et industries agroalimentaires, avec des</a:t>
            </a:r>
          </a:p>
          <a:p>
            <a:pPr algn="l">
              <a:lnSpc>
                <a:spcPts val="1860"/>
              </a:lnSpc>
            </a:pPr>
            <a:r>
              <a:rPr sz="1200" b="0" i="0">
                <a:solidFill>
                  <a:srgbClr val="0A1A01"/>
                </a:solidFill>
                <a:latin typeface="Poppins"/>
              </a:rPr>
              <a:t>budgets structurés et des enjeux de marque nationale.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10871200" cy="1879600"/>
          </a:xfrm>
          <a:prstGeom prst="roundRect">
            <a:avLst>
              <a:gd name="adj" fmla="val 7432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16000" y="4368800"/>
            <a:ext cx="965200" cy="965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0600" y="4587240"/>
            <a:ext cx="1016000" cy="647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900"/>
              </a:lnSpc>
            </a:pPr>
            <a:r>
              <a:rPr sz="3000" b="0" i="0">
                <a:solidFill>
                  <a:srgbClr val="1AAB70"/>
                </a:solidFill>
                <a:latin typeface="Alfa Slab One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5200" y="4275328"/>
            <a:ext cx="386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60">
                <a:solidFill>
                  <a:srgbClr val="1AAB70"/>
                </a:solidFill>
                <a:latin typeface="Poppins"/>
              </a:rPr>
              <a:t>PERSONA PRINCIPAL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5200" y="4431792"/>
            <a:ext cx="386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 i="0">
                <a:solidFill>
                  <a:srgbClr val="FFFFFF"/>
                </a:solidFill>
                <a:latin typeface="Alfa Slab One"/>
              </a:rPr>
              <a:t>Aminata, 36 ans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5200" y="4880864"/>
            <a:ext cx="5638800" cy="2466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22"/>
              </a:lnSpc>
            </a:pPr>
            <a:r>
              <a:rPr sz="1050" b="0" i="0">
                <a:solidFill>
                  <a:srgbClr val="9FB8A2"/>
                </a:solidFill>
                <a:latin typeface="Poppins"/>
              </a:rPr>
              <a:t>Directrice d'une PME de transformation de fruits et légumes à Dakar.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60600" y="5257800"/>
            <a:ext cx="2870200" cy="5334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387600" y="53431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20">
                <a:solidFill>
                  <a:srgbClr val="1AAB70"/>
                </a:solidFill>
                <a:latin typeface="Poppins"/>
              </a:rPr>
              <a:t>BESOIN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5530393"/>
            <a:ext cx="27432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Faire connaître ses gammes de jus locaux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8600" y="5257800"/>
            <a:ext cx="2870200" cy="5334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435600" y="53431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20">
                <a:solidFill>
                  <a:srgbClr val="1AAB70"/>
                </a:solidFill>
                <a:latin typeface="Poppins"/>
              </a:rPr>
              <a:t>FREIN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530393"/>
            <a:ext cx="27432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Manque de temps et d'expertise interne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56600" y="5257800"/>
            <a:ext cx="2870200" cy="533400"/>
          </a:xfrm>
          <a:prstGeom prst="roundRect">
            <a:avLst>
              <a:gd name="adj" fmla="val 14285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83600" y="5343144"/>
            <a:ext cx="2590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83600" y="5530393"/>
            <a:ext cx="27432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0" i="0">
                <a:solidFill>
                  <a:srgbClr val="FFFFFF"/>
                </a:solidFill>
                <a:latin typeface="Poppins"/>
              </a:rPr>
              <a:t>LinkedIn · Facebook ·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000" y="6048248"/>
            <a:ext cx="10922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 i="1">
                <a:solidFill>
                  <a:srgbClr val="42612D"/>
                </a:solidFill>
                <a:latin typeface="Poppins"/>
              </a:rPr>
              <a:t>« De bons produits locaux, mais ni le temps ni les compétences pour les rendre visibles.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O ·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accomplir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objectifs SMART, mesurables et échelonnés sur les 6 premiers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AAB70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abonnés qualifiés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98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44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3 mois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720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1F5E3A"/>
                </a:solidFill>
                <a:latin typeface="Poppins"/>
              </a:rPr>
              <a:t>PROSPECTION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demandes qualifiées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974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5974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08200"/>
            <a:ext cx="3403600" cy="26924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082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0" y="2440432"/>
            <a:ext cx="2844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 spc="150">
                <a:solidFill>
                  <a:srgbClr val="42612D"/>
                </a:solidFill>
                <a:latin typeface="Poppins"/>
              </a:rPr>
              <a:t>CONVERSION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667000"/>
            <a:ext cx="2844800" cy="1079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00"/>
              </a:lnSpc>
            </a:pPr>
            <a:r>
              <a:rPr sz="5000" b="0" i="0">
                <a:solidFill>
                  <a:srgbClr val="1F5E3A"/>
                </a:solidFill>
                <a:latin typeface="Alfa Slab One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58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42612D"/>
                </a:solidFill>
                <a:latin typeface="Poppins"/>
              </a:rPr>
              <a:t>contrats signés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55000" y="4013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255000" y="4241800"/>
            <a:ext cx="12192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600" y="4310380"/>
            <a:ext cx="1270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6 mois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5232400"/>
            <a:ext cx="10871200" cy="660400"/>
          </a:xfrm>
          <a:prstGeom prst="roundRect">
            <a:avLst>
              <a:gd name="adj" fmla="val 1730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35000" y="54010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1" i="0" spc="80">
                <a:solidFill>
                  <a:srgbClr val="1AAB70"/>
                </a:solidFill>
                <a:latin typeface="Poppins"/>
              </a:rPr>
              <a:t>Visibilité  ›  Engagement  ›  Prospects  ›  Clients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M ·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Qu'est-ce que je veux dire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positionnement clair, une proposition de valeur unique, un ton reconnaissable.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6934200" cy="1371600"/>
          </a:xfrm>
          <a:prstGeom prst="roundRect">
            <a:avLst>
              <a:gd name="adj" fmla="val 9259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9800" y="22910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PROPOSITION DE VALEUR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9800" y="2558288"/>
            <a:ext cx="6400800" cy="6177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« Rendre les produits locaux sénégalais aussi visibles</a:t>
            </a:r>
          </a:p>
          <a:p>
            <a:pPr algn="l">
              <a:lnSpc>
                <a:spcPts val="2112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en ligne qu'ils le sont dans les rayons.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7800" y="2108200"/>
            <a:ext cx="37338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97800" y="2108200"/>
            <a:ext cx="50800" cy="13716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51800" y="22910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POSITIONNEMENT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51800" y="2568448"/>
            <a:ext cx="3251200" cy="7054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L'agence qui combine expertise agricole et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maîtrise digitale au service de</a:t>
            </a:r>
          </a:p>
          <a:p>
            <a:pPr algn="l">
              <a:lnSpc>
                <a:spcPts val="1705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l'agroalimentaire.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37388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NOS MESSAGES CLÉS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0400" y="40386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38200" y="41910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42128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600" y="41686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Sadiya Digital Agri comprend à la fois l'agriculture et le digital.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46228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838200" y="47752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2800" y="47970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7600" y="47528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Les produits cultivés et transformés au Sénégal méritent d'être visibles en ligne.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0400" y="5207000"/>
            <a:ext cx="6934200" cy="482600"/>
          </a:xfrm>
          <a:prstGeom prst="roundRect">
            <a:avLst>
              <a:gd name="adj" fmla="val 23684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8200" y="5359400"/>
            <a:ext cx="177800" cy="177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2800" y="5381244"/>
            <a:ext cx="228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337048"/>
            <a:ext cx="6350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Nous transformons votre présence sociale en visibilité, communauté et opportunités.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97800" y="3759200"/>
            <a:ext cx="3733800" cy="2311400"/>
          </a:xfrm>
          <a:prstGeom prst="roundRect">
            <a:avLst>
              <a:gd name="adj" fmla="val 494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51800" y="39674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42612D"/>
                </a:solidFill>
                <a:latin typeface="Poppins"/>
              </a:rPr>
              <a:t>TON DE VOIX</a:t>
            </a:r>
          </a:p>
        </p:txBody>
      </p:sp>
      <p:sp>
        <p:nvSpPr>
          <p:cNvPr id="34" name="Oval 33"/>
          <p:cNvSpPr/>
          <p:nvPr/>
        </p:nvSpPr>
        <p:spPr>
          <a:xfrm>
            <a:off x="8077200" y="43434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142111" y="44732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184444" y="44252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432800" y="43550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Professionnel</a:t>
            </a:r>
          </a:p>
        </p:txBody>
      </p:sp>
      <p:sp>
        <p:nvSpPr>
          <p:cNvPr id="38" name="Oval 37"/>
          <p:cNvSpPr/>
          <p:nvPr/>
        </p:nvSpPr>
        <p:spPr>
          <a:xfrm>
            <a:off x="8077200" y="47752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8142111" y="49050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184444" y="48570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32800" y="47868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Chaleureux</a:t>
            </a:r>
          </a:p>
        </p:txBody>
      </p:sp>
      <p:sp>
        <p:nvSpPr>
          <p:cNvPr id="42" name="Oval 41"/>
          <p:cNvSpPr/>
          <p:nvPr/>
        </p:nvSpPr>
        <p:spPr>
          <a:xfrm>
            <a:off x="8077200" y="52070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142111" y="53368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184444" y="52888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32800" y="52186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Pédagogique</a:t>
            </a:r>
          </a:p>
        </p:txBody>
      </p:sp>
      <p:sp>
        <p:nvSpPr>
          <p:cNvPr id="46" name="Oval 45"/>
          <p:cNvSpPr/>
          <p:nvPr/>
        </p:nvSpPr>
        <p:spPr>
          <a:xfrm>
            <a:off x="8077200" y="5638800"/>
            <a:ext cx="254000" cy="2540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8142111" y="5768622"/>
            <a:ext cx="42333" cy="45156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8184444" y="5720644"/>
            <a:ext cx="81845" cy="93134"/>
          </a:xfrm>
          <a:prstGeom prst="line">
            <a:avLst/>
          </a:prstGeom>
          <a:ln w="23988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432800" y="5650484"/>
            <a:ext cx="29718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90"/>
              </a:lnSpc>
            </a:pPr>
            <a:r>
              <a:rPr sz="1300" b="1" i="0">
                <a:solidFill>
                  <a:srgbClr val="0A1A01"/>
                </a:solidFill>
                <a:latin typeface="Poppins"/>
              </a:rPr>
              <a:t>Dynamique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 ·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 approche globale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réseaux, trois rôles complémentaires dans un parcours unique.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TikTok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AAB70"/>
                </a:solidFill>
                <a:latin typeface="Poppins"/>
              </a:rPr>
              <a:t>Réseau de visibilité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98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Attirer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894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180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43180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720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1F5E3A"/>
                </a:solidFill>
                <a:latin typeface="Poppins"/>
              </a:rPr>
              <a:t>Réseau principal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974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5974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Engager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47000" y="2774696"/>
            <a:ext cx="2540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60"/>
              </a:lnSpc>
            </a:pPr>
            <a:r>
              <a:rPr sz="2200" b="1" i="0">
                <a:solidFill>
                  <a:srgbClr val="9FB8A2"/>
                </a:solidFill>
                <a:latin typeface="Poppins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5600" y="21590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975600" y="2159000"/>
            <a:ext cx="3403600" cy="635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0" y="2442464"/>
            <a:ext cx="2844800" cy="4965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90"/>
              </a:lnSpc>
            </a:pPr>
            <a:r>
              <a:rPr sz="2300" b="0" i="0">
                <a:solidFill>
                  <a:srgbClr val="1F5E3A"/>
                </a:solidFill>
                <a:latin typeface="Alfa Slab One"/>
              </a:rPr>
              <a:t>LinkedIn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2949448"/>
            <a:ext cx="284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 spc="110">
                <a:solidFill>
                  <a:srgbClr val="42612D"/>
                </a:solidFill>
                <a:latin typeface="Poppins"/>
              </a:rPr>
              <a:t>Réseau B2B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55000" y="33020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255000" y="3530600"/>
            <a:ext cx="1168400" cy="330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600" y="3597148"/>
            <a:ext cx="12192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Convertir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0400" y="4419600"/>
            <a:ext cx="10871200" cy="685800"/>
          </a:xfrm>
          <a:prstGeom prst="roundRect">
            <a:avLst>
              <a:gd name="adj" fmla="val 16666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39800" y="46426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PARCOURS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9000" y="4608068"/>
            <a:ext cx="91948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FFFFFF"/>
                </a:solidFill>
                <a:latin typeface="Poppins"/>
              </a:rPr>
              <a:t>TikTok attire  ›  Facebook fédère  ›  LinkedIn crédibilise  ›  convertir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53136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5 PILIERS ÉDITORIAUX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Éducation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8448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8194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Valorisation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038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Expertise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136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1882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Offres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98000" y="5613400"/>
            <a:ext cx="2032000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372600" y="5705348"/>
            <a:ext cx="2082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Communauté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 · TACTICS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Quelles actions concrètes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calendrier éditorial réaliste : 3 jours de publication par semaine.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330200"/>
          </a:xfrm>
          <a:prstGeom prst="roundRect">
            <a:avLst>
              <a:gd name="adj" fmla="val 1923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8200" y="2191512"/>
            <a:ext cx="1193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JOUR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81200" y="2191512"/>
            <a:ext cx="1955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RÉSEAUX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6200" y="21915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CONTENU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191512"/>
            <a:ext cx="132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20">
                <a:solidFill>
                  <a:srgbClr val="1AAB70"/>
                </a:solidFill>
                <a:latin typeface="Poppins"/>
              </a:rPr>
              <a:t>OBJECTIF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" y="25400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60400" y="25400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8200" y="26817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MARDI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81200" y="26837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Facebook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6837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Post + visuel expert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7600" y="26670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72200" y="26995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Crédibilité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0400" y="31242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4F7F5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60400" y="31242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8200" y="32659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VENDREDI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1200" y="32679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Facebook + TikTok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86200" y="32679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Carrousel + vidéo courte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7600" y="32512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172200" y="32837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Engagement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0400" y="3708400"/>
            <a:ext cx="6934200" cy="508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60400" y="3708400"/>
            <a:ext cx="50800" cy="508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38200" y="3850132"/>
            <a:ext cx="1193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DIMANCHE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81200" y="38521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LinkedIn + 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852164"/>
            <a:ext cx="2336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0A1A01"/>
                </a:solidFill>
                <a:latin typeface="Poppins"/>
              </a:rPr>
              <a:t>Storytelling / étude de 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7600" y="3835400"/>
            <a:ext cx="1066800" cy="2540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72200" y="3867912"/>
            <a:ext cx="1117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Prospection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5262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ANIMATION DE LA COMMUNAUTÉ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350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2-3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stories / sem.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701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0447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955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sondage / sem.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98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4544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052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Q&amp;R / 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895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8641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49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live / mois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99200" y="4800600"/>
            <a:ext cx="1270000" cy="6604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273800" y="4863592"/>
            <a:ext cx="1320800" cy="4102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70"/>
              </a:lnSpc>
            </a:pPr>
            <a:r>
              <a:rPr sz="1900" b="0" i="0">
                <a:solidFill>
                  <a:srgbClr val="1AAB70"/>
                </a:solidFill>
                <a:latin typeface="Alfa Slab One"/>
              </a:rPr>
              <a:t>1-2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4600" y="5240325"/>
            <a:ext cx="1219200" cy="1856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18"/>
              </a:lnSpc>
            </a:pPr>
            <a:r>
              <a:rPr sz="860" b="0" i="0">
                <a:solidFill>
                  <a:srgbClr val="42612D"/>
                </a:solidFill>
                <a:latin typeface="Poppins"/>
              </a:rPr>
              <a:t>défis TikTok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97800" y="2133600"/>
            <a:ext cx="3733800" cy="3327400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F5E3A"/>
                </a:solidFill>
                <a:latin typeface="Poppins"/>
              </a:rPr>
              <a:t>MOYENS MOBILISÉS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077200" y="2781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280400" y="2693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Canva Free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7200" y="316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280400" y="3074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CapCut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3543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80400" y="3455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Meta Business Suite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77200" y="3924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80400" y="3836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TikTok Studio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77200" y="4305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80400" y="4217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LinkedIn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77200" y="4686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280400" y="4598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Drive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77200" y="5067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280400" y="4979416"/>
            <a:ext cx="3098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>
                <a:solidFill>
                  <a:srgbClr val="0A1A01"/>
                </a:solidFill>
                <a:latin typeface="Poppins"/>
              </a:rPr>
              <a:t>Google Sheets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E ·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Comment je produis et j'anime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production organisée, une modération cadrée, une relation client rapide.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87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62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Production</a:t>
            </a:r>
          </a:p>
        </p:txBody>
      </p:sp>
      <p:sp>
        <p:nvSpPr>
          <p:cNvPr id="17" name="Oval 16"/>
          <p:cNvSpPr/>
          <p:nvPr/>
        </p:nvSpPr>
        <p:spPr>
          <a:xfrm>
            <a:off x="944880" y="304736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95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Thèmes définis en début de mois</a:t>
            </a:r>
          </a:p>
        </p:txBody>
      </p:sp>
      <p:sp>
        <p:nvSpPr>
          <p:cNvPr id="19" name="Oval 18"/>
          <p:cNvSpPr/>
          <p:nvPr/>
        </p:nvSpPr>
        <p:spPr>
          <a:xfrm>
            <a:off x="944880" y="338264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95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créés en avance</a:t>
            </a:r>
          </a:p>
        </p:txBody>
      </p:sp>
      <p:sp>
        <p:nvSpPr>
          <p:cNvPr id="21" name="Oval 20"/>
          <p:cNvSpPr/>
          <p:nvPr/>
        </p:nvSpPr>
        <p:spPr>
          <a:xfrm>
            <a:off x="944880" y="3717925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5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Programmation Meta Suite &amp; TikTok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80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97400" y="23876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38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Modération</a:t>
            </a:r>
          </a:p>
        </p:txBody>
      </p:sp>
      <p:sp>
        <p:nvSpPr>
          <p:cNvPr id="28" name="Oval 27"/>
          <p:cNvSpPr/>
          <p:nvPr/>
        </p:nvSpPr>
        <p:spPr>
          <a:xfrm>
            <a:off x="4602480" y="304736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371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Ton professionnel et respectueux</a:t>
            </a:r>
          </a:p>
        </p:txBody>
      </p:sp>
      <p:sp>
        <p:nvSpPr>
          <p:cNvPr id="30" name="Oval 29"/>
          <p:cNvSpPr/>
          <p:nvPr/>
        </p:nvSpPr>
        <p:spPr>
          <a:xfrm>
            <a:off x="4602480" y="338264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371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Critiques constructives conservées</a:t>
            </a:r>
          </a:p>
        </p:txBody>
      </p:sp>
      <p:sp>
        <p:nvSpPr>
          <p:cNvPr id="32" name="Oval 31"/>
          <p:cNvSpPr/>
          <p:nvPr/>
        </p:nvSpPr>
        <p:spPr>
          <a:xfrm>
            <a:off x="4602480" y="3717925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1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Réclamations traitées en privé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5600" y="2108200"/>
            <a:ext cx="3403600" cy="241300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255000" y="2387600"/>
            <a:ext cx="304800" cy="304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2440940"/>
            <a:ext cx="355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61400" y="2409952"/>
            <a:ext cx="27178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Relation client</a:t>
            </a:r>
          </a:p>
        </p:txBody>
      </p:sp>
      <p:sp>
        <p:nvSpPr>
          <p:cNvPr id="39" name="Oval 38"/>
          <p:cNvSpPr/>
          <p:nvPr/>
        </p:nvSpPr>
        <p:spPr>
          <a:xfrm>
            <a:off x="8260080" y="304736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700" y="300024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Surveillance quotidienne</a:t>
            </a:r>
          </a:p>
        </p:txBody>
      </p:sp>
      <p:sp>
        <p:nvSpPr>
          <p:cNvPr id="41" name="Oval 40"/>
          <p:cNvSpPr/>
          <p:nvPr/>
        </p:nvSpPr>
        <p:spPr>
          <a:xfrm>
            <a:off x="8260080" y="338264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94700" y="333552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Réponse sous 24 h ouvrées</a:t>
            </a:r>
          </a:p>
        </p:txBody>
      </p:sp>
      <p:sp>
        <p:nvSpPr>
          <p:cNvPr id="43" name="Oval 42"/>
          <p:cNvSpPr/>
          <p:nvPr/>
        </p:nvSpPr>
        <p:spPr>
          <a:xfrm>
            <a:off x="8260080" y="3717925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94700" y="3670808"/>
            <a:ext cx="2832100" cy="251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Demandes commerciales en privé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4749800"/>
            <a:ext cx="10871200" cy="1320800"/>
          </a:xfrm>
          <a:prstGeom prst="roundRect">
            <a:avLst>
              <a:gd name="adj" fmla="val 961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4958080"/>
            <a:ext cx="259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60">
                <a:solidFill>
                  <a:srgbClr val="1AAB70"/>
                </a:solidFill>
                <a:latin typeface="Poppins"/>
              </a:rPr>
              <a:t>PLAN BAD BUZZ</a:t>
            </a:r>
          </a:p>
        </p:txBody>
      </p:sp>
      <p:sp>
        <p:nvSpPr>
          <p:cNvPr id="47" name="Oval 46"/>
          <p:cNvSpPr/>
          <p:nvPr/>
        </p:nvSpPr>
        <p:spPr>
          <a:xfrm>
            <a:off x="965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9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0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Identifier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3368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26924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670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480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Vérifier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0640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44196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942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752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Répondre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7912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61468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214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024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Traiter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5184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78740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486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Suivre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245600" y="5372100"/>
            <a:ext cx="254000" cy="0"/>
          </a:xfrm>
          <a:prstGeom prst="line">
            <a:avLst/>
          </a:prstGeom>
          <a:ln w="1016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9601200" y="5232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75800" y="5290312"/>
            <a:ext cx="3302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1AAB70"/>
                </a:solidFill>
                <a:latin typeface="Poppins"/>
              </a:rPr>
              <a:t>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5274564"/>
            <a:ext cx="1397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FFFFFF"/>
                </a:solidFill>
                <a:latin typeface="Poppins"/>
              </a:rPr>
              <a:t>Tirer les leçons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9800" y="5692648"/>
            <a:ext cx="8940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1">
                <a:solidFill>
                  <a:srgbClr val="9FB8A2"/>
                </a:solidFill>
                <a:latin typeface="Poppins"/>
              </a:rPr>
              <a:t>Règle d'or : ne jamais répondre sous le coup de l'émotion.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R ·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Est-ce que ça marche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KPI clairs par objectif, un bilan hebdomadaire et mensuel.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9800" y="22438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Notoriété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" y="25577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Abonnés · portée · impressions · vues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3000" y="22795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Facebook, LinkedIn, TikTok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8400" y="26162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953000" y="26372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0400" y="31242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60400" y="31242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9800" y="32344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Prospects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800" y="35483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Messages · demandes · clics · leads qualifiés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53000" y="32701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Statistiques + tableau de suivi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78400" y="36068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953000" y="36278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Hebdo + mensuel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0400" y="4114800"/>
            <a:ext cx="693420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660400" y="4114800"/>
            <a:ext cx="63500" cy="838200"/>
          </a:xfrm>
          <a:prstGeom prst="roundRect">
            <a:avLst>
              <a:gd name="adj" fmla="val 4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39800" y="4225036"/>
            <a:ext cx="20828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450" b="1" i="0">
                <a:solidFill>
                  <a:srgbClr val="1F5E3A"/>
                </a:solidFill>
                <a:latin typeface="Poppins"/>
              </a:rPr>
              <a:t>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9800" y="4538980"/>
            <a:ext cx="3987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0A1A01"/>
                </a:solidFill>
                <a:latin typeface="Poppins"/>
              </a:rPr>
              <a:t>Prospects convertis · contrats · taux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53000" y="4260799"/>
            <a:ext cx="2590800" cy="2148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Tableau de suivi commercial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400" y="4597400"/>
            <a:ext cx="1219200" cy="2286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953000" y="4618431"/>
            <a:ext cx="12700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Mensuel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97800" y="2133600"/>
            <a:ext cx="3733800" cy="29718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797800" y="2133600"/>
            <a:ext cx="37338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051800" y="2367280"/>
            <a:ext cx="3225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40">
                <a:solidFill>
                  <a:srgbClr val="1F5E3A"/>
                </a:solidFill>
                <a:latin typeface="Poppins"/>
              </a:rPr>
              <a:t>BOUCLE D'AMÉLIORATION</a:t>
            </a:r>
          </a:p>
        </p:txBody>
      </p:sp>
      <p:sp>
        <p:nvSpPr>
          <p:cNvPr id="36" name="Oval 35"/>
          <p:cNvSpPr/>
          <p:nvPr/>
        </p:nvSpPr>
        <p:spPr>
          <a:xfrm>
            <a:off x="8077200" y="27178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51800" y="27884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9000" y="27559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Publier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229600" y="30480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8077200" y="31750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51800" y="32456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9000" y="32131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Mesurer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29600" y="35052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077200" y="36322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51800" y="37028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9000" y="36703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Analyser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0" y="39624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8077200" y="4089400"/>
            <a:ext cx="304800" cy="304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51800" y="41600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9000" y="41275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Ajuster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29600" y="4419600"/>
            <a:ext cx="0" cy="101600"/>
          </a:xfrm>
          <a:prstGeom prst="line">
            <a:avLst/>
          </a:prstGeom>
          <a:ln w="15240">
            <a:solidFill>
              <a:srgbClr val="9FB8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77200" y="4546600"/>
            <a:ext cx="304800" cy="304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51800" y="4617212"/>
            <a:ext cx="3556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70"/>
              </a:lnSpc>
            </a:pPr>
            <a:r>
              <a:rPr sz="9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09000" y="4584700"/>
            <a:ext cx="2590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0A1A01"/>
                </a:solidFill>
                <a:latin typeface="Poppins"/>
              </a:rPr>
              <a:t>Améliorer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334000"/>
            <a:ext cx="6934200" cy="736600"/>
          </a:xfrm>
          <a:prstGeom prst="roundRect">
            <a:avLst>
              <a:gd name="adj" fmla="val 15517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513832"/>
            <a:ext cx="6400800" cy="4819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semaine : identifier les contenus performants.</a:t>
            </a:r>
          </a:p>
          <a:p>
            <a:pPr algn="l">
              <a:lnSpc>
                <a:spcPts val="1667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Chaque mois : comparer aux objectifs et ajuster.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Modèle Économique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Comment Sadiya Digital Agri crée, délivre et capture de la valeur.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9000" y="23337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Proposition de valeur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6924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9480" y="2891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100" y="28490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Communication digitale spécialisée agro</a:t>
            </a:r>
          </a:p>
        </p:txBody>
      </p:sp>
      <p:sp>
        <p:nvSpPr>
          <p:cNvPr id="18" name="Oval 17"/>
          <p:cNvSpPr/>
          <p:nvPr/>
        </p:nvSpPr>
        <p:spPr>
          <a:xfrm>
            <a:off x="919480" y="31780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4100" y="31355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Double expertise agriculture + digital</a:t>
            </a:r>
          </a:p>
        </p:txBody>
      </p:sp>
      <p:sp>
        <p:nvSpPr>
          <p:cNvPr id="20" name="Oval 19"/>
          <p:cNvSpPr/>
          <p:nvPr/>
        </p:nvSpPr>
        <p:spPr>
          <a:xfrm>
            <a:off x="919480" y="34645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4100" y="34220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Produits locaux rendus visibles et attractifs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80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3180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546600" y="23337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Clients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72000" y="26924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7080" y="289153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1700" y="28490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PME agroalimentaires sénégalaises</a:t>
            </a:r>
          </a:p>
        </p:txBody>
      </p:sp>
      <p:sp>
        <p:nvSpPr>
          <p:cNvPr id="28" name="Oval 27"/>
          <p:cNvSpPr/>
          <p:nvPr/>
        </p:nvSpPr>
        <p:spPr>
          <a:xfrm>
            <a:off x="4577080" y="3178048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11700" y="31355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Coopératives &amp; GIE de producteurs</a:t>
            </a:r>
          </a:p>
        </p:txBody>
      </p:sp>
      <p:sp>
        <p:nvSpPr>
          <p:cNvPr id="30" name="Oval 29"/>
          <p:cNvSpPr/>
          <p:nvPr/>
        </p:nvSpPr>
        <p:spPr>
          <a:xfrm>
            <a:off x="4577080" y="346456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11700" y="34220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Grandes industries (cible secondaire)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5600" y="21336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9756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04200" y="23337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Canaux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6924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234680" y="289153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9300" y="28490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LinkedIn : prospection B2B directe</a:t>
            </a:r>
          </a:p>
        </p:txBody>
      </p:sp>
      <p:sp>
        <p:nvSpPr>
          <p:cNvPr id="38" name="Oval 37"/>
          <p:cNvSpPr/>
          <p:nvPr/>
        </p:nvSpPr>
        <p:spPr>
          <a:xfrm>
            <a:off x="8234680" y="317804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69300" y="31355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Facebook : communauté et offre</a:t>
            </a:r>
          </a:p>
        </p:txBody>
      </p:sp>
      <p:sp>
        <p:nvSpPr>
          <p:cNvPr id="40" name="Oval 39"/>
          <p:cNvSpPr/>
          <p:nvPr/>
        </p:nvSpPr>
        <p:spPr>
          <a:xfrm>
            <a:off x="8234680" y="346456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9300" y="34220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TikTok : portée et notoriété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04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604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89000" y="43149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Sources de revenus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14400" y="46736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919480" y="48727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4100" y="48302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Abonnements mensuels récurrents</a:t>
            </a:r>
          </a:p>
        </p:txBody>
      </p:sp>
      <p:sp>
        <p:nvSpPr>
          <p:cNvPr id="48" name="Oval 47"/>
          <p:cNvSpPr/>
          <p:nvPr/>
        </p:nvSpPr>
        <p:spPr>
          <a:xfrm>
            <a:off x="919480" y="51592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4100" y="51167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Prestations ponctuelles à la demande</a:t>
            </a:r>
          </a:p>
        </p:txBody>
      </p:sp>
      <p:sp>
        <p:nvSpPr>
          <p:cNvPr id="50" name="Oval 49"/>
          <p:cNvSpPr/>
          <p:nvPr/>
        </p:nvSpPr>
        <p:spPr>
          <a:xfrm>
            <a:off x="919480" y="54457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4100" y="54032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Campagnes publicitaires gérées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180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3180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546600" y="43149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Ressources clés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6736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4577080" y="4872736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11700" y="4830267"/>
            <a:ext cx="2882900" cy="422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Compétences agro + community</a:t>
            </a:r>
          </a:p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management</a:t>
            </a:r>
          </a:p>
        </p:txBody>
      </p:sp>
      <p:sp>
        <p:nvSpPr>
          <p:cNvPr id="58" name="Oval 57"/>
          <p:cNvSpPr/>
          <p:nvPr/>
        </p:nvSpPr>
        <p:spPr>
          <a:xfrm>
            <a:off x="4577080" y="5344160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11700" y="53016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Canva, CapCut, Meta Suite, TikTok Studio</a:t>
            </a:r>
          </a:p>
        </p:txBody>
      </p:sp>
      <p:sp>
        <p:nvSpPr>
          <p:cNvPr id="60" name="Oval 59"/>
          <p:cNvSpPr/>
          <p:nvPr/>
        </p:nvSpPr>
        <p:spPr>
          <a:xfrm>
            <a:off x="4577080" y="5630672"/>
            <a:ext cx="76200" cy="76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11700" y="5588203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Identité de marque et site portfolio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975600" y="4114800"/>
            <a:ext cx="3403600" cy="1778000"/>
          </a:xfrm>
          <a:prstGeom prst="roundRect">
            <a:avLst>
              <a:gd name="adj" fmla="val 6428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7975600" y="41148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204200" y="4314952"/>
            <a:ext cx="3022600" cy="302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Structure de coûts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229600" y="4673600"/>
            <a:ext cx="28956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234680" y="4872736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9300" y="4830267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Outils en version gratuite au démarrage</a:t>
            </a:r>
          </a:p>
        </p:txBody>
      </p:sp>
      <p:sp>
        <p:nvSpPr>
          <p:cNvPr id="68" name="Oval 67"/>
          <p:cNvSpPr/>
          <p:nvPr/>
        </p:nvSpPr>
        <p:spPr>
          <a:xfrm>
            <a:off x="8234680" y="5159248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9300" y="5116779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Connexion, déplacements terrain</a:t>
            </a:r>
          </a:p>
        </p:txBody>
      </p:sp>
      <p:sp>
        <p:nvSpPr>
          <p:cNvPr id="70" name="Oval 69"/>
          <p:cNvSpPr/>
          <p:nvPr/>
        </p:nvSpPr>
        <p:spPr>
          <a:xfrm>
            <a:off x="8234680" y="5445760"/>
            <a:ext cx="76200" cy="762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69300" y="5403291"/>
            <a:ext cx="2882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Budget publicitaire refacturé au client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Nos Offres d'Abonnement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formules mensuelles, plus des prestations à la demande.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9FB8A2"/>
                </a:solidFill>
                <a:latin typeface="Poppins"/>
              </a:rPr>
              <a:t>ESSENTIEL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75 000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8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372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702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956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1176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8 publications / mois</a:t>
            </a:r>
          </a:p>
        </p:txBody>
      </p:sp>
      <p:sp>
        <p:nvSpPr>
          <p:cNvPr id="21" name="Oval 20"/>
          <p:cNvSpPr/>
          <p:nvPr/>
        </p:nvSpPr>
        <p:spPr>
          <a:xfrm>
            <a:off x="9372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9702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956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176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Visuels personnalisés</a:t>
            </a:r>
          </a:p>
        </p:txBody>
      </p:sp>
      <p:sp>
        <p:nvSpPr>
          <p:cNvPr id="25" name="Oval 24"/>
          <p:cNvSpPr/>
          <p:nvPr/>
        </p:nvSpPr>
        <p:spPr>
          <a:xfrm>
            <a:off x="9372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9702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956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1176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Gestion de communauté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000" y="2057400"/>
            <a:ext cx="3403600" cy="2895600"/>
          </a:xfrm>
          <a:prstGeom prst="roundRect">
            <a:avLst>
              <a:gd name="adj" fmla="val 3947"/>
            </a:avLst>
          </a:prstGeom>
          <a:solidFill>
            <a:srgbClr val="1F5E3A"/>
          </a:solidFill>
          <a:ln w="2032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35600" y="1917700"/>
            <a:ext cx="1168400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410200" y="1966163"/>
            <a:ext cx="1219200" cy="159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62"/>
              </a:lnSpc>
            </a:pPr>
            <a:r>
              <a:rPr sz="740" b="1" i="0" spc="80">
                <a:solidFill>
                  <a:srgbClr val="FFFFFF"/>
                </a:solidFill>
                <a:latin typeface="Poppins"/>
              </a:rPr>
              <a:t>RECOMMANDÉ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2312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AAB70"/>
                </a:solidFill>
                <a:latin typeface="Poppins"/>
              </a:rPr>
              <a:t>PRO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549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FFFFFF"/>
                </a:solidFill>
                <a:latin typeface="Alfa Slab One"/>
              </a:rPr>
              <a:t>150 000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180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9FB8A2"/>
                </a:solidFill>
                <a:latin typeface="Poppins"/>
              </a:rPr>
              <a:t>FCFA / mois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97400" y="3378200"/>
            <a:ext cx="2844800" cy="0"/>
          </a:xfrm>
          <a:prstGeom prst="line">
            <a:avLst/>
          </a:prstGeom>
          <a:ln w="12700">
            <a:solidFill>
              <a:srgbClr val="1AAB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4594860" y="3603625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27880" y="3672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653280" y="3636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75200" y="3584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12 publications + 4 vidéos</a:t>
            </a:r>
          </a:p>
        </p:txBody>
      </p:sp>
      <p:sp>
        <p:nvSpPr>
          <p:cNvPr id="40" name="Oval 39"/>
          <p:cNvSpPr/>
          <p:nvPr/>
        </p:nvSpPr>
        <p:spPr>
          <a:xfrm>
            <a:off x="4594860" y="3940429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4627880" y="4009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653280" y="3973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4775200" y="3921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Animation de communauté</a:t>
            </a:r>
          </a:p>
        </p:txBody>
      </p:sp>
      <p:sp>
        <p:nvSpPr>
          <p:cNvPr id="44" name="Oval 43"/>
          <p:cNvSpPr/>
          <p:nvPr/>
        </p:nvSpPr>
        <p:spPr>
          <a:xfrm>
            <a:off x="4594860" y="4277233"/>
            <a:ext cx="132080" cy="13208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27880" y="4345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53280" y="4310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775200" y="4258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FFFFFF"/>
                </a:solidFill>
                <a:latin typeface="Poppins"/>
              </a:rPr>
              <a:t>Stratégie éditoriale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5600" y="2184400"/>
            <a:ext cx="3403600" cy="2641600"/>
          </a:xfrm>
          <a:prstGeom prst="roundRect">
            <a:avLst>
              <a:gd name="adj" fmla="val 432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229600" y="2439416"/>
            <a:ext cx="2844800" cy="259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200" b="1" i="0" spc="180">
                <a:solidFill>
                  <a:srgbClr val="1F5E3A"/>
                </a:solidFill>
                <a:latin typeface="Poppins"/>
              </a:rPr>
              <a:t>PREMIUM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2676144"/>
            <a:ext cx="2844800" cy="712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90"/>
              </a:lnSpc>
            </a:pPr>
            <a:r>
              <a:rPr sz="3300" b="0" i="0">
                <a:solidFill>
                  <a:srgbClr val="1F5E3A"/>
                </a:solidFill>
                <a:latin typeface="Alfa Slab One"/>
              </a:rPr>
              <a:t>250 000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307080"/>
            <a:ext cx="2844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FCFA / mois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55000" y="3505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8252460" y="3730625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8285480" y="3799205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8310880" y="3763645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32800" y="3711448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16 publications + 8 vidéos</a:t>
            </a:r>
          </a:p>
        </p:txBody>
      </p:sp>
      <p:sp>
        <p:nvSpPr>
          <p:cNvPr id="57" name="Oval 56"/>
          <p:cNvSpPr/>
          <p:nvPr/>
        </p:nvSpPr>
        <p:spPr>
          <a:xfrm>
            <a:off x="8252460" y="4067429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8285480" y="4136009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310880" y="4100449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32800" y="4048252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Stratégie + publicité</a:t>
            </a:r>
          </a:p>
        </p:txBody>
      </p:sp>
      <p:sp>
        <p:nvSpPr>
          <p:cNvPr id="61" name="Oval 60"/>
          <p:cNvSpPr/>
          <p:nvPr/>
        </p:nvSpPr>
        <p:spPr>
          <a:xfrm>
            <a:off x="8252460" y="4404233"/>
            <a:ext cx="132080" cy="13208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8285480" y="4472813"/>
            <a:ext cx="25400" cy="2794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8310880" y="4437253"/>
            <a:ext cx="43180" cy="63500"/>
          </a:xfrm>
          <a:prstGeom prst="line">
            <a:avLst/>
          </a:prstGeom>
          <a:ln w="1651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432800" y="4385056"/>
            <a:ext cx="2768600" cy="2402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2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Reporting mensuel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60400" y="51308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F4F7F5"/>
          </a:solidFill>
          <a:ln w="1270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660400" y="5130800"/>
            <a:ext cx="63500" cy="558800"/>
          </a:xfrm>
          <a:prstGeom prst="roundRect">
            <a:avLst>
              <a:gd name="adj" fmla="val 4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39800" y="5201412"/>
            <a:ext cx="386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50">
                <a:solidFill>
                  <a:srgbClr val="1AAB70"/>
                </a:solidFill>
                <a:latin typeface="Poppins"/>
              </a:rPr>
              <a:t>REVENUS COMPLÉMENTAIRES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9800" y="5400548"/>
            <a:ext cx="9956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0" i="0">
                <a:solidFill>
                  <a:srgbClr val="0A1A01"/>
                </a:solidFill>
                <a:latin typeface="Poppins"/>
              </a:rPr>
              <a:t>Contenus à la demande, publicité et stratégie ponctuelle — dès 25 000 FCFA.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5000" y="5847080"/>
            <a:ext cx="10922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1">
                <a:solidFill>
                  <a:srgbClr val="42612D"/>
                </a:solidFill>
                <a:latin typeface="Poppins"/>
              </a:rPr>
              <a:t>Paiement mensuel d'avance  ·  engagement 3 mois minimum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Rentabilité &amp; Projections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point mort atteignable dès le troisième client régulier.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36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85 000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42612D"/>
                </a:solidFill>
                <a:latin typeface="Poppins"/>
              </a:rPr>
              <a:t>FCFA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Charges mensuelles estimées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36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036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068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68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clients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68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Seuil de rentabilité (offre Pro)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68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1468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00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450 000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F5E3A"/>
                </a:solidFill>
                <a:latin typeface="Poppins"/>
              </a:rPr>
              <a:t>FCFA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Revenu mensuel visé à 6 mois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90000" y="2108200"/>
            <a:ext cx="2489200" cy="1320800"/>
          </a:xfrm>
          <a:prstGeom prst="roundRect">
            <a:avLst>
              <a:gd name="adj" fmla="val 865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8890000" y="2108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093200" y="2332736"/>
            <a:ext cx="2133600" cy="5829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5,4 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3200" y="2850896"/>
            <a:ext cx="2082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>
                <a:solidFill>
                  <a:srgbClr val="1AAB70"/>
                </a:solidFill>
                <a:latin typeface="Poppins"/>
              </a:rPr>
              <a:t>FCFA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3200" y="3080106"/>
            <a:ext cx="2184400" cy="204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2"/>
              </a:lnSpc>
            </a:pPr>
            <a:r>
              <a:rPr sz="919" b="0" i="0">
                <a:solidFill>
                  <a:srgbClr val="42612D"/>
                </a:solidFill>
                <a:latin typeface="Poppins"/>
              </a:rPr>
              <a:t>Chiffre d'affaires annualisé cible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880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42612D"/>
                </a:solidFill>
                <a:latin typeface="Poppins"/>
              </a:rPr>
              <a:t>SCÉNARIO DE MONTÉE EN CHARGE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" y="41305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1–3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8000" y="41315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2 clients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41600" y="41148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641600" y="4114800"/>
            <a:ext cx="1038352" cy="279400"/>
          </a:xfrm>
          <a:prstGeom prst="roundRect">
            <a:avLst>
              <a:gd name="adj" fmla="val 5000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426200" y="41315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150 000 FCFA/mois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000" y="47147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4–6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78000" y="47157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3 clients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41600" y="46990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2641600" y="4699000"/>
            <a:ext cx="2299208" cy="279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26200" y="47157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450 000 FCFA/mois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5298948"/>
            <a:ext cx="1117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0A1A01"/>
                </a:solidFill>
                <a:latin typeface="Poppins"/>
              </a:rPr>
              <a:t>Mois 7–12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8000" y="5299964"/>
            <a:ext cx="939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0" i="0">
                <a:solidFill>
                  <a:srgbClr val="42612D"/>
                </a:solidFill>
                <a:latin typeface="Poppins"/>
              </a:rPr>
              <a:t>5 clients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DCE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2641600" y="5283200"/>
            <a:ext cx="3708400" cy="279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26200" y="5299964"/>
            <a:ext cx="22860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750 000 FCFA/mois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890000" y="3708400"/>
            <a:ext cx="2641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890000" y="3708400"/>
            <a:ext cx="2641600" cy="50800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9093200" y="3893312"/>
            <a:ext cx="2336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30">
                <a:solidFill>
                  <a:srgbClr val="1F5E3A"/>
                </a:solidFill>
                <a:latin typeface="Poppins"/>
              </a:rPr>
              <a:t>CHARGES PRINCIPALES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3200" y="41718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Connexion internet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4800" y="41718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25 000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93200" y="45020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Déplacements terrain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64800" y="45020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93200" y="48322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Outils &amp; abonnements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64800" y="48322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93200" y="5162499"/>
            <a:ext cx="17272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0A1A01"/>
                </a:solidFill>
                <a:latin typeface="Poppins"/>
              </a:rPr>
              <a:t>Divers &amp; imprévus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4800" y="5162499"/>
            <a:ext cx="863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22"/>
              </a:lnSpc>
            </a:pPr>
            <a:r>
              <a:rPr sz="940" b="1" i="0">
                <a:solidFill>
                  <a:srgbClr val="42612D"/>
                </a:solidFill>
                <a:latin typeface="Poppins"/>
              </a:rPr>
              <a:t>20 000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118600" y="5511800"/>
            <a:ext cx="21844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093200" y="5593080"/>
            <a:ext cx="132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>
                <a:solidFill>
                  <a:srgbClr val="1F5E3A"/>
                </a:solidFill>
                <a:latin typeface="Poppins"/>
              </a:rPr>
              <a:t>Total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56800" y="5593080"/>
            <a:ext cx="13716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00"/>
              </a:lnSpc>
            </a:pPr>
            <a:r>
              <a:rPr sz="1000" b="1" i="0">
                <a:solidFill>
                  <a:srgbClr val="1AAB70"/>
                </a:solidFill>
                <a:latin typeface="Poppins"/>
              </a:rPr>
              <a:t>85 000 FCFA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000" y="6102299"/>
            <a:ext cx="817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1">
                <a:solidFill>
                  <a:srgbClr val="42612D"/>
                </a:solidFill>
                <a:latin typeface="Poppins"/>
              </a:rPr>
              <a:t>Hypothèses prudentes : outils gratuits, structure sans salarié.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BENCHMARKING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de Plus Qu'Eux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Comparaison sur les cinq critères qui comptent pour une PME agroalimentaire.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28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990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FFFFFF"/>
                </a:solidFill>
                <a:latin typeface="Poppins"/>
              </a:rPr>
              <a:t>Sadiya Digital Agri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90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1AAB70"/>
                </a:solidFill>
                <a:latin typeface="Poppins"/>
              </a:rPr>
              <a:t>75 000 – 250 000 FCFA/mois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04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0866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Agences établies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130 000 – 600 000 FCFA/mois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0" y="2032000"/>
            <a:ext cx="2184400" cy="71120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74200" y="2161032"/>
            <a:ext cx="2032000" cy="233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80"/>
              </a:lnSpc>
            </a:pPr>
            <a:r>
              <a:rPr sz="1150" b="1" i="0">
                <a:solidFill>
                  <a:srgbClr val="42612D"/>
                </a:solidFill>
                <a:latin typeface="Poppins"/>
              </a:rPr>
              <a:t>CM freelance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4200" y="2422957"/>
            <a:ext cx="2032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50 000 – 150 000 FCFA/mois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0400" y="28702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3600" y="29992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Expertise agricole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228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5575300" y="29718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646702" y="31146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693269" y="30618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0104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9629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0467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398000" y="28702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0350500" y="29718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0434320" y="30556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60400" y="34290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63600" y="35580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Spécialisation agro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28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5575300" y="35306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646702" y="36734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5693269" y="36206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0104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79629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80467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398000" y="34290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0350500" y="35306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10434320" y="36144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660400" y="39878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63600" y="41168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Tarifs adaptés aux PME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228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5575300" y="40894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5646702" y="42322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693269" y="41794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0104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7962900" y="40894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8046720" y="41732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9398000" y="39878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10350500" y="4089400"/>
            <a:ext cx="279400" cy="279400"/>
          </a:xfrm>
          <a:prstGeom prst="ellipse">
            <a:avLst/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420350" y="4216400"/>
            <a:ext cx="139700" cy="330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>
            <a:off x="660400" y="45466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63600" y="46756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Stratégie structurée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6228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575300" y="46482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56467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56932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0104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7962900" y="46482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8034302" y="47910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8080869" y="47382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9398000" y="45466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10350500" y="46482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10434320" y="47320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60400" y="5105400"/>
            <a:ext cx="38100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63600" y="5234432"/>
            <a:ext cx="3479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0A1A01"/>
                </a:solidFill>
                <a:latin typeface="Poppins"/>
              </a:rPr>
              <a:t>Reporting et mesure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6228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E9F5EE"/>
          </a:solidFill>
          <a:ln w="17780">
            <a:solidFill>
              <a:srgbClr val="1AAB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5575300" y="5207000"/>
            <a:ext cx="279400" cy="2794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56467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6932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0104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7962900" y="5207000"/>
            <a:ext cx="279400" cy="2794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8034302" y="5349804"/>
            <a:ext cx="46567" cy="49672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8080869" y="5297029"/>
            <a:ext cx="90029" cy="102447"/>
          </a:xfrm>
          <a:prstGeom prst="line">
            <a:avLst/>
          </a:prstGeom>
          <a:ln w="26387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98000" y="5105400"/>
            <a:ext cx="2184400" cy="4826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10350500" y="5207000"/>
            <a:ext cx="279400" cy="279400"/>
          </a:xfrm>
          <a:prstGeom prst="ellipse">
            <a:avLst/>
          </a:prstGeom>
          <a:solidFill>
            <a:srgbClr val="D8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H="1">
            <a:off x="10434320" y="5290820"/>
            <a:ext cx="111760" cy="11176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660400" y="57404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35000" y="5867400"/>
            <a:ext cx="109220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Seule offre du marché à combiner expertise agronomique et maîtrise digitale.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Ce que j'ai déjà réalisé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Une marque complète, construite de A à Z : logo, charte, bannière et carte de visite.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LOGO</a:t>
            </a:r>
          </a:p>
        </p:txBody>
      </p:sp>
      <p:pic>
        <p:nvPicPr>
          <p:cNvPr id="15" name="Picture 14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2641600"/>
            <a:ext cx="2489200" cy="1003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37400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Version horizontale couleur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3403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267200" y="21336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212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PALETTE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66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212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#1F5E3A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372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5118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#1AAB70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27800" y="25908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02400" y="30100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#42612D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466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9FB8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212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#9FB8A2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372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0A1A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5118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#0A1A01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27800" y="3200400"/>
            <a:ext cx="787400" cy="406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02400" y="3619602"/>
            <a:ext cx="838200" cy="1338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"/>
              </a:lnSpc>
            </a:pPr>
            <a:r>
              <a:rPr sz="620" b="0" i="0">
                <a:solidFill>
                  <a:srgbClr val="42612D"/>
                </a:solidFill>
                <a:latin typeface="Poppins"/>
              </a:rPr>
              <a:t>#FFFFFF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1200" y="3816299"/>
            <a:ext cx="28956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6 couleurs officielles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74000" y="2133600"/>
            <a:ext cx="3657600" cy="1930400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874000" y="21336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128000" y="2317496"/>
            <a:ext cx="259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TYPOGRAPHIE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8000" y="2546096"/>
            <a:ext cx="3098800" cy="4749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60"/>
              </a:lnSpc>
            </a:pPr>
            <a:r>
              <a:rPr sz="2200" b="0" i="0">
                <a:solidFill>
                  <a:srgbClr val="1F5E3A"/>
                </a:solidFill>
                <a:latin typeface="Alfa Slab One"/>
              </a:rPr>
              <a:t>Sadiya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30043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Alfa Slab One — titres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8000" y="3165856"/>
            <a:ext cx="30988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210"/>
              </a:lnSpc>
            </a:pPr>
            <a:r>
              <a:rPr sz="1700" b="1" i="0">
                <a:solidFill>
                  <a:srgbClr val="1AAB70"/>
                </a:solidFill>
                <a:latin typeface="Poppins"/>
              </a:rPr>
              <a:t>Digital Agri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0" y="3563112"/>
            <a:ext cx="3098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Poppins — sous-titres et textes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0" y="3816299"/>
            <a:ext cx="3098800" cy="2029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2"/>
              </a:lnSpc>
            </a:pPr>
            <a:r>
              <a:rPr sz="940" b="0" i="0">
                <a:solidFill>
                  <a:srgbClr val="42612D"/>
                </a:solidFill>
                <a:latin typeface="Poppins"/>
              </a:rPr>
              <a:t>Hiérarchie à 3 niveaux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0400" y="4267200"/>
            <a:ext cx="70104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60400" y="4267200"/>
            <a:ext cx="70104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44510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AAB70"/>
                </a:solidFill>
                <a:latin typeface="Poppins"/>
              </a:rPr>
              <a:t>BANNIÈRE RÉSEAUX SOCIAUX</a:t>
            </a:r>
          </a:p>
        </p:txBody>
      </p:sp>
      <p:pic>
        <p:nvPicPr>
          <p:cNvPr id="44" name="Picture 43" descr="bannie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4724400"/>
            <a:ext cx="6451600" cy="1041400"/>
          </a:xfrm>
          <a:prstGeom prst="rect">
            <a:avLst/>
          </a:prstGeom>
        </p:spPr>
      </p:pic>
      <p:sp>
        <p:nvSpPr>
          <p:cNvPr id="45" name="Rounded Rectangle 44"/>
          <p:cNvSpPr/>
          <p:nvPr/>
        </p:nvSpPr>
        <p:spPr>
          <a:xfrm>
            <a:off x="7874000" y="4267200"/>
            <a:ext cx="36576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874000" y="4267200"/>
            <a:ext cx="3657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128000" y="4451096"/>
            <a:ext cx="3225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1F5E3A"/>
                </a:solidFill>
                <a:latin typeface="Poppins"/>
              </a:rPr>
              <a:t>CARTE DE VISITE</a:t>
            </a:r>
          </a:p>
        </p:txBody>
      </p:sp>
      <p:pic>
        <p:nvPicPr>
          <p:cNvPr id="48" name="Picture 47" descr="carte_vis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400" y="4749800"/>
            <a:ext cx="3098800" cy="863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Présence Digitale &amp; Outils Maîtrisés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Des canaux actifs, un site portfolio en ligne et une gestion de projet outillée.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62480"/>
            <a:ext cx="513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CANAUX EN LIGNE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604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000" y="2590800"/>
            <a:ext cx="431800" cy="431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36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Site portfolio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90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36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En ligne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36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4036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2200" y="25908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6068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pro LinkedIn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322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068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68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1468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ce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5400" y="25908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500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Page Facebook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754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3500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Active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890000" y="2362200"/>
            <a:ext cx="2489200" cy="1498600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890000" y="2362200"/>
            <a:ext cx="24892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pu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8600" y="2590800"/>
            <a:ext cx="431800" cy="4318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093200" y="3151632"/>
            <a:ext cx="21844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1" i="0">
                <a:solidFill>
                  <a:srgbClr val="1F5E3A"/>
                </a:solidFill>
                <a:latin typeface="Poppins"/>
              </a:rPr>
              <a:t>Meta Business Suite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18600" y="3479800"/>
            <a:ext cx="8636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093200" y="3513531"/>
            <a:ext cx="9144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92"/>
              </a:lnSpc>
            </a:pPr>
            <a:r>
              <a:rPr sz="840" b="1" i="0">
                <a:solidFill>
                  <a:srgbClr val="FFFFFF"/>
                </a:solidFill>
                <a:latin typeface="Poppins"/>
              </a:rPr>
              <a:t>Configurée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000" y="4044696"/>
            <a:ext cx="386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40">
                <a:solidFill>
                  <a:srgbClr val="42612D"/>
                </a:solidFill>
                <a:latin typeface="Poppins"/>
              </a:rPr>
              <a:t>AUSSI PRÉSENTE SUR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04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nstag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700" y="4406900"/>
            <a:ext cx="203200" cy="20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160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Instagram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320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tikt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6300" y="4406900"/>
            <a:ext cx="203200" cy="203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3876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TikTok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36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whatsap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4406900"/>
            <a:ext cx="203200" cy="2032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759200" y="4416044"/>
            <a:ext cx="863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WhatsApp</a:t>
            </a:r>
          </a:p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Business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75200" y="4318000"/>
            <a:ext cx="1219200" cy="381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emai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89500" y="4406900"/>
            <a:ext cx="203200" cy="2032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130800" y="4416044"/>
            <a:ext cx="863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Email pro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000" y="4907280"/>
            <a:ext cx="3860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1" i="0" spc="150">
                <a:solidFill>
                  <a:srgbClr val="1AAB70"/>
                </a:solidFill>
                <a:latin typeface="Poppins"/>
              </a:rPr>
              <a:t>OUTILS MAÎTRISÉS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04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canv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384800"/>
            <a:ext cx="381000" cy="381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2700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Canva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00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Visuels &amp; carrousels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130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6" name="Picture 55" descr="capcu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65400" y="5384800"/>
            <a:ext cx="381000" cy="381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30226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CapCut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226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Montage vidéo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656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5384800"/>
            <a:ext cx="381000" cy="381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7752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Trello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752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Suivi de projet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8200" y="5207000"/>
            <a:ext cx="1600200" cy="787400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chart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70600" y="5384800"/>
            <a:ext cx="381000" cy="3810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527800" y="5387848"/>
            <a:ext cx="9906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Charte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27800" y="5597957"/>
            <a:ext cx="1016000" cy="1640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987"/>
              </a:lnSpc>
            </a:pPr>
            <a:r>
              <a:rPr sz="760" b="0" i="0">
                <a:solidFill>
                  <a:srgbClr val="42612D"/>
                </a:solidFill>
                <a:latin typeface="Poppins"/>
              </a:rPr>
              <a:t>Identité visuelle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74000" y="4064000"/>
            <a:ext cx="3657600" cy="1930400"/>
          </a:xfrm>
          <a:prstGeom prst="roundRect">
            <a:avLst>
              <a:gd name="adj" fmla="val 6578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8" name="Picture 67" descr="trello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3400" y="4292600"/>
            <a:ext cx="381000" cy="381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636000" y="4299712"/>
            <a:ext cx="2590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SUIVI DE PROJET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36000" y="4437888"/>
            <a:ext cx="2590800" cy="345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FFFFFF"/>
                </a:solidFill>
                <a:latin typeface="Alfa Slab One"/>
              </a:rPr>
              <a:t>Trello</a:t>
            </a:r>
          </a:p>
        </p:txBody>
      </p:sp>
      <p:sp>
        <p:nvSpPr>
          <p:cNvPr id="71" name="Oval 70"/>
          <p:cNvSpPr/>
          <p:nvPr/>
        </p:nvSpPr>
        <p:spPr>
          <a:xfrm>
            <a:off x="8158480" y="4923536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93100" y="4881067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Un tableau par client</a:t>
            </a:r>
          </a:p>
        </p:txBody>
      </p:sp>
      <p:sp>
        <p:nvSpPr>
          <p:cNvPr id="73" name="Oval 72"/>
          <p:cNvSpPr/>
          <p:nvPr/>
        </p:nvSpPr>
        <p:spPr>
          <a:xfrm>
            <a:off x="8158480" y="5222748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93100" y="5180279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Calendrier éditorial partagé</a:t>
            </a:r>
          </a:p>
        </p:txBody>
      </p:sp>
      <p:sp>
        <p:nvSpPr>
          <p:cNvPr id="75" name="Oval 74"/>
          <p:cNvSpPr/>
          <p:nvPr/>
        </p:nvSpPr>
        <p:spPr>
          <a:xfrm>
            <a:off x="8158480" y="5521960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293100" y="5479491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Validation des contenus</a:t>
            </a:r>
          </a:p>
        </p:txBody>
      </p:sp>
      <p:sp>
        <p:nvSpPr>
          <p:cNvPr id="77" name="Oval 76"/>
          <p:cNvSpPr/>
          <p:nvPr/>
        </p:nvSpPr>
        <p:spPr>
          <a:xfrm>
            <a:off x="8158480" y="5821172"/>
            <a:ext cx="76200" cy="76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3100" y="5778703"/>
            <a:ext cx="30607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5"/>
              </a:lnSpc>
            </a:pPr>
            <a:r>
              <a:rPr sz="1040" b="0" i="0">
                <a:solidFill>
                  <a:srgbClr val="FFFFFF"/>
                </a:solidFill>
                <a:latin typeface="Poppins"/>
              </a:rPr>
              <a:t>Suivi des KPI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Ambitions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Où je veux emmener Sadiya Digital Agri dans les 12 prochains mois.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39800" y="2362200"/>
            <a:ext cx="431800" cy="431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AAB70"/>
                </a:solidFill>
                <a:latin typeface="Alfa Slab One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892552"/>
            <a:ext cx="29464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Acquérir mes premiers clients</a:t>
            </a:r>
          </a:p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agro-industriels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398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7134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Signer 5 contrats avec des PME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agroalimentaires sénégalaises.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22600" y="2235200"/>
            <a:ext cx="889000" cy="2413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97200" y="22570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0–6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43180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97400" y="2362200"/>
            <a:ext cx="431800" cy="4318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1F5E3A"/>
                </a:solidFill>
                <a:latin typeface="Alfa Slab One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892552"/>
            <a:ext cx="29464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Développer un portefeuille de</a:t>
            </a:r>
          </a:p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clients réguliers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974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0" y="37134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Passer d'une logique de mission ponctuelle à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l'abonnement récurrent.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80200" y="2235200"/>
            <a:ext cx="889000" cy="2413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654800" y="22570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5600" y="2108200"/>
            <a:ext cx="3403600" cy="218440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975600" y="2108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8255000" y="2362200"/>
            <a:ext cx="431800" cy="431800"/>
          </a:xfrm>
          <a:prstGeom prst="ellipse">
            <a:avLst/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0" y="2446020"/>
            <a:ext cx="482600" cy="323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0"/>
              </a:lnSpc>
            </a:pPr>
            <a:r>
              <a:rPr sz="1500" b="0" i="0">
                <a:solidFill>
                  <a:srgbClr val="42612D"/>
                </a:solidFill>
                <a:latin typeface="Alfa Slab One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892552"/>
            <a:ext cx="2946400" cy="533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Renforcer mon expertise en</a:t>
            </a:r>
          </a:p>
          <a:p>
            <a:pPr algn="l">
              <a:lnSpc>
                <a:spcPts val="1820"/>
              </a:lnSpc>
            </a:pPr>
            <a:r>
              <a:rPr sz="1400" b="1" i="0">
                <a:solidFill>
                  <a:srgbClr val="1F5E3A"/>
                </a:solidFill>
                <a:latin typeface="Poppins"/>
              </a:rPr>
              <a:t>publicité en ligne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55000" y="35814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9600" y="37134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Maîtriser Meta Ads et l'analytics pour prouver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le ROI de chaque campagne.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37800" y="2235200"/>
            <a:ext cx="889000" cy="2413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0312400" y="22570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FFFFFF"/>
                </a:solidFill>
                <a:latin typeface="Poppins"/>
              </a:rPr>
              <a:t>6–9 mois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0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660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914400" y="4648200"/>
            <a:ext cx="330200" cy="3302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9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003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9–12 mois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" y="4610100"/>
            <a:ext cx="3606800" cy="460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Structurer une offre de production vidéo</a:t>
            </a:r>
          </a:p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terrain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1600" y="5047793"/>
            <a:ext cx="44196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960" b="0" i="0">
                <a:solidFill>
                  <a:srgbClr val="42612D"/>
                </a:solidFill>
                <a:latin typeface="Poppins"/>
              </a:rPr>
              <a:t>Filmer du champ à l'assiette : le format qui valorise le mieux le local.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48400" y="4470400"/>
            <a:ext cx="53340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248400" y="44704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502400" y="4648200"/>
            <a:ext cx="330200" cy="330200"/>
          </a:xfrm>
          <a:prstGeom prst="ellipse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7000" y="4704334"/>
            <a:ext cx="381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17200" y="4622800"/>
            <a:ext cx="787400" cy="2159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591800" y="4659376"/>
            <a:ext cx="838200" cy="151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910"/>
              </a:lnSpc>
            </a:pPr>
            <a:r>
              <a:rPr sz="700" b="1" i="0">
                <a:solidFill>
                  <a:srgbClr val="FFFFFF"/>
                </a:solidFill>
                <a:latin typeface="Poppins"/>
              </a:rPr>
              <a:t>12 mois +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59600" y="4610100"/>
            <a:ext cx="3606800" cy="4603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Faire de Sadiya Digital Agri une agence</a:t>
            </a:r>
          </a:p>
          <a:p>
            <a:pPr algn="l">
              <a:lnSpc>
                <a:spcPts val="1562"/>
              </a:lnSpc>
            </a:pPr>
            <a:r>
              <a:rPr sz="1250" b="1" i="0">
                <a:solidFill>
                  <a:srgbClr val="1F5E3A"/>
                </a:solidFill>
                <a:latin typeface="Poppins"/>
              </a:rPr>
              <a:t>reconnue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59600" y="5047793"/>
            <a:ext cx="4419600" cy="3901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4"/>
              </a:lnSpc>
            </a:pPr>
            <a:r>
              <a:rPr sz="960" b="0" i="0">
                <a:solidFill>
                  <a:srgbClr val="42612D"/>
                </a:solidFill>
                <a:latin typeface="Poppins"/>
              </a:rPr>
              <a:t>Devenir la référence de la communication digitale agroalimentaire au</a:t>
            </a:r>
          </a:p>
          <a:p>
            <a:pPr algn="l">
              <a:lnSpc>
                <a:spcPts val="1344"/>
              </a:lnSpc>
            </a:pPr>
            <a:r>
              <a:rPr sz="960" b="0" i="0">
                <a:solidFill>
                  <a:srgbClr val="42612D"/>
                </a:solidFill>
                <a:latin typeface="Poppins"/>
              </a:rPr>
              <a:t>Sénégal.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0400" y="5638800"/>
            <a:ext cx="10871200" cy="508000"/>
          </a:xfrm>
          <a:prstGeom prst="roundRect">
            <a:avLst>
              <a:gd name="adj" fmla="val 225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39800" y="5774944"/>
            <a:ext cx="9398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1" i="0" spc="140">
                <a:solidFill>
                  <a:srgbClr val="1AAB70"/>
                </a:solidFill>
                <a:latin typeface="Poppins"/>
              </a:rPr>
              <a:t>LE CAP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78000" y="5740400"/>
            <a:ext cx="9448800" cy="269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1" i="0">
                <a:solidFill>
                  <a:srgbClr val="FFFFFF"/>
                </a:solidFill>
                <a:latin typeface="Poppins"/>
              </a:rPr>
              <a:t>Faire des produits sénégalais une référence digitale.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L'ÉQUIPE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Notre Équipe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Trois compétences complémentaires : expertise métier, création et développement commercial.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team_ce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00" y="2489200"/>
            <a:ext cx="1219200" cy="1625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11400" y="2513584"/>
            <a:ext cx="1651000" cy="2724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Nene H. S. Diallo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400" y="3079293"/>
            <a:ext cx="17018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1" i="0">
                <a:solidFill>
                  <a:srgbClr val="1AAB70"/>
                </a:solidFill>
                <a:latin typeface="Poppins"/>
              </a:rPr>
              <a:t>Fondatrice &amp; CEO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3368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311400" y="34000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AAB70"/>
                </a:solidFill>
                <a:latin typeface="Poppins"/>
              </a:rPr>
              <a:t>Stratégie digitale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368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AAB70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311400" y="36794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AAB70"/>
                </a:solidFill>
                <a:latin typeface="Poppins"/>
              </a:rPr>
              <a:t>Expertise agro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98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4423867"/>
            <a:ext cx="2971800" cy="6471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Agronome et community manager certifiée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Simplon. Pilote la stratégie et la relation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client.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80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3180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team_createu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400" y="2489200"/>
            <a:ext cx="1219200" cy="16256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69000" y="2513584"/>
            <a:ext cx="1651000" cy="4787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Créatrice de</a:t>
            </a:r>
          </a:p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contenu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9000" y="3079293"/>
            <a:ext cx="17018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1" i="0">
                <a:solidFill>
                  <a:srgbClr val="1F5E3A"/>
                </a:solidFill>
                <a:latin typeface="Poppins"/>
              </a:rPr>
              <a:t>Poste à pourvoir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944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969000" y="34000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Canva &amp; CapCut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944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1F5E3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69000" y="36794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1F5E3A"/>
                </a:solidFill>
                <a:latin typeface="Poppins"/>
              </a:rPr>
              <a:t>Vidéo terrain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974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0" y="4423867"/>
            <a:ext cx="2971800" cy="449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Conçoit les visuels et monte les vidéos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courtes pour chaque réseau.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5600" y="2235200"/>
            <a:ext cx="3403600" cy="294640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7975600" y="2235200"/>
            <a:ext cx="34036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eam_commercia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5000" y="2489200"/>
            <a:ext cx="1219200" cy="1625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513584"/>
            <a:ext cx="1651000" cy="4787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Responsable</a:t>
            </a:r>
          </a:p>
          <a:p>
            <a:pPr algn="l">
              <a:lnSpc>
                <a:spcPts val="1625"/>
              </a:lnSpc>
            </a:pPr>
            <a:r>
              <a:rPr sz="1300" b="1" i="0">
                <a:solidFill>
                  <a:srgbClr val="1F5E3A"/>
                </a:solidFill>
                <a:latin typeface="Poppins"/>
              </a:rPr>
              <a:t>commercial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3079293"/>
            <a:ext cx="1701800" cy="2072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48"/>
              </a:lnSpc>
            </a:pPr>
            <a:r>
              <a:rPr sz="960" b="1" i="0">
                <a:solidFill>
                  <a:srgbClr val="42612D"/>
                </a:solidFill>
                <a:latin typeface="Poppins"/>
              </a:rPr>
              <a:t>Poste à pourvoir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52000" y="33528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26600" y="34000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42612D"/>
                </a:solidFill>
                <a:latin typeface="Poppins"/>
              </a:rPr>
              <a:t>Prospection B2B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52000" y="3632200"/>
            <a:ext cx="1473200" cy="215900"/>
          </a:xfrm>
          <a:prstGeom prst="roundRect">
            <a:avLst>
              <a:gd name="adj" fmla="val 50000"/>
            </a:avLst>
          </a:prstGeom>
          <a:solidFill>
            <a:srgbClr val="42612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626600" y="3679444"/>
            <a:ext cx="15240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040"/>
              </a:lnSpc>
            </a:pPr>
            <a:r>
              <a:rPr sz="800" b="1" i="0">
                <a:solidFill>
                  <a:srgbClr val="42612D"/>
                </a:solidFill>
                <a:latin typeface="Poppins"/>
              </a:rPr>
              <a:t>Négociation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255000" y="4267200"/>
            <a:ext cx="28448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229600" y="4423867"/>
            <a:ext cx="2971800" cy="449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Prospecte les PME agroalimentaires et</a:t>
            </a:r>
          </a:p>
          <a:p>
            <a:pPr algn="l">
              <a:lnSpc>
                <a:spcPts val="1560"/>
              </a:lnSpc>
            </a:pPr>
            <a:r>
              <a:rPr sz="1040" b="0" i="0">
                <a:solidFill>
                  <a:srgbClr val="0A1A01"/>
                </a:solidFill>
                <a:latin typeface="Poppins"/>
              </a:rPr>
              <a:t>transforme les contacts en contrats.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0400" y="5486400"/>
            <a:ext cx="10871200" cy="558800"/>
          </a:xfrm>
          <a:prstGeom prst="roundRect">
            <a:avLst>
              <a:gd name="adj" fmla="val 20454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939800" y="5645912"/>
            <a:ext cx="15240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AUJOURD'HUI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6800" y="5615432"/>
            <a:ext cx="8940800" cy="2482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150" b="0" i="0">
                <a:solidFill>
                  <a:srgbClr val="FFFFFF"/>
                </a:solidFill>
                <a:latin typeface="Poppins"/>
              </a:rPr>
              <a:t>Je porte seule l'activité. Recrutements en freelance dès le 3e client.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CE DONT J'AI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Appel à l'Action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Un financement de 1 850 000 FCFA pour passer à l'échelle.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133600"/>
            <a:ext cx="3276600" cy="1473200"/>
          </a:xfrm>
          <a:prstGeom prst="roundRect">
            <a:avLst>
              <a:gd name="adj" fmla="val 862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43912"/>
            <a:ext cx="2844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 spc="140">
                <a:solidFill>
                  <a:srgbClr val="1AAB70"/>
                </a:solidFill>
                <a:latin typeface="Poppins"/>
              </a:rPr>
              <a:t>FINANCEMENT DEMANDÉ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551176"/>
            <a:ext cx="2844800" cy="690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60"/>
              </a:lnSpc>
            </a:pPr>
            <a:r>
              <a:rPr sz="3200" b="0" i="0">
                <a:solidFill>
                  <a:srgbClr val="FFFFFF"/>
                </a:solidFill>
                <a:latin typeface="Alfa Slab One"/>
              </a:rPr>
              <a:t>1 850 000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79064"/>
            <a:ext cx="2844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FCFA — sur 12 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72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672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4958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Équipements de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5800" y="24729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Ordinateur, smartphone, éclairage, micro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40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1 020 000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24800" y="21336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24800" y="21336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53400" y="22255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Abonnements &amp; outils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3400" y="2472944"/>
            <a:ext cx="2387600" cy="304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Meta Ads, Canva Pro, CapCut Pro,</a:t>
            </a:r>
          </a:p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hébergement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1600" y="23281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305 000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672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2672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4958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Formations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58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Analytics, marketing B2B, acquisition client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40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42612D"/>
                </a:solidFill>
                <a:latin typeface="Poppins"/>
              </a:rPr>
              <a:t>275 000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24800" y="2921000"/>
            <a:ext cx="3403600" cy="660400"/>
          </a:xfrm>
          <a:prstGeom prst="roundRect">
            <a:avLst>
              <a:gd name="adj" fmla="val 17307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7924800" y="2921000"/>
            <a:ext cx="50800" cy="6604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153400" y="3012948"/>
            <a:ext cx="22860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Site vitrine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3400" y="3260344"/>
            <a:ext cx="2387600" cy="172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40"/>
              </a:lnSpc>
            </a:pPr>
            <a:r>
              <a:rPr sz="800" b="0" i="0">
                <a:solidFill>
                  <a:srgbClr val="42612D"/>
                </a:solidFill>
                <a:latin typeface="Poppins"/>
              </a:rPr>
              <a:t>Offres, portfolio et formulaire de devis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1600" y="3115564"/>
            <a:ext cx="8636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365"/>
              </a:lnSpc>
            </a:pPr>
            <a:r>
              <a:rPr sz="1050" b="1" i="0">
                <a:solidFill>
                  <a:srgbClr val="1AAB70"/>
                </a:solidFill>
                <a:latin typeface="Poppins"/>
              </a:rPr>
              <a:t>250 000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3866896"/>
            <a:ext cx="5130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50">
                <a:solidFill>
                  <a:srgbClr val="42612D"/>
                </a:solidFill>
                <a:latin typeface="Poppins"/>
              </a:rPr>
              <a:t>AU-DELÀ DU FINANCEMENT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04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604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890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Accompagnement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0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Mentorat business : offre,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pricing et gestion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180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3180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466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Partenariat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466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Accès aux réseaux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agro-industriels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75600" y="4165600"/>
            <a:ext cx="3403600" cy="965200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7975600" y="4165600"/>
            <a:ext cx="50800" cy="965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204200" y="4315968"/>
            <a:ext cx="2895600" cy="29146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</a:pPr>
            <a:r>
              <a:rPr sz="1350" b="1" i="0">
                <a:solidFill>
                  <a:srgbClr val="1F5E3A"/>
                </a:solidFill>
                <a:latin typeface="Poppins"/>
              </a:rPr>
              <a:t>Visibilité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04200" y="4627880"/>
            <a:ext cx="2971800" cy="419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Références et premiers</a:t>
            </a:r>
          </a:p>
          <a:p>
            <a:pPr algn="l">
              <a:lnSpc>
                <a:spcPts val="145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clients pilotes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5409184"/>
            <a:ext cx="10922000" cy="2806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690"/>
              </a:lnSpc>
            </a:pPr>
            <a:r>
              <a:rPr sz="1300" b="0" i="0">
                <a:solidFill>
                  <a:srgbClr val="1F5E3A"/>
                </a:solidFill>
                <a:latin typeface="Alfa Slab One"/>
              </a:rPr>
              <a:t>« Avec votre soutien, mon activité peut créer plus d'impact et d'opportunités. »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660400" y="508000"/>
            <a:ext cx="44450" cy="165100"/>
          </a:xfrm>
          <a:prstGeom prst="rect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4700" y="490728"/>
            <a:ext cx="6400800" cy="1835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b="1" i="0" spc="190">
                <a:solidFill>
                  <a:srgbClr val="1AAB70"/>
                </a:solidFill>
                <a:latin typeface="Poppins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681736"/>
            <a:ext cx="8178800" cy="5212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sz="2700" b="0" i="0">
                <a:solidFill>
                  <a:srgbClr val="1F5E3A"/>
                </a:solidFill>
                <a:latin typeface="Alfa Slab One"/>
              </a:rPr>
              <a:t>Bibliographie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184148"/>
            <a:ext cx="7924800" cy="244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85"/>
              </a:lnSpc>
            </a:pPr>
            <a:r>
              <a:rPr sz="1100" b="0" i="0">
                <a:solidFill>
                  <a:srgbClr val="42612D"/>
                </a:solidFill>
                <a:latin typeface="Poppins"/>
              </a:rPr>
              <a:t>Références documentaires, données sectorielles et outils mobilisés.</a:t>
            </a:r>
          </a:p>
        </p:txBody>
      </p:sp>
      <p:pic>
        <p:nvPicPr>
          <p:cNvPr id="8" name="Picture 7" descr="logo-sadi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9600" y="431800"/>
            <a:ext cx="9398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10" name="Picture 9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" y="2082800"/>
            <a:ext cx="5334000" cy="2108200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604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2292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1AAB70"/>
                </a:solidFill>
                <a:latin typeface="Poppins"/>
              </a:rPr>
              <a:t>DONNÉES &amp; RAPPORTS SECTORIELS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9800" y="2717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43000" y="26202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DataReportal / Kepios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40431"/>
            <a:ext cx="4572000" cy="3307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Digital 2025 Senegal (fin 2025) — 11,5 M d'utilisateurs internet, 5,42 M d'identités</a:t>
            </a:r>
          </a:p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sociales, 2 h 24 d'usage/jour.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9800" y="3276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43000" y="31790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Ministère du Développement industriel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399231"/>
            <a:ext cx="4572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Données 2022 — 63 % des PMI industrielles évoluent dans l'agroalimentaire.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9800" y="3835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43000" y="3737864"/>
            <a:ext cx="4368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ANSD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8031"/>
            <a:ext cx="4572000" cy="1866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34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Agence Nationale de la Statistique et de la Démographie.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7600" y="2082800"/>
            <a:ext cx="5334000" cy="2108200"/>
          </a:xfrm>
          <a:prstGeom prst="roundRect">
            <a:avLst>
              <a:gd name="adj" fmla="val 542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197600" y="20828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51600" y="2292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1F5E3A"/>
                </a:solidFill>
                <a:latin typeface="Poppins"/>
              </a:rPr>
              <a:t>MÉTHODE &amp; CADRE STRATÉGIQUE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7000" y="2717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80200" y="2619248"/>
            <a:ext cx="157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TOMSTER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0200" y="2826918"/>
            <a:ext cx="4572000" cy="346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Cadre de stratégie digitale — Target, Objectives, Message, Strategy, Tactics,</a:t>
            </a:r>
          </a:p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Execution, Results.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7000" y="32766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80200" y="3178048"/>
            <a:ext cx="157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SMART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80200" y="3385718"/>
            <a:ext cx="4572000" cy="195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Méthode de formulation des objectifs mesurables.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77000" y="3835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80200" y="3736848"/>
            <a:ext cx="1574800" cy="2374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30"/>
              </a:lnSpc>
            </a:pPr>
            <a:r>
              <a:rPr sz="1100" b="1" i="0">
                <a:solidFill>
                  <a:srgbClr val="1F5E3A"/>
                </a:solidFill>
                <a:latin typeface="Poppins"/>
              </a:rPr>
              <a:t>SWOT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80200" y="3944518"/>
            <a:ext cx="4572000" cy="195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88"/>
              </a:lnSpc>
            </a:pPr>
            <a:r>
              <a:rPr sz="880" b="0" i="0">
                <a:solidFill>
                  <a:srgbClr val="42612D"/>
                </a:solidFill>
                <a:latin typeface="Poppins"/>
              </a:rPr>
              <a:t>Analyse des forces, faiblesses, opportunités et menaces.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0400" y="4394200"/>
            <a:ext cx="5334000" cy="165100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60400" y="4394200"/>
            <a:ext cx="5334000" cy="508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4578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42612D"/>
                </a:solidFill>
                <a:latin typeface="Poppins"/>
              </a:rPr>
              <a:t>BENCHMARK CONCURRENTIEL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9800" y="5003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143000" y="49062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Agence Kolonell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22600" y="4923231"/>
            <a:ext cx="27686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250 000 – 600 000 FCFA/mois — site officiel.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9800" y="5384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143000" y="52872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Agence WEDRAOGO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22600" y="5304231"/>
            <a:ext cx="27686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Dès 130 000 FCFA/mois — site officiel.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9800" y="576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426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143000" y="5668264"/>
            <a:ext cx="1955800" cy="226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65"/>
              </a:lnSpc>
            </a:pPr>
            <a:r>
              <a:rPr sz="1050" b="1" i="0">
                <a:solidFill>
                  <a:srgbClr val="1F5E3A"/>
                </a:solidFill>
                <a:latin typeface="Poppins"/>
              </a:rPr>
              <a:t>CM freelance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22600" y="5685231"/>
            <a:ext cx="2768600" cy="1813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840" b="0" i="0">
                <a:solidFill>
                  <a:srgbClr val="42612D"/>
                </a:solidFill>
                <a:latin typeface="Poppins"/>
              </a:rPr>
              <a:t>50 000 – 150 000 FCFA/mois — relevé 2025.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97600" y="4394200"/>
            <a:ext cx="5334000" cy="1651000"/>
          </a:xfrm>
          <a:prstGeom prst="roundRect">
            <a:avLst>
              <a:gd name="adj" fmla="val 6923"/>
            </a:avLst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51600" y="4578096"/>
            <a:ext cx="4368800" cy="2051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35"/>
              </a:lnSpc>
            </a:pPr>
            <a:r>
              <a:rPr sz="950" b="1" i="0" spc="130">
                <a:solidFill>
                  <a:srgbClr val="1AAB70"/>
                </a:solidFill>
                <a:latin typeface="Poppins"/>
              </a:rPr>
              <a:t>OUTILS &amp; RESSOURCES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77000" y="5016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80200" y="49326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Canva · CapCut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6200" y="5016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69400" y="49326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Meta Business Suite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77000" y="5359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680200" y="52755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Studio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66200" y="5359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9169400" y="52755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LinkedIn Analytics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77000" y="570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680200" y="56184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Google Drive · Sheets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66200" y="57023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169400" y="5618480"/>
            <a:ext cx="2336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Trello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91000"/>
          </a:xfrm>
          <a:prstGeom prst="rect">
            <a:avLst/>
          </a:prstGeom>
          <a:solidFill>
            <a:srgbClr val="1F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Freeform 3"/>
          <p:cNvSpPr/>
          <p:nvPr/>
        </p:nvSpPr>
        <p:spPr>
          <a:xfrm>
            <a:off x="8890000" y="4191000"/>
            <a:ext cx="3302000" cy="1143000"/>
          </a:xfrm>
          <a:custGeom>
            <a:avLst/>
            <a:gdLst/>
            <a:ahLst/>
            <a:cxnLst/>
            <a:rect l="l" t="t" r="r" b="b"/>
            <a:pathLst>
              <a:path w="3302000" h="1143000">
                <a:moveTo>
                  <a:pt x="0" y="0"/>
                </a:moveTo>
                <a:lnTo>
                  <a:pt x="3302000" y="0"/>
                </a:lnTo>
                <a:lnTo>
                  <a:pt x="3302000" y="1143000"/>
                </a:lnTo>
                <a:lnTo>
                  <a:pt x="1270000" y="1143000"/>
                </a:lnTo>
                <a:close/>
              </a:path>
            </a:pathLst>
          </a:cu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10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10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10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10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10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10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10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10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10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07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07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207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7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07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07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07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07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07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04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04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604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04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04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04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04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604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01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001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01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01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001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01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001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01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001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98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398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98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98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398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398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98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398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98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79500" y="7620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9500" y="9017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79500" y="10414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9500" y="11811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79500" y="13208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79500" y="14605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79500" y="16002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79500" y="17399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79500" y="1879600"/>
            <a:ext cx="50800" cy="50800"/>
          </a:xfrm>
          <a:prstGeom prst="ellipse">
            <a:avLst/>
          </a:prstGeom>
          <a:solidFill>
            <a:srgbClr val="1AAB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logo-sadiya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762000"/>
            <a:ext cx="1930400" cy="5969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35000" y="1550416"/>
            <a:ext cx="10922000" cy="13385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060"/>
              </a:lnSpc>
            </a:pPr>
            <a:r>
              <a:rPr sz="6200" b="0" i="0">
                <a:solidFill>
                  <a:srgbClr val="FFFFFF"/>
                </a:solidFill>
                <a:latin typeface="Alfa Slab One"/>
              </a:rPr>
              <a:t>Merci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2835656"/>
            <a:ext cx="10922000" cy="367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</a:pPr>
            <a:r>
              <a:rPr sz="1700" b="0" i="0" spc="140">
                <a:solidFill>
                  <a:srgbClr val="1AAB70"/>
                </a:solidFill>
                <a:latin typeface="Poppins"/>
              </a:rPr>
              <a:t>pour votre attention !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540000" y="3708400"/>
            <a:ext cx="7112000" cy="1625600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514600" y="3951224"/>
            <a:ext cx="7162800" cy="388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40"/>
              </a:lnSpc>
            </a:pPr>
            <a:r>
              <a:rPr sz="1800" b="0" i="0">
                <a:solidFill>
                  <a:srgbClr val="1F5E3A"/>
                </a:solidFill>
                <a:latin typeface="Alfa Slab One"/>
              </a:rPr>
              <a:t>Nene Halimatou Sahdiya Diallo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14600" y="4373880"/>
            <a:ext cx="71628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00"/>
              </a:lnSpc>
            </a:pPr>
            <a:r>
              <a:rPr sz="1000" b="0" i="0">
                <a:solidFill>
                  <a:srgbClr val="42612D"/>
                </a:solidFill>
                <a:latin typeface="Poppins"/>
              </a:rPr>
              <a:t>Fondatrice &amp; CEO — Sadiya Digital Agri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5080000" y="4724400"/>
            <a:ext cx="2032000" cy="0"/>
          </a:xfrm>
          <a:prstGeom prst="line">
            <a:avLst/>
          </a:prstGeom>
          <a:ln w="12700">
            <a:solidFill>
              <a:srgbClr val="DCE8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514600" y="4883506"/>
            <a:ext cx="7162800" cy="1986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196"/>
              </a:lnSpc>
            </a:pPr>
            <a:r>
              <a:rPr sz="919" b="0" i="0">
                <a:solidFill>
                  <a:srgbClr val="0A1A01"/>
                </a:solidFill>
                <a:latin typeface="Poppins"/>
              </a:rPr>
              <a:t>Dakar, Sénégal   ·   Communication digitale &amp; agro-industrie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87600" y="5569712"/>
            <a:ext cx="7416800" cy="400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Sadiya Digital Agri accompagne les entreprises agroalimentaires sénégalaises pour mieux communiquer, valoriser leurs</a:t>
            </a:r>
          </a:p>
          <a:p>
            <a:pPr algn="ctr">
              <a:lnSpc>
                <a:spcPts val="1395"/>
              </a:lnSpc>
            </a:pPr>
            <a:r>
              <a:rPr sz="900" b="0" i="0">
                <a:solidFill>
                  <a:srgbClr val="42612D"/>
                </a:solidFill>
                <a:latin typeface="Poppins"/>
              </a:rPr>
              <a:t>produits et développer leur visibilité grâce au digital.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48600" y="6336182"/>
            <a:ext cx="2590800" cy="2677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Programme de Pré-incubation 2026 de la</a:t>
            </a:r>
          </a:p>
          <a:p>
            <a:pPr algn="r">
              <a:lnSpc>
                <a:spcPts val="918"/>
              </a:lnSpc>
            </a:pPr>
            <a:r>
              <a:rPr sz="680" b="0" i="0">
                <a:solidFill>
                  <a:srgbClr val="9FB8A2"/>
                </a:solidFill>
                <a:latin typeface="Poppins"/>
              </a:rPr>
              <a:t>fabrique 360 de Simplon Sénégal</a:t>
            </a:r>
          </a:p>
        </p:txBody>
      </p:sp>
      <p:pic>
        <p:nvPicPr>
          <p:cNvPr id="69" name="Picture 68" descr="logos_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2600" y="6299200"/>
            <a:ext cx="1117600" cy="2159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82600" y="6306312"/>
            <a:ext cx="431800" cy="1943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70"/>
              </a:lnSpc>
            </a:pPr>
            <a:r>
              <a:rPr sz="900" b="1" i="0">
                <a:solidFill>
                  <a:srgbClr val="1F5E3A"/>
                </a:solidFill>
                <a:latin typeface="Poppins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